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2E786D9-381D-F3CD-C6B4-424C4DA114EB}">
          <p14:sldIdLst>
            <p14:sldId id="256"/>
          </p14:sldIdLst>
        </p14:section>
        <p14:section name="01 · Why User-Centred Design?" id="{5AF33844-095A-DAC7-3336-8DB96F4D8CAC}">
          <p14:sldIdLst>
            <p14:sldId id="257"/>
            <p14:sldId id="258"/>
            <p14:sldId id="259"/>
            <p14:sldId id="260"/>
            <p14:sldId id="261"/>
          </p14:sldIdLst>
        </p14:section>
        <p14:section name="02 · Users, Stakeholders &amp; Research" id="{241C9BCC-8D88-98DF-0E83-FB50FF230DDE}">
          <p14:sldIdLst>
            <p14:sldId id="262"/>
            <p14:sldId id="263"/>
            <p14:sldId id="264"/>
            <p14:sldId id="265"/>
          </p14:sldIdLst>
        </p14:section>
        <p14:section name="03 · Personas" id="{5571864E-8C70-52FF-88E2-93015C609C25}">
          <p14:sldIdLst>
            <p14:sldId id="266"/>
            <p14:sldId id="267"/>
            <p14:sldId id="268"/>
          </p14:sldIdLst>
        </p14:section>
        <p14:section name="04 · User Stories &amp; Acceptance Criteria" id="{C4945F72-A589-4810-8822-03A7ACCAEA3A}">
          <p14:sldIdLst>
            <p14:sldId id="269"/>
            <p14:sldId id="270"/>
            <p14:sldId id="271"/>
            <p14:sldId id="272"/>
            <p14:sldId id="273"/>
            <p14:sldId id="274"/>
          </p14:sldIdLst>
        </p14:section>
        <p14:section name="05 · Problem Statement &amp; User Flow" id="{DB29A62F-CB5C-DBE5-6FE1-416A298816CB}">
          <p14:sldIdLst>
            <p14:sldId id="275"/>
            <p14:sldId id="276"/>
            <p14:sldId id="277"/>
          </p14:sldIdLst>
        </p14:section>
        <p14:section name="06 · Wireframes &amp; Usability Heuristics" id="{8A8BEF7D-7A0D-8CD2-6774-66E35765C401}">
          <p14:sldIdLst>
            <p14:sldId id="278"/>
            <p14:sldId id="279"/>
            <p14:sldId id="280"/>
            <p14:sldId id="281"/>
            <p14:sldId id="282"/>
            <p14:sldId id="283"/>
          </p14:sldIdLst>
        </p14:section>
        <p14:section name="07 · Accessibility" id="{4D3AB391-AC5F-534A-845F-F47F1796F54D}">
          <p14:sldIdLst>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51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0659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We’re Anas, Youssef and Hozyfa, and this is Shelf — a book price-comparison and reading-tracker app. Over the next hour we walk through the user-centred design process we followed: from why UCD matters, through users, personas, stories, flows and wireframes, to accessibility checks. Seven sections, about eight minutes each.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(Anas, ~8 min). This section covers three things: what UCD is, the cost curve of fixing errors, and where UX work sits in the SDLC. We also define usability in ISO terms so we have a shared vocabulary for the rest of the talk.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UCD isn’t about making things pretty. It’s about making sure we’re building the right thing before we build the thing right. Point at the cycle on the right: we keep looping through understand, specify, design, evaluate — and users are involved at every stage, from requirements through release.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requirement error found in requirements costs 1×. Found in design, three to six times that. In code, ten to fifteen. In testing, thirty to fifty. Found after release: roughly one hundred times. The numbers are debated; the curve is not. For Shelf: if we build six bookstore API integrations assuming users want every price, but they only want the single cheapest local offer, we find out after launch and pay in rewrites and lost trust. On paper, that costs a sticky note.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of use is the most overlooked part. A reader on a crowded Cairo metro at 8 AM with one hand free has different needs than someone on a couch at 10 PM. Walk down the table: each dimension has a question, and each has a concrete Shelf example.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UX is not a phase. It’s a thread that runs before design, during testing, and after release. Walk left to right through the five SDLC phases and point at one or two UX activities under each — note that testing here means usability testing with real tasks, not just ‘does it crash?’.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(Youssef, ~8 min). Who we design for, who is affected by what we build, and how we find out what they actually need.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stakeholder has a goal. Our job is to balance them without harming the primary user. Users touch the app; stakeholders affect or are affected by it even if they never open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Triangulation: use at least two methods. Interviews give depth — the why behind behaviour. Questionnaires give breadth — how many people feel this way. Observation shows what people actually do rather than what they say they do. For Shelf we plan 5–8 interviews, 20+ questionnaire responses, and 3 observed price-comparison sessions with consent.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each stakeholder by how much power they have over the product and how much they care. The development team and instructor sit top-right: manage closely. Marketplace APIs and app stores can change the rules but don’t care about us day to day: keep satisfied. Readers and local bookstores care a lot but hold little power: keep informed and give them feedback channels. Review sites and payment partners: monitor.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(Hozyfa, ~8 min). Personas: what they are, the rule that keeps them honest, and our first proto-persona, Layla.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persona is a synthesis of research, not a creative-writing exercise. It gives the team a shared, concrete person to design for. The golden rule: it must be based on evidence — interviews, surveys, analytics — not stereotypes or team assumptions. An invented persona creates false confidence.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Layla is a proto-persona: built from team experience and informal conversations, not yet from formal research. That’s why the badge says so. Each goal and frustration maps to a research question in our questionnaire. Her quote sums up the product: where’s the cheapest copy near me, and will I actually finish this one? Next step is to validate her with five or more real interviews.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(Anas, ~8 min). From persona to testable requirements: the user-story format, the INVEST criteria, three Shelf stories with Given/When/Then acceptance criteria, and an honest self-critique.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story is a conversation starter: who, what, why. INVEST is the checklist for whether a story is any good. Go through the six letters quickly — we’ll apply them to our own stories at the end of this section.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story aloud, then the three criteria: the happy path, the fallback when no local seller has the book, and the failure case with a retry. Each one is a testable pass/fail. On the right, our own INVEST check flags two warnings: we need to fix the country scope before we can estimate it, and it only fits a sprint if we do one country at a time.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story Layla cares about: losing her place when she switches devices. Criterion 1 is the happy path with a visible ‘Synced’ indicator. Criterion 2 covers offline reading. Criterion 3 is the hard one: two offline devices — we chose last-write-wins and a toast so nothing changes silently. That conflict rule is exactly why Estimable is flagged.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drop-risk warning is our differentiator: no existing app warns you ‘you’ll likely drop this’ from your own history. Criterion 2 handles the cold start honestly — under five books we say so rather than guess. Criterion 3 adds a confirmation, not a block: the reader stays in control. INVEST flags Independent: this story needs the history that Story 2 collects.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honest about the gaps. Acknowledging INVEST failures shows we understand the criteria. Story 1 needs a country scope and one country per sprint. Story 2 needs a sync-conflict rule before the team can size it. Story 3 fails Independent because it depends on the history Story 2 collects — the fix is to split it into ‘collect history’ and ‘show warning’. Stories are conversation starters; acceptance criteria turn them into tests.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(Youssef, ~8 min). We condense the research into a single problem statement, then map the main journey — find and buy a book — including what happens when things go wrong.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statement slowly; it’s the sentence everything else hangs on. On the right is the structure check: who it’s for — readers, especially students; what’s broken — fragmented comparison, no drop prediction, no unified tracking; and why it matters — wasted money, broken habits, lost time.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top row: open the app, search, results found, compare offers local-first, open the book detail with drop risk and best price, tap a seller, and add the book to the library. Then the two error paths. No results or a network error: an inline message with three ways out — retry, search by author, browse categories — all looping back to search. Seller link fails: a toast offering to copy the link. No dead ends: every error has a recovery action.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(Hozyfa, ~8 min). Wireframes: low versus high fidelity, our existing screens as a v1 baseline, new lo-fi screens for the core value, and three of Nielsen’s heuristics applied.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Low-fidelity is boxes and labels — minutes to change — so use it for exploring layout and flow. High-fidelity is close to final — hours to change — so use it when visual details matter or you need sign-off. Our approach: lo-fi for the new screens, search and book detail. The existing hi-fi home and profile screens become our v1 baseline, and we show v2 improvements against them.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screens we already had. Home shows continue-reading and recommendations, but the bottom navigation is icon-only and the theme toggle is an unlabelled sun. Profile shows stats with grammar issues — ‘12 Book’, ‘3284 Page’, ‘47 hour’ — and a Sign Out button that’s duplicated in the bottom nav. The dark theme suits night reading. Known gaps: nothing yet for price comparison, drop warning, search results or a book detail with sellers.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lo-fi screens deliver Shelf’s core value. Left, search results: local sellers first, sorted by price, with overseas sellers clearly separated. Right, book detail: the drop-risk warning shows an icon, the word HIGH and a reason, so it never relies on colour alone, plus best price and the actions. The bottom nav now has text labels. Touch targets are at least 56dp.</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Nielsen’s ten heuristics are a checklist for evaluating an interface without running a full user test. We highlight the three we apply on the next slide: number one, visibility of system status; number five, error prevention; and number six, recognition over recall.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heuristics, each with a concrete v1 problem and v2 fix. Number five, error prevention: Sign Out is next to Profile and Settings in the bottom nav and duplicated on Profile — easy to hit by accident — so we keep one Sign Out on Profile with a confirmation. Number one, visibility of system status: progress is just ‘100 / 367’, so we plan a progress bar, percentage and a Synced indicator. Number six, recognition over recall: add text labels under every nav icon and a Light / Dark label on the theme toggle. Be upfront: the fixes for one and five are planned, not yet drawn in the hi-fi screens; the labelled nav is shown in the v2 lo-fi.</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(Anas, ~8 min). Accessibility: why it matters, the POUR principles, how we translated a desktop-oriented brief into mobile rules, an honest checklist of our own wireframes, and then a summary and questions.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fifteen percent of the world’s population has a disability. Accessible design helps everyone — the curb-cut effect: ramps built for wheelchairs help prams and suitcases too. There’s also legal risk, with the European Accessibility Act in 2025 and the ADA. POUR is the WCAG 2.1 framework: Perceivable, Operable, Understandable, Robust, each with a Shelf application.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ignore the brief — we translated it. The principles are identical; the implementation differs by platform. Keyboard navigation becomes touch and assistive-technology navigation; the rest carry over almost word for word.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honest rather than flattering. Our existing v1 screens fail several checks: low-contrast grey on dark grey, small icon-only nav targets, no labels, and missing screen-reader labels. The new v2 screens were designed to pass. The Action column is our to-do list: audit contrast with a tool, enlarge and label the v1 nav, fix the streak colour-only meaning, and test with TalkBack. Several ‘partial’ items are simply unknown until we test.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UCD finds problems when they’re cheap to fix. Research tells us who we design for; the persona and stories turn that into testable requirements; the problem statement, flow and wireframes make it a concrete idea; and the heuristic and accessibility checks make it better. Next: validate Layla with five or more real interviews, usability-test the wireframes from lo-fi to hi-fi, iterate on what we find, and build a clickable prototype for stakeholder review.</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We’re happy to take questions — on the research plan, the stories, the wireframes, or the accessibility checklist. Good places to jump back to: the cost curve (slide 4), the INVEST self-critique (slide 19), the user flow (slide 22), and the accessibility checklist (slide 32).</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Slide">
    <p:bg>
      <p:bgPr>
        <a:solidFill>
          <a:schemeClr val="bg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3355848" y="457200"/>
            <a:ext cx="5486400" cy="5486400"/>
          </a:xfrm>
          <a:prstGeom prst="rect">
            <a:avLst/>
          </a:prstGeom>
        </p:spPr>
      </p:pic>
      <p:sp>
        <p:nvSpPr>
          <p:cNvPr id="3" name="Text 0"/>
          <p:cNvSpPr>
            <a:spLocks noGrp="1"/>
          </p:cNvSpPr>
          <p:nvPr>
            <p:ph type="title" idx="101" hasCustomPrompt="1"/>
          </p:nvPr>
        </p:nvSpPr>
        <p:spPr>
          <a:xfrm>
            <a:off x="1371600" y="2011680"/>
            <a:ext cx="9445752" cy="914400"/>
          </a:xfrm>
          <a:prstGeom prst="rect">
            <a:avLst/>
          </a:prstGeom>
          <a:noFill/>
          <a:ln/>
        </p:spPr>
        <p:txBody>
          <a:bodyPr wrap="square" rtlCol="0"/>
          <a:lstStyle>
            <a:lvl1pPr marL="0" indent="0" algn="ctr">
              <a:buNone/>
              <a:defRPr lang="en-US" sz="4400" b="1" dirty="0">
                <a:solidFill>
                  <a:schemeClr val="accent1"/>
                </a:solidFill>
              </a:defRPr>
            </a:lvl1pPr>
          </a:lstStyle>
          <a:p>
            <a:pPr marL="0" indent="0" algn="ctr">
              <a:buNone/>
            </a:pPr>
            <a:endParaRPr lang="en-US" sz="4400" dirty="0"/>
          </a:p>
        </p:txBody>
      </p:sp>
      <p:sp>
        <p:nvSpPr>
          <p:cNvPr id="4" name="Text 0"/>
          <p:cNvSpPr>
            <a:spLocks noGrp="1"/>
          </p:cNvSpPr>
          <p:nvPr>
            <p:ph type="body" idx="102" hasCustomPrompt="1"/>
          </p:nvPr>
        </p:nvSpPr>
        <p:spPr>
          <a:xfrm>
            <a:off x="1371600" y="3108960"/>
            <a:ext cx="9445752" cy="1188720"/>
          </a:xfrm>
          <a:prstGeom prst="rect">
            <a:avLst/>
          </a:prstGeom>
          <a:noFill/>
          <a:ln/>
        </p:spPr>
        <p:txBody>
          <a:bodyPr wrap="square" rtlCol="0"/>
          <a:lstStyle>
            <a:lvl1pPr marL="0" indent="0" algn="ctr">
              <a:buNone/>
              <a:defRPr lang="en-US" sz="3200" dirty="0">
                <a:solidFill>
                  <a:schemeClr val="accent2"/>
                </a:solidFill>
              </a:defRPr>
            </a:lvl1pPr>
          </a:lstStyle>
          <a:p>
            <a:pPr marL="0" indent="0" algn="ctr">
              <a:buNone/>
            </a:pPr>
            <a:endParaRPr lang="en-US" sz="3200" dirty="0"/>
          </a:p>
        </p:txBody>
      </p:sp>
      <p:sp>
        <p:nvSpPr>
          <p:cNvPr id="5" name="Text 0"/>
          <p:cNvSpPr>
            <a:spLocks noGrp="1"/>
          </p:cNvSpPr>
          <p:nvPr>
            <p:ph type="body" idx="103" hasCustomPrompt="1"/>
          </p:nvPr>
        </p:nvSpPr>
        <p:spPr>
          <a:xfrm>
            <a:off x="1371600" y="4754880"/>
            <a:ext cx="9445752" cy="457200"/>
          </a:xfrm>
          <a:prstGeom prst="rect">
            <a:avLst/>
          </a:prstGeom>
          <a:noFill/>
          <a:ln/>
        </p:spPr>
        <p:txBody>
          <a:bodyPr wrap="square" rtlCol="0"/>
          <a:lstStyle>
            <a:lvl1pPr marL="0" indent="0" algn="ctr">
              <a:buNone/>
              <a:defRPr lang="en-US" sz="1800" dirty="0">
                <a:solidFill>
                  <a:schemeClr val="accent2"/>
                </a:solidFill>
              </a:defRPr>
            </a:lvl1pPr>
          </a:lstStyle>
          <a:p>
            <a:pPr marL="0" indent="0" algn="ctr">
              <a:buNone/>
            </a:pPr>
            <a:endParaRPr lang="en-US" sz="1800" dirty="0"/>
          </a:p>
        </p:txBody>
      </p:sp>
      <p:sp>
        <p:nvSpPr>
          <p:cNvPr id="6" name="Text 0"/>
          <p:cNvSpPr>
            <a:spLocks noGrp="1"/>
          </p:cNvSpPr>
          <p:nvPr>
            <p:ph type="body" idx="104" hasCustomPrompt="1"/>
          </p:nvPr>
        </p:nvSpPr>
        <p:spPr>
          <a:xfrm>
            <a:off x="1371600" y="6172200"/>
            <a:ext cx="9445752" cy="274320"/>
          </a:xfrm>
          <a:prstGeom prst="rect">
            <a:avLst/>
          </a:prstGeom>
          <a:noFill/>
          <a:ln/>
        </p:spPr>
        <p:txBody>
          <a:bodyPr wrap="square" rtlCol="0"/>
          <a:lstStyle>
            <a:lvl1pPr marL="0" indent="0" algn="ctr">
              <a:buNone/>
              <a:defRPr lang="en-US" sz="1400" dirty="0">
                <a:solidFill>
                  <a:schemeClr val="accent2"/>
                </a:solidFill>
              </a:defRPr>
            </a:lvl1pPr>
          </a:lstStyle>
          <a:p>
            <a:pPr marL="0" indent="0" algn="ctr">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Header">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822960" y="2834640"/>
            <a:ext cx="1097280" cy="27432"/>
          </a:xfrm>
          <a:prstGeom prst="rect">
            <a:avLst/>
          </a:prstGeom>
          <a:solidFill>
            <a:schemeClr val="accent1"/>
          </a:solidFill>
          <a:ln/>
        </p:spPr>
      </p:sp>
      <p:sp>
        <p:nvSpPr>
          <p:cNvPr id="3" name="Text 1"/>
          <p:cNvSpPr>
            <a:spLocks noGrp="1"/>
          </p:cNvSpPr>
          <p:nvPr>
            <p:ph type="body" idx="101" hasCustomPrompt="1"/>
          </p:nvPr>
        </p:nvSpPr>
        <p:spPr>
          <a:xfrm>
            <a:off x="822960" y="1280160"/>
            <a:ext cx="4572000" cy="1463040"/>
          </a:xfrm>
          <a:prstGeom prst="rect">
            <a:avLst/>
          </a:prstGeom>
          <a:noFill/>
          <a:ln/>
        </p:spPr>
        <p:txBody>
          <a:bodyPr wrap="square" rtlCol="0"/>
          <a:lstStyle>
            <a:lvl1pPr marL="0" indent="0" algn="l">
              <a:buNone/>
              <a:defRPr lang="en-US" sz="9600" b="1" dirty="0">
                <a:solidFill>
                  <a:schemeClr val="accent1"/>
                </a:solidFill>
              </a:defRPr>
            </a:lvl1pPr>
          </a:lstStyle>
          <a:p>
            <a:pPr marL="0" indent="0" algn="l">
              <a:buNone/>
            </a:pPr>
            <a:endParaRPr lang="en-US" sz="9600" dirty="0"/>
          </a:p>
        </p:txBody>
      </p:sp>
      <p:sp>
        <p:nvSpPr>
          <p:cNvPr id="4" name="Text 1"/>
          <p:cNvSpPr>
            <a:spLocks noGrp="1"/>
          </p:cNvSpPr>
          <p:nvPr>
            <p:ph type="title" idx="102" hasCustomPrompt="1"/>
          </p:nvPr>
        </p:nvSpPr>
        <p:spPr>
          <a:xfrm>
            <a:off x="822960" y="3108960"/>
            <a:ext cx="5852160" cy="2194560"/>
          </a:xfrm>
          <a:prstGeom prst="rect">
            <a:avLst/>
          </a:prstGeom>
          <a:noFill/>
          <a:ln/>
        </p:spPr>
        <p:txBody>
          <a:bodyPr wrap="square" rtlCol="0"/>
          <a:lstStyle>
            <a:lvl1pPr marL="0" indent="0" algn="l">
              <a:buNone/>
              <a:defRPr lang="en-US" sz="4400" b="1" dirty="0">
                <a:solidFill>
                  <a:schemeClr val="tx1"/>
                </a:solidFill>
              </a:defRPr>
            </a:lvl1pPr>
          </a:lstStyle>
          <a:p>
            <a:pPr marL="0" indent="0" algn="l">
              <a:buNone/>
            </a:pPr>
            <a:endParaRPr lang="en-US" sz="4400" dirty="0"/>
          </a:p>
        </p:txBody>
      </p:sp>
      <p:sp>
        <p:nvSpPr>
          <p:cNvPr id="5" name="Text 1"/>
          <p:cNvSpPr>
            <a:spLocks noGrp="1"/>
          </p:cNvSpPr>
          <p:nvPr>
            <p:ph type="body" idx="103" hasCustomPrompt="1"/>
          </p:nvPr>
        </p:nvSpPr>
        <p:spPr>
          <a:xfrm>
            <a:off x="822960" y="5577840"/>
            <a:ext cx="5852160" cy="274320"/>
          </a:xfrm>
          <a:prstGeom prst="rect">
            <a:avLst/>
          </a:prstGeom>
          <a:noFill/>
          <a:ln/>
        </p:spPr>
        <p:txBody>
          <a:bodyPr wrap="square" rtlCol="0"/>
          <a:lstStyle>
            <a:lvl1pPr marL="0" indent="0" algn="l">
              <a:buNone/>
              <a:defRPr lang="en-US" sz="1400" b="1" kern="0" spc="150" dirty="0">
                <a:solidFill>
                  <a:schemeClr val="accent2"/>
                </a:solidFill>
              </a:defRPr>
            </a:lvl1pPr>
          </a:lstStyle>
          <a:p>
            <a:pPr marL="0" indent="0" algn="l">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Left">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640080" y="6473952"/>
            <a:ext cx="5486400" cy="228600"/>
          </a:xfrm>
          <a:prstGeom prst="rect">
            <a:avLst/>
          </a:prstGeom>
          <a:noFill/>
          <a:ln/>
        </p:spPr>
        <p:txBody>
          <a:bodyPr wrap="square" lIns="0" tIns="0" rIns="0" bIns="0" rtlCol="0" anchor="ctr"/>
          <a:lstStyle/>
          <a:p>
            <a:pPr marL="0" indent="0">
              <a:buNone/>
            </a:pPr>
            <a:r>
              <a:rPr lang="en-US" sz="1000" kern="0" spc="150" dirty="0">
                <a:solidFill>
                  <a:schemeClr val="accent2"/>
                </a:solidFill>
              </a:rPr>
              <a:t>SHELF  ·  USER-CENTRED DESIGN</a:t>
            </a:r>
            <a:endParaRPr lang="en-US" sz="1000" dirty="0"/>
          </a:p>
        </p:txBody>
      </p:sp>
      <p:sp>
        <p:nvSpPr>
          <p:cNvPr id="3" name="Text 1"/>
          <p:cNvSpPr>
            <a:spLocks noGrp="1"/>
          </p:cNvSpPr>
          <p:nvPr>
            <p:ph type="body" idx="101" hasCustomPrompt="1"/>
          </p:nvPr>
        </p:nvSpPr>
        <p:spPr>
          <a:xfrm>
            <a:off x="640080" y="347472"/>
            <a:ext cx="10908792" cy="256032"/>
          </a:xfrm>
          <a:prstGeom prst="rect">
            <a:avLst/>
          </a:prstGeom>
          <a:noFill/>
          <a:ln/>
        </p:spPr>
        <p:txBody>
          <a:bodyPr wrap="square" rtlCol="0"/>
          <a:lstStyle>
            <a:lvl1pPr marL="0" indent="0" algn="l">
              <a:buNone/>
              <a:defRPr lang="en-US" sz="1200" b="1" kern="0" spc="150" dirty="0">
                <a:solidFill>
                  <a:schemeClr val="accent1"/>
                </a:solidFill>
              </a:defRPr>
            </a:lvl1pPr>
          </a:lstStyle>
          <a:p>
            <a:pPr marL="0" indent="0" algn="l">
              <a:buNone/>
            </a:pPr>
            <a:endParaRPr lang="en-US" sz="1200" dirty="0"/>
          </a:p>
        </p:txBody>
      </p:sp>
      <p:sp>
        <p:nvSpPr>
          <p:cNvPr id="4" name="Text 1"/>
          <p:cNvSpPr>
            <a:spLocks noGrp="1"/>
          </p:cNvSpPr>
          <p:nvPr>
            <p:ph type="title" idx="102" hasCustomPrompt="1"/>
          </p:nvPr>
        </p:nvSpPr>
        <p:spPr>
          <a:xfrm>
            <a:off x="640080" y="603504"/>
            <a:ext cx="10908792"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Right">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640080" y="6473952"/>
            <a:ext cx="5486400" cy="228600"/>
          </a:xfrm>
          <a:prstGeom prst="rect">
            <a:avLst/>
          </a:prstGeom>
          <a:noFill/>
          <a:ln/>
        </p:spPr>
        <p:txBody>
          <a:bodyPr wrap="square" lIns="0" tIns="0" rIns="0" bIns="0" rtlCol="0" anchor="ctr"/>
          <a:lstStyle/>
          <a:p>
            <a:pPr marL="0" indent="0">
              <a:buNone/>
            </a:pPr>
            <a:r>
              <a:rPr lang="en-US" sz="1000" kern="0" spc="150" dirty="0">
                <a:solidFill>
                  <a:schemeClr val="accent2"/>
                </a:solidFill>
              </a:rPr>
              <a:t>SHELF  ·  USER-CENTRED DESIGN</a:t>
            </a:r>
            <a:endParaRPr lang="en-US" sz="1000" dirty="0"/>
          </a:p>
        </p:txBody>
      </p:sp>
      <p:sp>
        <p:nvSpPr>
          <p:cNvPr id="3" name="Text 1"/>
          <p:cNvSpPr>
            <a:spLocks noGrp="1"/>
          </p:cNvSpPr>
          <p:nvPr>
            <p:ph type="body" idx="101" hasCustomPrompt="1"/>
          </p:nvPr>
        </p:nvSpPr>
        <p:spPr>
          <a:xfrm>
            <a:off x="640080" y="347472"/>
            <a:ext cx="10908792" cy="256032"/>
          </a:xfrm>
          <a:prstGeom prst="rect">
            <a:avLst/>
          </a:prstGeom>
          <a:noFill/>
          <a:ln/>
        </p:spPr>
        <p:txBody>
          <a:bodyPr wrap="square" rtlCol="0"/>
          <a:lstStyle>
            <a:lvl1pPr marL="0" indent="0" algn="l">
              <a:buNone/>
              <a:defRPr lang="en-US" sz="1200" b="1" kern="0" spc="150" dirty="0">
                <a:solidFill>
                  <a:schemeClr val="accent1"/>
                </a:solidFill>
              </a:defRPr>
            </a:lvl1pPr>
          </a:lstStyle>
          <a:p>
            <a:pPr marL="0" indent="0" algn="l">
              <a:buNone/>
            </a:pPr>
            <a:endParaRPr lang="en-US" sz="1200" dirty="0"/>
          </a:p>
        </p:txBody>
      </p:sp>
      <p:sp>
        <p:nvSpPr>
          <p:cNvPr id="4" name="Text 1"/>
          <p:cNvSpPr>
            <a:spLocks noGrp="1"/>
          </p:cNvSpPr>
          <p:nvPr>
            <p:ph type="title" idx="102" hasCustomPrompt="1"/>
          </p:nvPr>
        </p:nvSpPr>
        <p:spPr>
          <a:xfrm>
            <a:off x="640080" y="603504"/>
            <a:ext cx="10908792"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Column">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640080" y="6473952"/>
            <a:ext cx="5486400" cy="228600"/>
          </a:xfrm>
          <a:prstGeom prst="rect">
            <a:avLst/>
          </a:prstGeom>
          <a:noFill/>
          <a:ln/>
        </p:spPr>
        <p:txBody>
          <a:bodyPr wrap="square" lIns="0" tIns="0" rIns="0" bIns="0" rtlCol="0" anchor="ctr"/>
          <a:lstStyle/>
          <a:p>
            <a:pPr marL="0" indent="0">
              <a:buNone/>
            </a:pPr>
            <a:r>
              <a:rPr lang="en-US" sz="1000" kern="0" spc="150" dirty="0">
                <a:solidFill>
                  <a:schemeClr val="accent2"/>
                </a:solidFill>
              </a:rPr>
              <a:t>SHELF  ·  USER-CENTRED DESIGN</a:t>
            </a:r>
            <a:endParaRPr lang="en-US" sz="1000" dirty="0"/>
          </a:p>
        </p:txBody>
      </p:sp>
      <p:sp>
        <p:nvSpPr>
          <p:cNvPr id="3" name="Text 1"/>
          <p:cNvSpPr>
            <a:spLocks noGrp="1"/>
          </p:cNvSpPr>
          <p:nvPr>
            <p:ph type="body" idx="101" hasCustomPrompt="1"/>
          </p:nvPr>
        </p:nvSpPr>
        <p:spPr>
          <a:xfrm>
            <a:off x="640080" y="347472"/>
            <a:ext cx="10908792" cy="256032"/>
          </a:xfrm>
          <a:prstGeom prst="rect">
            <a:avLst/>
          </a:prstGeom>
          <a:noFill/>
          <a:ln/>
        </p:spPr>
        <p:txBody>
          <a:bodyPr wrap="square" rtlCol="0"/>
          <a:lstStyle>
            <a:lvl1pPr marL="0" indent="0" algn="l">
              <a:buNone/>
              <a:defRPr lang="en-US" sz="1200" b="1" kern="0" spc="150" dirty="0">
                <a:solidFill>
                  <a:schemeClr val="accent1"/>
                </a:solidFill>
              </a:defRPr>
            </a:lvl1pPr>
          </a:lstStyle>
          <a:p>
            <a:pPr marL="0" indent="0" algn="l">
              <a:buNone/>
            </a:pPr>
            <a:endParaRPr lang="en-US" sz="1200" dirty="0"/>
          </a:p>
        </p:txBody>
      </p:sp>
      <p:sp>
        <p:nvSpPr>
          <p:cNvPr id="4" name="Text 1"/>
          <p:cNvSpPr>
            <a:spLocks noGrp="1"/>
          </p:cNvSpPr>
          <p:nvPr>
            <p:ph type="title" idx="102" hasCustomPrompt="1"/>
          </p:nvPr>
        </p:nvSpPr>
        <p:spPr>
          <a:xfrm>
            <a:off x="640080" y="603504"/>
            <a:ext cx="10908792"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ableSlide">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640080" y="6473952"/>
            <a:ext cx="5486400" cy="228600"/>
          </a:xfrm>
          <a:prstGeom prst="rect">
            <a:avLst/>
          </a:prstGeom>
          <a:noFill/>
          <a:ln/>
        </p:spPr>
        <p:txBody>
          <a:bodyPr wrap="square" lIns="0" tIns="0" rIns="0" bIns="0" rtlCol="0" anchor="ctr"/>
          <a:lstStyle/>
          <a:p>
            <a:pPr marL="0" indent="0">
              <a:buNone/>
            </a:pPr>
            <a:r>
              <a:rPr lang="en-US" sz="1000" kern="0" spc="150" dirty="0">
                <a:solidFill>
                  <a:schemeClr val="accent2"/>
                </a:solidFill>
              </a:rPr>
              <a:t>SHELF  ·  USER-CENTRED DESIGN</a:t>
            </a:r>
            <a:endParaRPr lang="en-US" sz="1000" dirty="0"/>
          </a:p>
        </p:txBody>
      </p:sp>
      <p:sp>
        <p:nvSpPr>
          <p:cNvPr id="3" name="Text 1"/>
          <p:cNvSpPr>
            <a:spLocks noGrp="1"/>
          </p:cNvSpPr>
          <p:nvPr>
            <p:ph type="body" idx="101" hasCustomPrompt="1"/>
          </p:nvPr>
        </p:nvSpPr>
        <p:spPr>
          <a:xfrm>
            <a:off x="640080" y="347472"/>
            <a:ext cx="10908792" cy="256032"/>
          </a:xfrm>
          <a:prstGeom prst="rect">
            <a:avLst/>
          </a:prstGeom>
          <a:noFill/>
          <a:ln/>
        </p:spPr>
        <p:txBody>
          <a:bodyPr wrap="square" rtlCol="0"/>
          <a:lstStyle>
            <a:lvl1pPr marL="0" indent="0" algn="l">
              <a:buNone/>
              <a:defRPr lang="en-US" sz="1200" b="1" kern="0" spc="150" dirty="0">
                <a:solidFill>
                  <a:schemeClr val="accent1"/>
                </a:solidFill>
              </a:defRPr>
            </a:lvl1pPr>
          </a:lstStyle>
          <a:p>
            <a:pPr marL="0" indent="0" algn="l">
              <a:buNone/>
            </a:pPr>
            <a:endParaRPr lang="en-US" sz="1200" dirty="0"/>
          </a:p>
        </p:txBody>
      </p:sp>
      <p:sp>
        <p:nvSpPr>
          <p:cNvPr id="4" name="Text 1"/>
          <p:cNvSpPr>
            <a:spLocks noGrp="1"/>
          </p:cNvSpPr>
          <p:nvPr>
            <p:ph type="title" idx="102" hasCustomPrompt="1"/>
          </p:nvPr>
        </p:nvSpPr>
        <p:spPr>
          <a:xfrm>
            <a:off x="640080" y="603504"/>
            <a:ext cx="10908792"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deSlide">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640080" y="6473952"/>
            <a:ext cx="5486400" cy="228600"/>
          </a:xfrm>
          <a:prstGeom prst="rect">
            <a:avLst/>
          </a:prstGeom>
          <a:noFill/>
          <a:ln/>
        </p:spPr>
        <p:txBody>
          <a:bodyPr wrap="square" lIns="0" tIns="0" rIns="0" bIns="0" rtlCol="0" anchor="ctr"/>
          <a:lstStyle/>
          <a:p>
            <a:pPr marL="0" indent="0">
              <a:buNone/>
            </a:pPr>
            <a:r>
              <a:rPr lang="en-US" sz="1000" kern="0" spc="150" dirty="0">
                <a:solidFill>
                  <a:schemeClr val="accent2"/>
                </a:solidFill>
              </a:rPr>
              <a:t>SHELF  ·  USER-CENTRED DESIGN</a:t>
            </a:r>
            <a:endParaRPr lang="en-US" sz="1000" dirty="0"/>
          </a:p>
        </p:txBody>
      </p:sp>
      <p:sp>
        <p:nvSpPr>
          <p:cNvPr id="3" name="Text 1"/>
          <p:cNvSpPr>
            <a:spLocks noGrp="1"/>
          </p:cNvSpPr>
          <p:nvPr>
            <p:ph type="body" idx="101" hasCustomPrompt="1"/>
          </p:nvPr>
        </p:nvSpPr>
        <p:spPr>
          <a:xfrm>
            <a:off x="640080" y="347472"/>
            <a:ext cx="10908792" cy="256032"/>
          </a:xfrm>
          <a:prstGeom prst="rect">
            <a:avLst/>
          </a:prstGeom>
          <a:noFill/>
          <a:ln/>
        </p:spPr>
        <p:txBody>
          <a:bodyPr wrap="square" rtlCol="0"/>
          <a:lstStyle>
            <a:lvl1pPr marL="0" indent="0" algn="l">
              <a:buNone/>
              <a:defRPr lang="en-US" sz="1200" b="1" kern="0" spc="150" dirty="0">
                <a:solidFill>
                  <a:schemeClr val="accent1"/>
                </a:solidFill>
              </a:defRPr>
            </a:lvl1pPr>
          </a:lstStyle>
          <a:p>
            <a:pPr marL="0" indent="0" algn="l">
              <a:buNone/>
            </a:pPr>
            <a:endParaRPr lang="en-US" sz="1200" dirty="0"/>
          </a:p>
        </p:txBody>
      </p:sp>
      <p:sp>
        <p:nvSpPr>
          <p:cNvPr id="4" name="Text 1"/>
          <p:cNvSpPr>
            <a:spLocks noGrp="1"/>
          </p:cNvSpPr>
          <p:nvPr>
            <p:ph type="title" idx="102" hasCustomPrompt="1"/>
          </p:nvPr>
        </p:nvSpPr>
        <p:spPr>
          <a:xfrm>
            <a:off x="640080" y="603504"/>
            <a:ext cx="10908792"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mageFull">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640080" y="6473952"/>
            <a:ext cx="5486400" cy="228600"/>
          </a:xfrm>
          <a:prstGeom prst="rect">
            <a:avLst/>
          </a:prstGeom>
          <a:noFill/>
          <a:ln/>
        </p:spPr>
        <p:txBody>
          <a:bodyPr wrap="square" lIns="0" tIns="0" rIns="0" bIns="0" rtlCol="0" anchor="ctr"/>
          <a:lstStyle/>
          <a:p>
            <a:pPr marL="0" indent="0">
              <a:buNone/>
            </a:pPr>
            <a:r>
              <a:rPr lang="en-US" sz="1000" kern="0" spc="150" dirty="0">
                <a:solidFill>
                  <a:schemeClr val="accent2"/>
                </a:solidFill>
              </a:rPr>
              <a:t>SHELF  ·  USER-CENTRED DESIGN</a:t>
            </a:r>
            <a:endParaRPr lang="en-US" sz="1000" dirty="0"/>
          </a:p>
        </p:txBody>
      </p:sp>
      <p:sp>
        <p:nvSpPr>
          <p:cNvPr id="3" name="Text 1"/>
          <p:cNvSpPr>
            <a:spLocks noGrp="1"/>
          </p:cNvSpPr>
          <p:nvPr>
            <p:ph type="body" idx="101" hasCustomPrompt="1"/>
          </p:nvPr>
        </p:nvSpPr>
        <p:spPr>
          <a:xfrm>
            <a:off x="640080" y="347472"/>
            <a:ext cx="10908792" cy="256032"/>
          </a:xfrm>
          <a:prstGeom prst="rect">
            <a:avLst/>
          </a:prstGeom>
          <a:noFill/>
          <a:ln/>
        </p:spPr>
        <p:txBody>
          <a:bodyPr wrap="square" rtlCol="0"/>
          <a:lstStyle>
            <a:lvl1pPr marL="0" indent="0" algn="l">
              <a:buNone/>
              <a:defRPr lang="en-US" sz="1200" b="1" kern="0" spc="150" dirty="0">
                <a:solidFill>
                  <a:schemeClr val="accent1"/>
                </a:solidFill>
              </a:defRPr>
            </a:lvl1pPr>
          </a:lstStyle>
          <a:p>
            <a:pPr marL="0" indent="0" algn="l">
              <a:buNone/>
            </a:pPr>
            <a:endParaRPr lang="en-US" sz="1200" dirty="0"/>
          </a:p>
        </p:txBody>
      </p:sp>
      <p:sp>
        <p:nvSpPr>
          <p:cNvPr id="4" name="Text 1"/>
          <p:cNvSpPr>
            <a:spLocks noGrp="1"/>
          </p:cNvSpPr>
          <p:nvPr>
            <p:ph type="title" idx="102" hasCustomPrompt="1"/>
          </p:nvPr>
        </p:nvSpPr>
        <p:spPr>
          <a:xfrm>
            <a:off x="640080" y="603504"/>
            <a:ext cx="10908792"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hecklistSlide">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640080" y="6473952"/>
            <a:ext cx="5486400" cy="228600"/>
          </a:xfrm>
          <a:prstGeom prst="rect">
            <a:avLst/>
          </a:prstGeom>
          <a:noFill/>
          <a:ln/>
        </p:spPr>
        <p:txBody>
          <a:bodyPr wrap="square" lIns="0" tIns="0" rIns="0" bIns="0" rtlCol="0" anchor="ctr"/>
          <a:lstStyle/>
          <a:p>
            <a:pPr marL="0" indent="0">
              <a:buNone/>
            </a:pPr>
            <a:r>
              <a:rPr lang="en-US" sz="1000" kern="0" spc="150" dirty="0">
                <a:solidFill>
                  <a:schemeClr val="accent2"/>
                </a:solidFill>
              </a:rPr>
              <a:t>SHELF  ·  USER-CENTRED DESIGN</a:t>
            </a:r>
            <a:endParaRPr lang="en-US" sz="1000" dirty="0"/>
          </a:p>
        </p:txBody>
      </p:sp>
      <p:sp>
        <p:nvSpPr>
          <p:cNvPr id="3" name="Text 1"/>
          <p:cNvSpPr>
            <a:spLocks noGrp="1"/>
          </p:cNvSpPr>
          <p:nvPr>
            <p:ph type="body" idx="101" hasCustomPrompt="1"/>
          </p:nvPr>
        </p:nvSpPr>
        <p:spPr>
          <a:xfrm>
            <a:off x="640080" y="347472"/>
            <a:ext cx="10908792" cy="256032"/>
          </a:xfrm>
          <a:prstGeom prst="rect">
            <a:avLst/>
          </a:prstGeom>
          <a:noFill/>
          <a:ln/>
        </p:spPr>
        <p:txBody>
          <a:bodyPr wrap="square" rtlCol="0"/>
          <a:lstStyle>
            <a:lvl1pPr marL="0" indent="0" algn="l">
              <a:buNone/>
              <a:defRPr lang="en-US" sz="1200" b="1" kern="0" spc="150" dirty="0">
                <a:solidFill>
                  <a:schemeClr val="accent1"/>
                </a:solidFill>
              </a:defRPr>
            </a:lvl1pPr>
          </a:lstStyle>
          <a:p>
            <a:pPr marL="0" indent="0" algn="l">
              <a:buNone/>
            </a:pPr>
            <a:endParaRPr lang="en-US" sz="1200" dirty="0"/>
          </a:p>
        </p:txBody>
      </p:sp>
      <p:sp>
        <p:nvSpPr>
          <p:cNvPr id="4" name="Text 1"/>
          <p:cNvSpPr>
            <a:spLocks noGrp="1"/>
          </p:cNvSpPr>
          <p:nvPr>
            <p:ph type="title" idx="102" hasCustomPrompt="1"/>
          </p:nvPr>
        </p:nvSpPr>
        <p:spPr>
          <a:xfrm>
            <a:off x="640080" y="603504"/>
            <a:ext cx="10908792"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1371600" y="2011680"/>
            <a:ext cx="9445752" cy="914400"/>
          </a:xfrm>
          <a:prstGeom prst="rect">
            <a:avLst/>
          </a:prstGeom>
          <a:noFill/>
          <a:ln/>
        </p:spPr>
        <p:txBody>
          <a:bodyPr wrap="square" lIns="0" tIns="0" rIns="0" bIns="0" rtlCol="0" anchor="ctr"/>
          <a:lstStyle/>
          <a:p>
            <a:pPr marL="0" indent="0" algn="ctr">
              <a:buNone/>
            </a:pPr>
            <a:r>
              <a:rPr lang="en-US" sz="4400" b="1" dirty="0">
                <a:solidFill>
                  <a:schemeClr val="accent1"/>
                </a:solidFill>
              </a:rPr>
              <a:t>Shelf</a:t>
            </a:r>
            <a:endParaRPr lang="en-US" sz="4400" dirty="0"/>
          </a:p>
        </p:txBody>
      </p:sp>
      <p:sp>
        <p:nvSpPr>
          <p:cNvPr id="3" name="Text 0"/>
          <p:cNvSpPr>
            <a:spLocks noGrp="1"/>
          </p:cNvSpPr>
          <p:nvPr>
            <p:ph type="body" idx="102" hasCustomPrompt="1"/>
          </p:nvPr>
        </p:nvSpPr>
        <p:spPr>
          <a:xfrm>
            <a:off x="1371600" y="3108960"/>
            <a:ext cx="9445752" cy="1188720"/>
          </a:xfrm>
          <a:prstGeom prst="rect">
            <a:avLst/>
          </a:prstGeom>
          <a:noFill/>
          <a:ln/>
        </p:spPr>
        <p:txBody>
          <a:bodyPr wrap="square" lIns="0" tIns="0" rIns="0" bIns="0" rtlCol="0" anchor="t"/>
          <a:lstStyle/>
          <a:p>
            <a:pPr marL="0" indent="0" algn="ctr">
              <a:buNone/>
            </a:pPr>
            <a:r>
              <a:rPr lang="en-US" sz="3200" dirty="0">
                <a:solidFill>
                  <a:schemeClr val="accent2"/>
                </a:solidFill>
              </a:rPr>
              <a:t>User-Centred Design for a Book Comparison &amp; Reading Tracker App</a:t>
            </a:r>
            <a:endParaRPr lang="en-US" sz="3200" dirty="0"/>
          </a:p>
        </p:txBody>
      </p:sp>
      <p:sp>
        <p:nvSpPr>
          <p:cNvPr id="4" name="Text 0"/>
          <p:cNvSpPr>
            <a:spLocks noGrp="1"/>
          </p:cNvSpPr>
          <p:nvPr>
            <p:ph type="body" idx="103" hasCustomPrompt="1"/>
          </p:nvPr>
        </p:nvSpPr>
        <p:spPr>
          <a:xfrm>
            <a:off x="1371600" y="4754880"/>
            <a:ext cx="9445752" cy="457200"/>
          </a:xfrm>
          <a:prstGeom prst="rect">
            <a:avLst/>
          </a:prstGeom>
          <a:noFill/>
          <a:ln/>
        </p:spPr>
        <p:txBody>
          <a:bodyPr wrap="square" lIns="0" tIns="0" rIns="0" bIns="0" rtlCol="0" anchor="ctr"/>
          <a:lstStyle/>
          <a:p>
            <a:pPr marL="0" indent="0" algn="ctr">
              <a:buNone/>
            </a:pPr>
            <a:r>
              <a:rPr lang="en-US" sz="1800" dirty="0">
                <a:solidFill>
                  <a:schemeClr val="accent2"/>
                </a:solidFill>
              </a:rPr>
              <a:t>Anas Hossam  ·  Youssef Hussein  ·  Hozyfa Batisha</a:t>
            </a:r>
            <a:endParaRPr lang="en-US" sz="1800" dirty="0"/>
          </a:p>
        </p:txBody>
      </p:sp>
      <p:sp>
        <p:nvSpPr>
          <p:cNvPr id="5" name="Text 0"/>
          <p:cNvSpPr>
            <a:spLocks noGrp="1"/>
          </p:cNvSpPr>
          <p:nvPr>
            <p:ph type="body" idx="104" hasCustomPrompt="1"/>
          </p:nvPr>
        </p:nvSpPr>
        <p:spPr>
          <a:xfrm>
            <a:off x="1371600" y="6172200"/>
            <a:ext cx="9445752" cy="274320"/>
          </a:xfrm>
          <a:prstGeom prst="rect">
            <a:avLst/>
          </a:prstGeom>
          <a:noFill/>
          <a:ln/>
        </p:spPr>
        <p:txBody>
          <a:bodyPr wrap="square" lIns="0" tIns="0" rIns="0" bIns="0" rtlCol="0" anchor="ctr"/>
          <a:lstStyle/>
          <a:p>
            <a:pPr marL="0" indent="0" algn="ctr">
              <a:buNone/>
            </a:pPr>
            <a:r>
              <a:rPr lang="en-US" sz="1400" dirty="0">
                <a:solidFill>
                  <a:schemeClr val="accent2"/>
                </a:solidFill>
              </a:rPr>
              <a:t>C# UX Module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280160"/>
            <a:ext cx="4572000" cy="1463040"/>
          </a:xfrm>
          <a:prstGeom prst="rect">
            <a:avLst/>
          </a:prstGeom>
          <a:noFill/>
          <a:ln/>
        </p:spPr>
        <p:txBody>
          <a:bodyPr wrap="square" lIns="0" tIns="0" rIns="0" bIns="0" rtlCol="0" anchor="ctr"/>
          <a:lstStyle/>
          <a:p>
            <a:pPr marL="0" indent="0" algn="l">
              <a:buNone/>
            </a:pPr>
            <a:r>
              <a:rPr lang="en-US" sz="9600" b="1" dirty="0">
                <a:solidFill>
                  <a:schemeClr val="accent1"/>
                </a:solidFill>
              </a:rPr>
              <a:t>01</a:t>
            </a:r>
            <a:endParaRPr lang="en-US" sz="9600" dirty="0"/>
          </a:p>
        </p:txBody>
      </p:sp>
      <p:sp>
        <p:nvSpPr>
          <p:cNvPr id="3" name="Text 1"/>
          <p:cNvSpPr>
            <a:spLocks noGrp="1"/>
          </p:cNvSpPr>
          <p:nvPr>
            <p:ph type="title" idx="102" hasCustomPrompt="1"/>
          </p:nvPr>
        </p:nvSpPr>
        <p:spPr>
          <a:xfrm>
            <a:off x="822960" y="3108960"/>
            <a:ext cx="5852160" cy="2194560"/>
          </a:xfrm>
          <a:prstGeom prst="rect">
            <a:avLst/>
          </a:prstGeom>
          <a:noFill/>
          <a:ln/>
        </p:spPr>
        <p:txBody>
          <a:bodyPr wrap="square" lIns="0" tIns="0" rIns="0" bIns="0" rtlCol="0" anchor="t"/>
          <a:lstStyle/>
          <a:p>
            <a:pPr marL="0" indent="0" algn="l">
              <a:buNone/>
            </a:pPr>
            <a:r>
              <a:rPr lang="en-US" sz="4400" b="1" dirty="0">
                <a:solidFill>
                  <a:schemeClr val="tx1"/>
                </a:solidFill>
              </a:rPr>
              <a:t>Why User-Centred Design?</a:t>
            </a:r>
            <a:endParaRPr lang="en-US" sz="4400" dirty="0"/>
          </a:p>
        </p:txBody>
      </p:sp>
      <p:sp>
        <p:nvSpPr>
          <p:cNvPr id="4" name="Text 1"/>
          <p:cNvSpPr>
            <a:spLocks noGrp="1"/>
          </p:cNvSpPr>
          <p:nvPr>
            <p:ph type="body" idx="103" hasCustomPrompt="1"/>
          </p:nvPr>
        </p:nvSpPr>
        <p:spPr>
          <a:xfrm>
            <a:off x="822960" y="5577840"/>
            <a:ext cx="5852160" cy="274320"/>
          </a:xfrm>
          <a:prstGeom prst="rect">
            <a:avLst/>
          </a:prstGeom>
          <a:noFill/>
          <a:ln/>
        </p:spPr>
        <p:txBody>
          <a:bodyPr wrap="square" lIns="0" tIns="0" rIns="0" bIns="0" rtlCol="0" anchor="ctr"/>
          <a:lstStyle/>
          <a:p>
            <a:pPr marL="0" indent="0" algn="l">
              <a:buNone/>
            </a:pPr>
            <a:r>
              <a:rPr lang="en-US" sz="1400" b="1" kern="0" spc="150" dirty="0">
                <a:solidFill>
                  <a:schemeClr val="accent2"/>
                </a:solidFill>
              </a:rPr>
              <a:t>PRESENTER  ·  ANAS HOSSAM  ·  ~8 MIN</a:t>
            </a:r>
            <a:endParaRPr lang="en-US" sz="1400" dirty="0"/>
          </a:p>
        </p:txBody>
      </p:sp>
      <p:sp>
        <p:nvSpPr>
          <p:cNvPr id="6" name="Text 3"/>
          <p:cNvSpPr txBox="1"/>
          <p:nvPr/>
        </p:nvSpPr>
        <p:spPr>
          <a:xfrm>
            <a:off x="7223760" y="1325880"/>
            <a:ext cx="4297680" cy="228600"/>
          </a:xfrm>
          <a:prstGeom prst="rect">
            <a:avLst/>
          </a:prstGeom>
          <a:noFill/>
          <a:ln/>
        </p:spPr>
        <p:txBody>
          <a:bodyPr wrap="square" lIns="0" tIns="0" rIns="0" bIns="0" rtlCol="0" anchor="t"/>
          <a:lstStyle/>
          <a:p>
            <a:pPr marL="0" indent="0">
              <a:buNone/>
            </a:pPr>
            <a:r>
              <a:rPr lang="en-US" sz="1200" b="1" kern="0" spc="150" dirty="0">
                <a:solidFill>
                  <a:schemeClr val="accent2"/>
                </a:solidFill>
              </a:rPr>
              <a:t>AGENDA</a:t>
            </a:r>
            <a:endParaRPr lang="en-US" sz="1200" dirty="0"/>
          </a:p>
        </p:txBody>
      </p:sp>
      <p:sp>
        <p:nvSpPr>
          <p:cNvPr id="7" name="Current section"/>
          <p:cNvSpPr/>
          <p:nvPr/>
        </p:nvSpPr>
        <p:spPr>
          <a:xfrm>
            <a:off x="7223760" y="1636776"/>
            <a:ext cx="4325112" cy="548640"/>
          </a:xfrm>
          <a:prstGeom prst="roundRect">
            <a:avLst>
              <a:gd name="adj" fmla="val 20000"/>
            </a:avLst>
          </a:prstGeom>
          <a:solidFill>
            <a:schemeClr val="bg2"/>
          </a:solidFill>
          <a:ln w="15875">
            <a:solidFill>
              <a:schemeClr val="accent1"/>
            </a:solidFill>
            <a:prstDash val="solid"/>
          </a:ln>
        </p:spPr>
        <p:txBody>
          <a:bodyPr/>
          <a:lstStyle/>
          <a:p>
            <a:endParaRPr lang="en-GB"/>
          </a:p>
        </p:txBody>
      </p:sp>
      <p:sp>
        <p:nvSpPr>
          <p:cNvPr id="8" name="Text 5"/>
          <p:cNvSpPr txBox="1"/>
          <p:nvPr/>
        </p:nvSpPr>
        <p:spPr>
          <a:xfrm>
            <a:off x="7406640" y="1691640"/>
            <a:ext cx="457200" cy="438912"/>
          </a:xfrm>
          <a:prstGeom prst="rect">
            <a:avLst/>
          </a:prstGeom>
          <a:noFill/>
          <a:ln/>
        </p:spPr>
        <p:txBody>
          <a:bodyPr wrap="square" lIns="0" tIns="0" rIns="0" bIns="0" rtlCol="0" anchor="ctr"/>
          <a:lstStyle/>
          <a:p>
            <a:pPr marL="0" indent="0">
              <a:buNone/>
            </a:pPr>
            <a:r>
              <a:rPr lang="en-US" sz="1600" b="1" dirty="0">
                <a:solidFill>
                  <a:schemeClr val="accent1"/>
                </a:solidFill>
              </a:rPr>
              <a:t>01</a:t>
            </a:r>
            <a:endParaRPr lang="en-US" sz="1600" dirty="0"/>
          </a:p>
        </p:txBody>
      </p:sp>
      <p:sp>
        <p:nvSpPr>
          <p:cNvPr id="9" name="Text 6"/>
          <p:cNvSpPr txBox="1"/>
          <p:nvPr/>
        </p:nvSpPr>
        <p:spPr>
          <a:xfrm>
            <a:off x="7955280" y="1691640"/>
            <a:ext cx="3474720" cy="438912"/>
          </a:xfrm>
          <a:prstGeom prst="rect">
            <a:avLst/>
          </a:prstGeom>
          <a:noFill/>
          <a:ln/>
        </p:spPr>
        <p:txBody>
          <a:bodyPr wrap="square" lIns="0" tIns="0" rIns="0" bIns="0" rtlCol="0" anchor="ctr"/>
          <a:lstStyle/>
          <a:p>
            <a:pPr marL="0" indent="0">
              <a:buNone/>
            </a:pPr>
            <a:r>
              <a:rPr lang="en-US" sz="1600" b="1" dirty="0">
                <a:solidFill>
                  <a:schemeClr val="tx1"/>
                </a:solidFill>
              </a:rPr>
              <a:t>Why User-Centred Design?</a:t>
            </a:r>
            <a:endParaRPr lang="en-US" sz="1600" dirty="0"/>
          </a:p>
        </p:txBody>
      </p:sp>
      <p:sp>
        <p:nvSpPr>
          <p:cNvPr id="10" name="Text 7"/>
          <p:cNvSpPr txBox="1"/>
          <p:nvPr/>
        </p:nvSpPr>
        <p:spPr>
          <a:xfrm>
            <a:off x="7406640" y="233172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02</a:t>
            </a:r>
            <a:endParaRPr lang="en-US" sz="1600" dirty="0"/>
          </a:p>
        </p:txBody>
      </p:sp>
      <p:sp>
        <p:nvSpPr>
          <p:cNvPr id="11" name="Text 8"/>
          <p:cNvSpPr txBox="1"/>
          <p:nvPr/>
        </p:nvSpPr>
        <p:spPr>
          <a:xfrm>
            <a:off x="7955280" y="233172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Users, Stakeholders &amp; Research</a:t>
            </a:r>
            <a:endParaRPr lang="en-US" sz="1600" dirty="0"/>
          </a:p>
        </p:txBody>
      </p:sp>
      <p:sp>
        <p:nvSpPr>
          <p:cNvPr id="12" name="Text 9"/>
          <p:cNvSpPr txBox="1"/>
          <p:nvPr/>
        </p:nvSpPr>
        <p:spPr>
          <a:xfrm>
            <a:off x="7406640" y="297180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03</a:t>
            </a:r>
            <a:endParaRPr lang="en-US" sz="1600" dirty="0"/>
          </a:p>
        </p:txBody>
      </p:sp>
      <p:sp>
        <p:nvSpPr>
          <p:cNvPr id="13" name="Text 10"/>
          <p:cNvSpPr txBox="1"/>
          <p:nvPr/>
        </p:nvSpPr>
        <p:spPr>
          <a:xfrm>
            <a:off x="7955280" y="297180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Personas</a:t>
            </a:r>
            <a:endParaRPr lang="en-US" sz="1600" dirty="0"/>
          </a:p>
        </p:txBody>
      </p:sp>
      <p:sp>
        <p:nvSpPr>
          <p:cNvPr id="14" name="Text 11"/>
          <p:cNvSpPr txBox="1"/>
          <p:nvPr/>
        </p:nvSpPr>
        <p:spPr>
          <a:xfrm>
            <a:off x="7406640" y="361188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04</a:t>
            </a:r>
            <a:endParaRPr lang="en-US" sz="1600" dirty="0"/>
          </a:p>
        </p:txBody>
      </p:sp>
      <p:sp>
        <p:nvSpPr>
          <p:cNvPr id="15" name="Text 12"/>
          <p:cNvSpPr txBox="1"/>
          <p:nvPr/>
        </p:nvSpPr>
        <p:spPr>
          <a:xfrm>
            <a:off x="7955280" y="361188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User Stories &amp; Acceptance Criteria</a:t>
            </a:r>
            <a:endParaRPr lang="en-US" sz="1600" dirty="0"/>
          </a:p>
        </p:txBody>
      </p:sp>
      <p:sp>
        <p:nvSpPr>
          <p:cNvPr id="16" name="Text 13"/>
          <p:cNvSpPr txBox="1"/>
          <p:nvPr/>
        </p:nvSpPr>
        <p:spPr>
          <a:xfrm>
            <a:off x="7406640" y="425196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05</a:t>
            </a:r>
            <a:endParaRPr lang="en-US" sz="1600" dirty="0"/>
          </a:p>
        </p:txBody>
      </p:sp>
      <p:sp>
        <p:nvSpPr>
          <p:cNvPr id="17" name="Text 14"/>
          <p:cNvSpPr txBox="1"/>
          <p:nvPr/>
        </p:nvSpPr>
        <p:spPr>
          <a:xfrm>
            <a:off x="7955280" y="425196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Problem Statement &amp; User Flow</a:t>
            </a:r>
            <a:endParaRPr lang="en-US" sz="1600" dirty="0"/>
          </a:p>
        </p:txBody>
      </p:sp>
      <p:sp>
        <p:nvSpPr>
          <p:cNvPr id="18" name="Text 15"/>
          <p:cNvSpPr txBox="1"/>
          <p:nvPr/>
        </p:nvSpPr>
        <p:spPr>
          <a:xfrm>
            <a:off x="7406640" y="489204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06</a:t>
            </a:r>
            <a:endParaRPr lang="en-US" sz="1600" dirty="0"/>
          </a:p>
        </p:txBody>
      </p:sp>
      <p:sp>
        <p:nvSpPr>
          <p:cNvPr id="19" name="Text 16"/>
          <p:cNvSpPr txBox="1"/>
          <p:nvPr/>
        </p:nvSpPr>
        <p:spPr>
          <a:xfrm>
            <a:off x="7955280" y="489204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Wireframes &amp; Usability Heuristics</a:t>
            </a:r>
            <a:endParaRPr lang="en-US" sz="1600" dirty="0"/>
          </a:p>
        </p:txBody>
      </p:sp>
      <p:sp>
        <p:nvSpPr>
          <p:cNvPr id="20" name="Text 17"/>
          <p:cNvSpPr txBox="1"/>
          <p:nvPr/>
        </p:nvSpPr>
        <p:spPr>
          <a:xfrm>
            <a:off x="7406640" y="553212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07</a:t>
            </a:r>
            <a:endParaRPr lang="en-US" sz="1600" dirty="0"/>
          </a:p>
        </p:txBody>
      </p:sp>
      <p:sp>
        <p:nvSpPr>
          <p:cNvPr id="21" name="Text 18"/>
          <p:cNvSpPr txBox="1"/>
          <p:nvPr/>
        </p:nvSpPr>
        <p:spPr>
          <a:xfrm>
            <a:off x="7955280" y="553212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Accessibility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01 · WHY USER-CENTRED DESIGN?</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What is User-Centred Design?</a:t>
            </a:r>
            <a:endParaRPr lang="en-US" sz="3200" dirty="0"/>
          </a:p>
        </p:txBody>
      </p:sp>
      <p:sp>
        <p:nvSpPr>
          <p:cNvPr id="5" name="Text 2"/>
          <p:cNvSpPr txBox="1"/>
          <p:nvPr/>
        </p:nvSpPr>
        <p:spPr>
          <a:xfrm>
            <a:off x="640080" y="1645920"/>
            <a:ext cx="5943600" cy="402336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chemeClr val="tx1"/>
                </a:solidFill>
              </a:rPr>
              <a:t>An iterative design process where users’ goals, tasks, and context drive every decision</a:t>
            </a:r>
            <a:endParaRPr lang="en-US" sz="1800" dirty="0"/>
          </a:p>
          <a:p>
            <a:pPr marL="228600" indent="-228600">
              <a:spcAft>
                <a:spcPts val="1400"/>
              </a:spcAft>
              <a:buSzPct val="100000"/>
              <a:buChar char="•"/>
            </a:pPr>
            <a:r>
              <a:rPr lang="en-US" sz="1800" dirty="0">
                <a:solidFill>
                  <a:schemeClr val="tx1"/>
                </a:solidFill>
              </a:rPr>
              <a:t>Designs are validated with real users at every stage</a:t>
            </a:r>
            <a:endParaRPr lang="en-US" sz="1800" dirty="0"/>
          </a:p>
          <a:p>
            <a:pPr marL="228600" indent="-228600">
              <a:spcAft>
                <a:spcPts val="1400"/>
              </a:spcAft>
              <a:buSzPct val="100000"/>
              <a:buChar char="•"/>
            </a:pPr>
            <a:r>
              <a:rPr lang="en-US" sz="1800" dirty="0">
                <a:solidFill>
                  <a:schemeClr val="tx1"/>
                </a:solidFill>
              </a:rPr>
              <a:t>Not about aesthetics — about building the </a:t>
            </a:r>
            <a:r>
              <a:rPr lang="en-US" sz="1800" i="1" dirty="0">
                <a:solidFill>
                  <a:schemeClr val="tx1"/>
                </a:solidFill>
              </a:rPr>
              <a:t>right</a:t>
            </a:r>
            <a:r>
              <a:rPr lang="en-US" sz="1800" dirty="0">
                <a:solidFill>
                  <a:schemeClr val="tx1"/>
                </a:solidFill>
              </a:rPr>
              <a:t> thing before building the thing right</a:t>
            </a:r>
            <a:endParaRPr lang="en-US" sz="1800" dirty="0"/>
          </a:p>
          <a:p>
            <a:pPr marL="228600" indent="-228600">
              <a:spcAft>
                <a:spcPts val="1400"/>
              </a:spcAft>
              <a:buSzPct val="100000"/>
              <a:buChar char="•"/>
            </a:pPr>
            <a:r>
              <a:rPr lang="en-US" sz="1800" dirty="0">
                <a:solidFill>
                  <a:schemeClr val="tx1"/>
                </a:solidFill>
              </a:rPr>
              <a:t>Standardised in ISO 9241-210 / ISO 13407</a:t>
            </a:r>
            <a:endParaRPr lang="en-US" sz="1800" dirty="0"/>
          </a:p>
        </p:txBody>
      </p:sp>
      <p:sp>
        <p:nvSpPr>
          <p:cNvPr id="6" name="Text 3"/>
          <p:cNvSpPr txBox="1"/>
          <p:nvPr/>
        </p:nvSpPr>
        <p:spPr>
          <a:xfrm>
            <a:off x="7223760" y="1554480"/>
            <a:ext cx="4297680" cy="228600"/>
          </a:xfrm>
          <a:prstGeom prst="rect">
            <a:avLst/>
          </a:prstGeom>
          <a:noFill/>
          <a:ln/>
        </p:spPr>
        <p:txBody>
          <a:bodyPr wrap="square" lIns="0" tIns="0" rIns="0" bIns="0" rtlCol="0" anchor="t"/>
          <a:lstStyle/>
          <a:p>
            <a:pPr marL="0" indent="0">
              <a:buNone/>
            </a:pPr>
            <a:r>
              <a:rPr lang="en-US" sz="1200" b="1" kern="0" spc="150" dirty="0">
                <a:solidFill>
                  <a:schemeClr val="accent2"/>
                </a:solidFill>
              </a:rPr>
              <a:t>THE UCD CYCLE</a:t>
            </a:r>
            <a:endParaRPr lang="en-US" sz="1200" dirty="0"/>
          </a:p>
        </p:txBody>
      </p:sp>
      <p:sp>
        <p:nvSpPr>
          <p:cNvPr id="7" name="Cycle step 1"/>
          <p:cNvSpPr/>
          <p:nvPr/>
        </p:nvSpPr>
        <p:spPr>
          <a:xfrm>
            <a:off x="8458200" y="1920240"/>
            <a:ext cx="1737360" cy="822960"/>
          </a:xfrm>
          <a:prstGeom prst="roundRect">
            <a:avLst>
              <a:gd name="adj" fmla="val 13333"/>
            </a:avLst>
          </a:prstGeom>
          <a:solidFill>
            <a:schemeClr val="bg2"/>
          </a:solidFill>
          <a:ln w="15875">
            <a:solidFill>
              <a:schemeClr val="accent1"/>
            </a:solidFill>
            <a:prstDash val="solid"/>
          </a:ln>
        </p:spPr>
        <p:txBody>
          <a:bodyPr/>
          <a:lstStyle/>
          <a:p>
            <a:endParaRPr lang="en-GB"/>
          </a:p>
        </p:txBody>
      </p:sp>
      <p:sp>
        <p:nvSpPr>
          <p:cNvPr id="8" name="Text 5"/>
          <p:cNvSpPr txBox="1"/>
          <p:nvPr/>
        </p:nvSpPr>
        <p:spPr>
          <a:xfrm>
            <a:off x="8549640" y="1920240"/>
            <a:ext cx="1554480" cy="822960"/>
          </a:xfrm>
          <a:prstGeom prst="rect">
            <a:avLst/>
          </a:prstGeom>
          <a:noFill/>
          <a:ln/>
        </p:spPr>
        <p:txBody>
          <a:bodyPr wrap="square" lIns="0" tIns="0" rIns="0" bIns="0" rtlCol="0" anchor="ctr"/>
          <a:lstStyle/>
          <a:p>
            <a:pPr marL="0" indent="0">
              <a:buNone/>
            </a:pPr>
            <a:r>
              <a:rPr lang="en-US" sz="1400" b="1" dirty="0">
                <a:solidFill>
                  <a:schemeClr val="accent1"/>
                </a:solidFill>
              </a:rPr>
              <a:t>1  </a:t>
            </a:r>
            <a:r>
              <a:rPr lang="en-US" sz="1400" dirty="0">
                <a:solidFill>
                  <a:schemeClr val="tx1"/>
                </a:solidFill>
              </a:rPr>
              <a:t>Understand context of use</a:t>
            </a:r>
            <a:endParaRPr lang="en-US" sz="1400" dirty="0"/>
          </a:p>
        </p:txBody>
      </p:sp>
      <p:sp>
        <p:nvSpPr>
          <p:cNvPr id="9" name="Cycle step 2"/>
          <p:cNvSpPr/>
          <p:nvPr/>
        </p:nvSpPr>
        <p:spPr>
          <a:xfrm>
            <a:off x="9811512" y="3383280"/>
            <a:ext cx="1737360" cy="822960"/>
          </a:xfrm>
          <a:prstGeom prst="roundRect">
            <a:avLst>
              <a:gd name="adj" fmla="val 13333"/>
            </a:avLst>
          </a:prstGeom>
          <a:solidFill>
            <a:schemeClr val="bg2"/>
          </a:solidFill>
          <a:ln w="15875">
            <a:solidFill>
              <a:schemeClr val="accent1"/>
            </a:solidFill>
            <a:prstDash val="solid"/>
          </a:ln>
        </p:spPr>
        <p:txBody>
          <a:bodyPr/>
          <a:lstStyle/>
          <a:p>
            <a:endParaRPr lang="en-GB"/>
          </a:p>
        </p:txBody>
      </p:sp>
      <p:sp>
        <p:nvSpPr>
          <p:cNvPr id="10" name="Text 7"/>
          <p:cNvSpPr txBox="1"/>
          <p:nvPr/>
        </p:nvSpPr>
        <p:spPr>
          <a:xfrm>
            <a:off x="9902952" y="3383280"/>
            <a:ext cx="1554480" cy="822960"/>
          </a:xfrm>
          <a:prstGeom prst="rect">
            <a:avLst/>
          </a:prstGeom>
          <a:noFill/>
          <a:ln/>
        </p:spPr>
        <p:txBody>
          <a:bodyPr wrap="square" lIns="0" tIns="0" rIns="0" bIns="0" rtlCol="0" anchor="ctr"/>
          <a:lstStyle/>
          <a:p>
            <a:pPr marL="0" indent="0">
              <a:buNone/>
            </a:pPr>
            <a:r>
              <a:rPr lang="en-US" sz="1400" b="1" dirty="0">
                <a:solidFill>
                  <a:schemeClr val="accent1"/>
                </a:solidFill>
              </a:rPr>
              <a:t>2  </a:t>
            </a:r>
            <a:r>
              <a:rPr lang="en-US" sz="1400" dirty="0">
                <a:solidFill>
                  <a:schemeClr val="tx1"/>
                </a:solidFill>
              </a:rPr>
              <a:t>Specify user requirements</a:t>
            </a:r>
            <a:endParaRPr lang="en-US" sz="1400" dirty="0"/>
          </a:p>
        </p:txBody>
      </p:sp>
      <p:sp>
        <p:nvSpPr>
          <p:cNvPr id="11" name="Cycle step 3"/>
          <p:cNvSpPr/>
          <p:nvPr/>
        </p:nvSpPr>
        <p:spPr>
          <a:xfrm>
            <a:off x="8458200" y="4846320"/>
            <a:ext cx="1737360" cy="822960"/>
          </a:xfrm>
          <a:prstGeom prst="roundRect">
            <a:avLst>
              <a:gd name="adj" fmla="val 13333"/>
            </a:avLst>
          </a:prstGeom>
          <a:solidFill>
            <a:schemeClr val="bg2"/>
          </a:solidFill>
          <a:ln w="15875">
            <a:solidFill>
              <a:schemeClr val="accent1"/>
            </a:solidFill>
            <a:prstDash val="solid"/>
          </a:ln>
        </p:spPr>
        <p:txBody>
          <a:bodyPr/>
          <a:lstStyle/>
          <a:p>
            <a:endParaRPr lang="en-GB"/>
          </a:p>
        </p:txBody>
      </p:sp>
      <p:sp>
        <p:nvSpPr>
          <p:cNvPr id="12" name="Text 9"/>
          <p:cNvSpPr txBox="1"/>
          <p:nvPr/>
        </p:nvSpPr>
        <p:spPr>
          <a:xfrm>
            <a:off x="8549640" y="4846320"/>
            <a:ext cx="1554480" cy="822960"/>
          </a:xfrm>
          <a:prstGeom prst="rect">
            <a:avLst/>
          </a:prstGeom>
          <a:noFill/>
          <a:ln/>
        </p:spPr>
        <p:txBody>
          <a:bodyPr wrap="square" lIns="0" tIns="0" rIns="0" bIns="0" rtlCol="0" anchor="ctr"/>
          <a:lstStyle/>
          <a:p>
            <a:pPr marL="0" indent="0">
              <a:buNone/>
            </a:pPr>
            <a:r>
              <a:rPr lang="en-US" sz="1400" b="1" dirty="0">
                <a:solidFill>
                  <a:schemeClr val="accent1"/>
                </a:solidFill>
              </a:rPr>
              <a:t>3  </a:t>
            </a:r>
            <a:r>
              <a:rPr lang="en-US" sz="1400" dirty="0">
                <a:solidFill>
                  <a:schemeClr val="tx1"/>
                </a:solidFill>
              </a:rPr>
              <a:t>Produce design solutions</a:t>
            </a:r>
            <a:endParaRPr lang="en-US" sz="1400" dirty="0"/>
          </a:p>
        </p:txBody>
      </p:sp>
      <p:sp>
        <p:nvSpPr>
          <p:cNvPr id="13" name="Cycle step 4"/>
          <p:cNvSpPr/>
          <p:nvPr/>
        </p:nvSpPr>
        <p:spPr>
          <a:xfrm>
            <a:off x="7104888" y="3383280"/>
            <a:ext cx="1737360" cy="822960"/>
          </a:xfrm>
          <a:prstGeom prst="roundRect">
            <a:avLst>
              <a:gd name="adj" fmla="val 13333"/>
            </a:avLst>
          </a:prstGeom>
          <a:solidFill>
            <a:schemeClr val="bg2"/>
          </a:solidFill>
          <a:ln w="15875">
            <a:solidFill>
              <a:schemeClr val="accent1"/>
            </a:solidFill>
            <a:prstDash val="solid"/>
          </a:ln>
        </p:spPr>
        <p:txBody>
          <a:bodyPr/>
          <a:lstStyle/>
          <a:p>
            <a:endParaRPr lang="en-GB"/>
          </a:p>
        </p:txBody>
      </p:sp>
      <p:sp>
        <p:nvSpPr>
          <p:cNvPr id="14" name="Text 11"/>
          <p:cNvSpPr txBox="1"/>
          <p:nvPr/>
        </p:nvSpPr>
        <p:spPr>
          <a:xfrm>
            <a:off x="7196328" y="3383280"/>
            <a:ext cx="1554480" cy="822960"/>
          </a:xfrm>
          <a:prstGeom prst="rect">
            <a:avLst/>
          </a:prstGeom>
          <a:noFill/>
          <a:ln/>
        </p:spPr>
        <p:txBody>
          <a:bodyPr wrap="square" lIns="0" tIns="0" rIns="0" bIns="0" rtlCol="0" anchor="ctr"/>
          <a:lstStyle/>
          <a:p>
            <a:pPr marL="0" indent="0">
              <a:buNone/>
            </a:pPr>
            <a:r>
              <a:rPr lang="en-US" sz="1400" b="1" dirty="0">
                <a:solidFill>
                  <a:schemeClr val="accent1"/>
                </a:solidFill>
              </a:rPr>
              <a:t>4  </a:t>
            </a:r>
            <a:r>
              <a:rPr lang="en-US" sz="1400" dirty="0">
                <a:solidFill>
                  <a:schemeClr val="tx1"/>
                </a:solidFill>
              </a:rPr>
              <a:t>Evaluate with users</a:t>
            </a:r>
            <a:endParaRPr lang="en-US" sz="1400" dirty="0"/>
          </a:p>
        </p:txBody>
      </p:sp>
      <p:sp>
        <p:nvSpPr>
          <p:cNvPr id="15" name="Connector"/>
          <p:cNvSpPr/>
          <p:nvPr/>
        </p:nvSpPr>
        <p:spPr>
          <a:xfrm>
            <a:off x="10241280" y="2331720"/>
            <a:ext cx="438912" cy="1005840"/>
          </a:xfrm>
          <a:prstGeom prst="line">
            <a:avLst/>
          </a:prstGeom>
          <a:noFill/>
          <a:ln w="19050">
            <a:solidFill>
              <a:schemeClr val="accent1"/>
            </a:solidFill>
            <a:prstDash val="solid"/>
            <a:tailEnd type="triangle"/>
          </a:ln>
        </p:spPr>
        <p:txBody>
          <a:bodyPr/>
          <a:lstStyle/>
          <a:p>
            <a:endParaRPr lang="en-GB"/>
          </a:p>
        </p:txBody>
      </p:sp>
      <p:sp>
        <p:nvSpPr>
          <p:cNvPr id="16" name="Connector"/>
          <p:cNvSpPr/>
          <p:nvPr/>
        </p:nvSpPr>
        <p:spPr>
          <a:xfrm flipH="1">
            <a:off x="10241280" y="4206240"/>
            <a:ext cx="438912" cy="868680"/>
          </a:xfrm>
          <a:prstGeom prst="line">
            <a:avLst/>
          </a:prstGeom>
          <a:noFill/>
          <a:ln w="19050">
            <a:solidFill>
              <a:schemeClr val="accent1"/>
            </a:solidFill>
            <a:prstDash val="solid"/>
            <a:tailEnd type="triangle"/>
          </a:ln>
        </p:spPr>
        <p:txBody>
          <a:bodyPr/>
          <a:lstStyle/>
          <a:p>
            <a:endParaRPr lang="en-GB"/>
          </a:p>
        </p:txBody>
      </p:sp>
      <p:sp>
        <p:nvSpPr>
          <p:cNvPr id="17" name="Connector"/>
          <p:cNvSpPr/>
          <p:nvPr/>
        </p:nvSpPr>
        <p:spPr>
          <a:xfrm flipH="1" flipV="1">
            <a:off x="7973568" y="4251960"/>
            <a:ext cx="484632" cy="1005840"/>
          </a:xfrm>
          <a:prstGeom prst="line">
            <a:avLst/>
          </a:prstGeom>
          <a:noFill/>
          <a:ln w="19050">
            <a:solidFill>
              <a:schemeClr val="accent1"/>
            </a:solidFill>
            <a:prstDash val="solid"/>
            <a:tailEnd type="triangle"/>
          </a:ln>
        </p:spPr>
        <p:txBody>
          <a:bodyPr/>
          <a:lstStyle/>
          <a:p>
            <a:endParaRPr lang="en-GB"/>
          </a:p>
        </p:txBody>
      </p:sp>
      <p:sp>
        <p:nvSpPr>
          <p:cNvPr id="18" name="Connector"/>
          <p:cNvSpPr/>
          <p:nvPr/>
        </p:nvSpPr>
        <p:spPr>
          <a:xfrm flipV="1">
            <a:off x="7973568" y="2331720"/>
            <a:ext cx="484632" cy="1005840"/>
          </a:xfrm>
          <a:prstGeom prst="line">
            <a:avLst/>
          </a:prstGeom>
          <a:noFill/>
          <a:ln w="19050">
            <a:solidFill>
              <a:schemeClr val="accent1"/>
            </a:solidFill>
            <a:prstDash val="solid"/>
            <a:tailEnd type="triangle"/>
          </a:ln>
        </p:spPr>
        <p:txBody>
          <a:bodyPr/>
          <a:lstStyle/>
          <a:p>
            <a:endParaRPr lang="en-GB"/>
          </a:p>
        </p:txBody>
      </p:sp>
      <p:sp>
        <p:nvSpPr>
          <p:cNvPr id="19" name="Iterate badge"/>
          <p:cNvSpPr/>
          <p:nvPr/>
        </p:nvSpPr>
        <p:spPr>
          <a:xfrm>
            <a:off x="8942832" y="3246120"/>
            <a:ext cx="868680" cy="868680"/>
          </a:xfrm>
          <a:prstGeom prst="ellipse">
            <a:avLst/>
          </a:prstGeom>
          <a:solidFill>
            <a:schemeClr val="accent1"/>
          </a:solidFill>
          <a:ln/>
        </p:spPr>
        <p:txBody>
          <a:bodyPr/>
          <a:lstStyle/>
          <a:p>
            <a:endParaRPr lang="en-GB"/>
          </a:p>
        </p:txBody>
      </p:sp>
      <p:sp>
        <p:nvSpPr>
          <p:cNvPr id="20" name="Text 17"/>
          <p:cNvSpPr txBox="1"/>
          <p:nvPr/>
        </p:nvSpPr>
        <p:spPr>
          <a:xfrm>
            <a:off x="8942832" y="3246120"/>
            <a:ext cx="868680" cy="868680"/>
          </a:xfrm>
          <a:prstGeom prst="rect">
            <a:avLst/>
          </a:prstGeom>
          <a:noFill/>
          <a:ln/>
        </p:spPr>
        <p:txBody>
          <a:bodyPr wrap="square" lIns="0" tIns="0" rIns="0" bIns="0" rtlCol="0" anchor="ctr"/>
          <a:lstStyle/>
          <a:p>
            <a:pPr marL="0" indent="0" algn="ctr">
              <a:buNone/>
            </a:pPr>
            <a:r>
              <a:rPr lang="en-US" sz="1200" b="1" dirty="0">
                <a:solidFill>
                  <a:schemeClr val="bg1"/>
                </a:solidFill>
              </a:rPr>
              <a:t>ITERATE</a:t>
            </a:r>
            <a:endParaRPr lang="en-US" sz="1200" dirty="0"/>
          </a:p>
        </p:txBody>
      </p:sp>
      <p:sp>
        <p:nvSpPr>
          <p:cNvPr id="21" name="Text 18"/>
          <p:cNvSpPr txBox="1"/>
          <p:nvPr/>
        </p:nvSpPr>
        <p:spPr>
          <a:xfrm>
            <a:off x="7223760" y="5943600"/>
            <a:ext cx="4325112" cy="274320"/>
          </a:xfrm>
          <a:prstGeom prst="rect">
            <a:avLst/>
          </a:prstGeom>
          <a:noFill/>
          <a:ln/>
        </p:spPr>
        <p:txBody>
          <a:bodyPr wrap="square" lIns="0" tIns="0" rIns="0" bIns="0" rtlCol="0" anchor="t"/>
          <a:lstStyle/>
          <a:p>
            <a:pPr marL="0" indent="0" algn="ctr">
              <a:buNone/>
            </a:pPr>
            <a:r>
              <a:rPr lang="en-US" sz="1200" dirty="0">
                <a:solidFill>
                  <a:schemeClr val="accent2"/>
                </a:solidFill>
              </a:rPr>
              <a:t>Process stages as framed in ISO 9241-210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01 · WHY USER-CENTRED DESIGN?</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Cost of Fixing Errors: The Rising Curve</a:t>
            </a:r>
            <a:endParaRPr lang="en-US" sz="3200" dirty="0"/>
          </a:p>
        </p:txBody>
      </p:sp>
      <p:sp>
        <p:nvSpPr>
          <p:cNvPr id="5" name="Text 2"/>
          <p:cNvSpPr txBox="1"/>
          <p:nvPr/>
        </p:nvSpPr>
        <p:spPr>
          <a:xfrm>
            <a:off x="640080" y="1508760"/>
            <a:ext cx="6217920" cy="228600"/>
          </a:xfrm>
          <a:prstGeom prst="rect">
            <a:avLst/>
          </a:prstGeom>
          <a:noFill/>
          <a:ln/>
        </p:spPr>
        <p:txBody>
          <a:bodyPr wrap="square" lIns="0" tIns="0" rIns="0" bIns="0" rtlCol="0" anchor="t"/>
          <a:lstStyle/>
          <a:p>
            <a:pPr marL="0" indent="0">
              <a:buNone/>
            </a:pPr>
            <a:r>
              <a:rPr lang="en-US" sz="1100" b="1" kern="0" spc="150" dirty="0">
                <a:solidFill>
                  <a:schemeClr val="accent2"/>
                </a:solidFill>
              </a:rPr>
              <a:t>COST TO FIX A REQUIREMENT ERROR  ·  ILLUSTRATIVE, NOT TO SCALE</a:t>
            </a:r>
            <a:endParaRPr lang="en-US" sz="1100" dirty="0"/>
          </a:p>
        </p:txBody>
      </p:sp>
      <p:sp>
        <p:nvSpPr>
          <p:cNvPr id="6" name="Cost bar Requirements"/>
          <p:cNvSpPr/>
          <p:nvPr/>
        </p:nvSpPr>
        <p:spPr>
          <a:xfrm>
            <a:off x="640080" y="4983480"/>
            <a:ext cx="1097280" cy="502920"/>
          </a:xfrm>
          <a:prstGeom prst="roundRect">
            <a:avLst>
              <a:gd name="adj" fmla="val 14545"/>
            </a:avLst>
          </a:prstGeom>
          <a:solidFill>
            <a:srgbClr val="0D2A1A"/>
          </a:solidFill>
          <a:ln w="25400">
            <a:solidFill>
              <a:srgbClr val="44CC44"/>
            </a:solidFill>
            <a:prstDash val="solid"/>
          </a:ln>
        </p:spPr>
        <p:txBody>
          <a:bodyPr/>
          <a:lstStyle/>
          <a:p>
            <a:endParaRPr lang="en-GB"/>
          </a:p>
        </p:txBody>
      </p:sp>
      <p:sp>
        <p:nvSpPr>
          <p:cNvPr id="7" name="Text 4"/>
          <p:cNvSpPr txBox="1"/>
          <p:nvPr/>
        </p:nvSpPr>
        <p:spPr>
          <a:xfrm>
            <a:off x="640080" y="4572000"/>
            <a:ext cx="1097280" cy="365760"/>
          </a:xfrm>
          <a:prstGeom prst="rect">
            <a:avLst/>
          </a:prstGeom>
          <a:noFill/>
          <a:ln/>
        </p:spPr>
        <p:txBody>
          <a:bodyPr wrap="square" lIns="0" tIns="0" rIns="0" bIns="0" rtlCol="0" anchor="b"/>
          <a:lstStyle/>
          <a:p>
            <a:pPr marL="0" indent="0" algn="ctr">
              <a:buNone/>
            </a:pPr>
            <a:r>
              <a:rPr lang="en-US" sz="2000" b="1" dirty="0">
                <a:solidFill>
                  <a:srgbClr val="44CC44"/>
                </a:solidFill>
              </a:rPr>
              <a:t>1×</a:t>
            </a:r>
            <a:endParaRPr lang="en-US" sz="2000" dirty="0"/>
          </a:p>
        </p:txBody>
      </p:sp>
      <p:sp>
        <p:nvSpPr>
          <p:cNvPr id="8" name="Text 5"/>
          <p:cNvSpPr txBox="1"/>
          <p:nvPr/>
        </p:nvSpPr>
        <p:spPr>
          <a:xfrm>
            <a:off x="640080" y="5577840"/>
            <a:ext cx="1097280" cy="274320"/>
          </a:xfrm>
          <a:prstGeom prst="rect">
            <a:avLst/>
          </a:prstGeom>
          <a:noFill/>
          <a:ln/>
        </p:spPr>
        <p:txBody>
          <a:bodyPr wrap="square" lIns="0" tIns="0" rIns="0" bIns="0" rtlCol="0" anchor="t"/>
          <a:lstStyle/>
          <a:p>
            <a:pPr marL="0" indent="0" algn="ctr">
              <a:buNone/>
            </a:pPr>
            <a:r>
              <a:rPr lang="en-US" sz="1300" b="1" dirty="0">
                <a:solidFill>
                  <a:schemeClr val="tx1"/>
                </a:solidFill>
              </a:rPr>
              <a:t>Requirements</a:t>
            </a:r>
            <a:endParaRPr lang="en-US" sz="1300" dirty="0"/>
          </a:p>
        </p:txBody>
      </p:sp>
      <p:sp>
        <p:nvSpPr>
          <p:cNvPr id="9" name="Cost bar Design"/>
          <p:cNvSpPr/>
          <p:nvPr/>
        </p:nvSpPr>
        <p:spPr>
          <a:xfrm>
            <a:off x="1874520" y="4480560"/>
            <a:ext cx="1097280" cy="1005840"/>
          </a:xfrm>
          <a:prstGeom prst="roundRect">
            <a:avLst>
              <a:gd name="adj" fmla="val 7273"/>
            </a:avLst>
          </a:prstGeom>
          <a:solidFill>
            <a:srgbClr val="1A2A0D"/>
          </a:solidFill>
          <a:ln w="25400">
            <a:solidFill>
              <a:srgbClr val="AACC44"/>
            </a:solidFill>
            <a:prstDash val="solid"/>
          </a:ln>
        </p:spPr>
        <p:txBody>
          <a:bodyPr/>
          <a:lstStyle/>
          <a:p>
            <a:endParaRPr lang="en-GB"/>
          </a:p>
        </p:txBody>
      </p:sp>
      <p:sp>
        <p:nvSpPr>
          <p:cNvPr id="10" name="Text 7"/>
          <p:cNvSpPr txBox="1"/>
          <p:nvPr/>
        </p:nvSpPr>
        <p:spPr>
          <a:xfrm>
            <a:off x="1874520" y="4069080"/>
            <a:ext cx="1097280" cy="365760"/>
          </a:xfrm>
          <a:prstGeom prst="rect">
            <a:avLst/>
          </a:prstGeom>
          <a:noFill/>
          <a:ln/>
        </p:spPr>
        <p:txBody>
          <a:bodyPr wrap="square" lIns="0" tIns="0" rIns="0" bIns="0" rtlCol="0" anchor="b"/>
          <a:lstStyle/>
          <a:p>
            <a:pPr marL="0" indent="0" algn="ctr">
              <a:buNone/>
            </a:pPr>
            <a:r>
              <a:rPr lang="en-US" sz="2000" b="1" dirty="0">
                <a:solidFill>
                  <a:srgbClr val="AACC44"/>
                </a:solidFill>
              </a:rPr>
              <a:t>3–6×</a:t>
            </a:r>
            <a:endParaRPr lang="en-US" sz="2000" dirty="0"/>
          </a:p>
        </p:txBody>
      </p:sp>
      <p:sp>
        <p:nvSpPr>
          <p:cNvPr id="11" name="Text 8"/>
          <p:cNvSpPr txBox="1"/>
          <p:nvPr/>
        </p:nvSpPr>
        <p:spPr>
          <a:xfrm>
            <a:off x="1874520" y="5577840"/>
            <a:ext cx="1097280" cy="274320"/>
          </a:xfrm>
          <a:prstGeom prst="rect">
            <a:avLst/>
          </a:prstGeom>
          <a:noFill/>
          <a:ln/>
        </p:spPr>
        <p:txBody>
          <a:bodyPr wrap="square" lIns="0" tIns="0" rIns="0" bIns="0" rtlCol="0" anchor="t"/>
          <a:lstStyle/>
          <a:p>
            <a:pPr marL="0" indent="0" algn="ctr">
              <a:buNone/>
            </a:pPr>
            <a:r>
              <a:rPr lang="en-US" sz="1300" b="1" dirty="0">
                <a:solidFill>
                  <a:schemeClr val="tx1"/>
                </a:solidFill>
              </a:rPr>
              <a:t>Design</a:t>
            </a:r>
            <a:endParaRPr lang="en-US" sz="1300" dirty="0"/>
          </a:p>
        </p:txBody>
      </p:sp>
      <p:sp>
        <p:nvSpPr>
          <p:cNvPr id="12" name="Cost bar Code"/>
          <p:cNvSpPr/>
          <p:nvPr/>
        </p:nvSpPr>
        <p:spPr>
          <a:xfrm>
            <a:off x="3108960" y="3794760"/>
            <a:ext cx="1097280" cy="1691640"/>
          </a:xfrm>
          <a:prstGeom prst="roundRect">
            <a:avLst>
              <a:gd name="adj" fmla="val 6667"/>
            </a:avLst>
          </a:prstGeom>
          <a:solidFill>
            <a:srgbClr val="2A2A0D"/>
          </a:solidFill>
          <a:ln w="25400">
            <a:solidFill>
              <a:srgbClr val="CCCC44"/>
            </a:solidFill>
            <a:prstDash val="solid"/>
          </a:ln>
        </p:spPr>
        <p:txBody>
          <a:bodyPr/>
          <a:lstStyle/>
          <a:p>
            <a:endParaRPr lang="en-GB"/>
          </a:p>
        </p:txBody>
      </p:sp>
      <p:sp>
        <p:nvSpPr>
          <p:cNvPr id="13" name="Text 10"/>
          <p:cNvSpPr txBox="1"/>
          <p:nvPr/>
        </p:nvSpPr>
        <p:spPr>
          <a:xfrm>
            <a:off x="3108960" y="3383280"/>
            <a:ext cx="1097280" cy="365760"/>
          </a:xfrm>
          <a:prstGeom prst="rect">
            <a:avLst/>
          </a:prstGeom>
          <a:noFill/>
          <a:ln/>
        </p:spPr>
        <p:txBody>
          <a:bodyPr wrap="square" lIns="0" tIns="0" rIns="0" bIns="0" rtlCol="0" anchor="b"/>
          <a:lstStyle/>
          <a:p>
            <a:pPr marL="0" indent="0" algn="ctr">
              <a:buNone/>
            </a:pPr>
            <a:r>
              <a:rPr lang="en-US" sz="2000" b="1" dirty="0">
                <a:solidFill>
                  <a:srgbClr val="CCCC44"/>
                </a:solidFill>
              </a:rPr>
              <a:t>10–15×</a:t>
            </a:r>
            <a:endParaRPr lang="en-US" sz="2000" dirty="0"/>
          </a:p>
        </p:txBody>
      </p:sp>
      <p:sp>
        <p:nvSpPr>
          <p:cNvPr id="14" name="Text 11"/>
          <p:cNvSpPr txBox="1"/>
          <p:nvPr/>
        </p:nvSpPr>
        <p:spPr>
          <a:xfrm>
            <a:off x="3108960" y="5577840"/>
            <a:ext cx="1097280" cy="274320"/>
          </a:xfrm>
          <a:prstGeom prst="rect">
            <a:avLst/>
          </a:prstGeom>
          <a:noFill/>
          <a:ln/>
        </p:spPr>
        <p:txBody>
          <a:bodyPr wrap="square" lIns="0" tIns="0" rIns="0" bIns="0" rtlCol="0" anchor="t"/>
          <a:lstStyle/>
          <a:p>
            <a:pPr marL="0" indent="0" algn="ctr">
              <a:buNone/>
            </a:pPr>
            <a:r>
              <a:rPr lang="en-US" sz="1300" b="1" dirty="0">
                <a:solidFill>
                  <a:schemeClr val="tx1"/>
                </a:solidFill>
              </a:rPr>
              <a:t>Code</a:t>
            </a:r>
            <a:endParaRPr lang="en-US" sz="1300" dirty="0"/>
          </a:p>
        </p:txBody>
      </p:sp>
      <p:sp>
        <p:nvSpPr>
          <p:cNvPr id="15" name="Cost bar Testing"/>
          <p:cNvSpPr/>
          <p:nvPr/>
        </p:nvSpPr>
        <p:spPr>
          <a:xfrm>
            <a:off x="4343400" y="2971800"/>
            <a:ext cx="1097280" cy="2514600"/>
          </a:xfrm>
          <a:prstGeom prst="roundRect">
            <a:avLst>
              <a:gd name="adj" fmla="val 6667"/>
            </a:avLst>
          </a:prstGeom>
          <a:solidFill>
            <a:srgbClr val="3A2A0D"/>
          </a:solidFill>
          <a:ln w="25400">
            <a:solidFill>
              <a:srgbClr val="CC8844"/>
            </a:solidFill>
            <a:prstDash val="solid"/>
          </a:ln>
        </p:spPr>
        <p:txBody>
          <a:bodyPr/>
          <a:lstStyle/>
          <a:p>
            <a:endParaRPr lang="en-GB"/>
          </a:p>
        </p:txBody>
      </p:sp>
      <p:sp>
        <p:nvSpPr>
          <p:cNvPr id="16" name="Text 13"/>
          <p:cNvSpPr txBox="1"/>
          <p:nvPr/>
        </p:nvSpPr>
        <p:spPr>
          <a:xfrm>
            <a:off x="4343400" y="2560320"/>
            <a:ext cx="1097280" cy="365760"/>
          </a:xfrm>
          <a:prstGeom prst="rect">
            <a:avLst/>
          </a:prstGeom>
          <a:noFill/>
          <a:ln/>
        </p:spPr>
        <p:txBody>
          <a:bodyPr wrap="square" lIns="0" tIns="0" rIns="0" bIns="0" rtlCol="0" anchor="b"/>
          <a:lstStyle/>
          <a:p>
            <a:pPr marL="0" indent="0" algn="ctr">
              <a:buNone/>
            </a:pPr>
            <a:r>
              <a:rPr lang="en-US" sz="2000" b="1" dirty="0">
                <a:solidFill>
                  <a:srgbClr val="CC8844"/>
                </a:solidFill>
              </a:rPr>
              <a:t>30–50×</a:t>
            </a:r>
            <a:endParaRPr lang="en-US" sz="2000" dirty="0"/>
          </a:p>
        </p:txBody>
      </p:sp>
      <p:sp>
        <p:nvSpPr>
          <p:cNvPr id="17" name="Text 14"/>
          <p:cNvSpPr txBox="1"/>
          <p:nvPr/>
        </p:nvSpPr>
        <p:spPr>
          <a:xfrm>
            <a:off x="4343400" y="5577840"/>
            <a:ext cx="1097280" cy="274320"/>
          </a:xfrm>
          <a:prstGeom prst="rect">
            <a:avLst/>
          </a:prstGeom>
          <a:noFill/>
          <a:ln/>
        </p:spPr>
        <p:txBody>
          <a:bodyPr wrap="square" lIns="0" tIns="0" rIns="0" bIns="0" rtlCol="0" anchor="t"/>
          <a:lstStyle/>
          <a:p>
            <a:pPr marL="0" indent="0" algn="ctr">
              <a:buNone/>
            </a:pPr>
            <a:r>
              <a:rPr lang="en-US" sz="1300" b="1" dirty="0">
                <a:solidFill>
                  <a:schemeClr val="tx1"/>
                </a:solidFill>
              </a:rPr>
              <a:t>Testing</a:t>
            </a:r>
            <a:endParaRPr lang="en-US" sz="1300" dirty="0"/>
          </a:p>
        </p:txBody>
      </p:sp>
      <p:sp>
        <p:nvSpPr>
          <p:cNvPr id="18" name="Cost bar Release"/>
          <p:cNvSpPr/>
          <p:nvPr/>
        </p:nvSpPr>
        <p:spPr>
          <a:xfrm>
            <a:off x="5577840" y="2148840"/>
            <a:ext cx="1097280" cy="3337560"/>
          </a:xfrm>
          <a:prstGeom prst="roundRect">
            <a:avLst>
              <a:gd name="adj" fmla="val 6667"/>
            </a:avLst>
          </a:prstGeom>
          <a:solidFill>
            <a:srgbClr val="3A1A1A"/>
          </a:solidFill>
          <a:ln w="25400">
            <a:solidFill>
              <a:srgbClr val="CC4444"/>
            </a:solidFill>
            <a:prstDash val="solid"/>
          </a:ln>
        </p:spPr>
        <p:txBody>
          <a:bodyPr/>
          <a:lstStyle/>
          <a:p>
            <a:endParaRPr lang="en-GB"/>
          </a:p>
        </p:txBody>
      </p:sp>
      <p:sp>
        <p:nvSpPr>
          <p:cNvPr id="19" name="Text 16"/>
          <p:cNvSpPr txBox="1"/>
          <p:nvPr/>
        </p:nvSpPr>
        <p:spPr>
          <a:xfrm>
            <a:off x="5577840" y="1737360"/>
            <a:ext cx="1097280" cy="365760"/>
          </a:xfrm>
          <a:prstGeom prst="rect">
            <a:avLst/>
          </a:prstGeom>
          <a:noFill/>
          <a:ln/>
        </p:spPr>
        <p:txBody>
          <a:bodyPr wrap="square" lIns="0" tIns="0" rIns="0" bIns="0" rtlCol="0" anchor="b"/>
          <a:lstStyle/>
          <a:p>
            <a:pPr marL="0" indent="0" algn="ctr">
              <a:buNone/>
            </a:pPr>
            <a:r>
              <a:rPr lang="en-US" sz="2000" b="1" dirty="0">
                <a:solidFill>
                  <a:srgbClr val="CC4444"/>
                </a:solidFill>
              </a:rPr>
              <a:t>~100×</a:t>
            </a:r>
            <a:endParaRPr lang="en-US" sz="2000" dirty="0"/>
          </a:p>
        </p:txBody>
      </p:sp>
      <p:sp>
        <p:nvSpPr>
          <p:cNvPr id="20" name="Text 17"/>
          <p:cNvSpPr txBox="1"/>
          <p:nvPr/>
        </p:nvSpPr>
        <p:spPr>
          <a:xfrm>
            <a:off x="5577840" y="5577840"/>
            <a:ext cx="1097280" cy="274320"/>
          </a:xfrm>
          <a:prstGeom prst="rect">
            <a:avLst/>
          </a:prstGeom>
          <a:noFill/>
          <a:ln/>
        </p:spPr>
        <p:txBody>
          <a:bodyPr wrap="square" lIns="0" tIns="0" rIns="0" bIns="0" rtlCol="0" anchor="t"/>
          <a:lstStyle/>
          <a:p>
            <a:pPr marL="0" indent="0" algn="ctr">
              <a:buNone/>
            </a:pPr>
            <a:r>
              <a:rPr lang="en-US" sz="1300" b="1" dirty="0">
                <a:solidFill>
                  <a:schemeClr val="tx1"/>
                </a:solidFill>
              </a:rPr>
              <a:t>Release</a:t>
            </a:r>
            <a:endParaRPr lang="en-US" sz="1300" dirty="0"/>
          </a:p>
        </p:txBody>
      </p:sp>
      <p:sp>
        <p:nvSpPr>
          <p:cNvPr id="21" name="Baseline"/>
          <p:cNvSpPr/>
          <p:nvPr/>
        </p:nvSpPr>
        <p:spPr>
          <a:xfrm>
            <a:off x="640080" y="5486400"/>
            <a:ext cx="6035040" cy="0"/>
          </a:xfrm>
          <a:prstGeom prst="line">
            <a:avLst/>
          </a:prstGeom>
          <a:noFill/>
          <a:ln w="12700">
            <a:solidFill>
              <a:schemeClr val="accent2"/>
            </a:solidFill>
            <a:prstDash val="solid"/>
          </a:ln>
        </p:spPr>
        <p:txBody>
          <a:bodyPr/>
          <a:lstStyle/>
          <a:p>
            <a:endParaRPr lang="en-GB"/>
          </a:p>
        </p:txBody>
      </p:sp>
      <p:sp>
        <p:nvSpPr>
          <p:cNvPr id="22" name="Text 19"/>
          <p:cNvSpPr txBox="1"/>
          <p:nvPr/>
        </p:nvSpPr>
        <p:spPr>
          <a:xfrm>
            <a:off x="640080" y="5989320"/>
            <a:ext cx="6217920" cy="274320"/>
          </a:xfrm>
          <a:prstGeom prst="rect">
            <a:avLst/>
          </a:prstGeom>
          <a:noFill/>
          <a:ln/>
        </p:spPr>
        <p:txBody>
          <a:bodyPr wrap="square" lIns="0" tIns="0" rIns="0" bIns="0" rtlCol="0" anchor="t"/>
          <a:lstStyle/>
          <a:p>
            <a:pPr marL="0" indent="0">
              <a:buNone/>
            </a:pPr>
            <a:r>
              <a:rPr lang="en-US" sz="1200" dirty="0">
                <a:solidFill>
                  <a:schemeClr val="accent2"/>
                </a:solidFill>
              </a:rPr>
              <a:t>Phase in which the error is found  →</a:t>
            </a:r>
            <a:endParaRPr lang="en-US" sz="1200" dirty="0"/>
          </a:p>
        </p:txBody>
      </p:sp>
      <p:sp>
        <p:nvSpPr>
          <p:cNvPr id="23" name="Shelf example card"/>
          <p:cNvSpPr/>
          <p:nvPr/>
        </p:nvSpPr>
        <p:spPr>
          <a:xfrm>
            <a:off x="7315200" y="1554480"/>
            <a:ext cx="4233672" cy="2377440"/>
          </a:xfrm>
          <a:prstGeom prst="roundRect">
            <a:avLst>
              <a:gd name="adj" fmla="val 4615"/>
            </a:avLst>
          </a:prstGeom>
          <a:solidFill>
            <a:schemeClr val="bg2"/>
          </a:solidFill>
          <a:ln w="9525">
            <a:solidFill>
              <a:schemeClr val="tx2"/>
            </a:solidFill>
            <a:prstDash val="solid"/>
          </a:ln>
        </p:spPr>
        <p:txBody>
          <a:bodyPr/>
          <a:lstStyle/>
          <a:p>
            <a:endParaRPr lang="en-GB"/>
          </a:p>
        </p:txBody>
      </p:sp>
      <p:sp>
        <p:nvSpPr>
          <p:cNvPr id="24" name="Text 21"/>
          <p:cNvSpPr txBox="1"/>
          <p:nvPr/>
        </p:nvSpPr>
        <p:spPr>
          <a:xfrm>
            <a:off x="7543800" y="1755648"/>
            <a:ext cx="3776472"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SHELF EXAMPLE</a:t>
            </a:r>
            <a:endParaRPr lang="en-US" sz="1200" dirty="0"/>
          </a:p>
        </p:txBody>
      </p:sp>
      <p:sp>
        <p:nvSpPr>
          <p:cNvPr id="25" name="Text 22"/>
          <p:cNvSpPr txBox="1"/>
          <p:nvPr/>
        </p:nvSpPr>
        <p:spPr>
          <a:xfrm>
            <a:off x="7543800" y="2103120"/>
            <a:ext cx="3776472" cy="1737360"/>
          </a:xfrm>
          <a:prstGeom prst="rect">
            <a:avLst/>
          </a:prstGeom>
          <a:noFill/>
          <a:ln/>
        </p:spPr>
        <p:txBody>
          <a:bodyPr wrap="square" lIns="0" tIns="0" rIns="0" bIns="0" rtlCol="0" anchor="t"/>
          <a:lstStyle/>
          <a:p>
            <a:pPr marL="0" indent="0">
              <a:buNone/>
            </a:pPr>
            <a:r>
              <a:rPr lang="en-US" sz="1600" dirty="0">
                <a:solidFill>
                  <a:schemeClr val="tx1"/>
                </a:solidFill>
              </a:rPr>
              <a:t>Building 6 bookstore API integrations for “all prices” when users only want “cheapest local offer” → post-launch rewrite, renegotiated contracts, lost trust. </a:t>
            </a:r>
            <a:r>
              <a:rPr lang="en-US" sz="1600" b="1" dirty="0">
                <a:solidFill>
                  <a:schemeClr val="accent1"/>
                </a:solidFill>
              </a:rPr>
              <a:t>On paper: a sticky note.</a:t>
            </a:r>
            <a:endParaRPr lang="en-US" sz="1600" dirty="0"/>
          </a:p>
        </p:txBody>
      </p:sp>
      <p:sp>
        <p:nvSpPr>
          <p:cNvPr id="26" name="Text 23"/>
          <p:cNvSpPr txBox="1"/>
          <p:nvPr/>
        </p:nvSpPr>
        <p:spPr>
          <a:xfrm>
            <a:off x="7315200" y="4160520"/>
            <a:ext cx="4233672" cy="822960"/>
          </a:xfrm>
          <a:prstGeom prst="rect">
            <a:avLst/>
          </a:prstGeom>
          <a:noFill/>
          <a:ln/>
        </p:spPr>
        <p:txBody>
          <a:bodyPr wrap="square" lIns="0" tIns="0" rIns="0" bIns="0" rtlCol="0" anchor="t"/>
          <a:lstStyle/>
          <a:p>
            <a:pPr marL="0" indent="0">
              <a:buNone/>
            </a:pPr>
            <a:r>
              <a:rPr lang="en-US" sz="1400" i="1" dirty="0">
                <a:solidFill>
                  <a:schemeClr val="accent2"/>
                </a:solidFill>
              </a:rPr>
              <a:t>Exact multipliers are debated (Boehm, NASA, McConnell); the exponential trend is not.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01 · WHY USER-CENTRED DESIGN?</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Usability: ISO 9241-11</a:t>
            </a:r>
            <a:endParaRPr lang="en-US" sz="3200" dirty="0"/>
          </a:p>
        </p:txBody>
      </p:sp>
      <p:sp>
        <p:nvSpPr>
          <p:cNvPr id="5" name="Text 2"/>
          <p:cNvSpPr txBox="1"/>
          <p:nvPr/>
        </p:nvSpPr>
        <p:spPr>
          <a:xfrm>
            <a:off x="640080" y="1508760"/>
            <a:ext cx="10908792" cy="685800"/>
          </a:xfrm>
          <a:prstGeom prst="rect">
            <a:avLst/>
          </a:prstGeom>
          <a:noFill/>
          <a:ln/>
        </p:spPr>
        <p:txBody>
          <a:bodyPr wrap="square" lIns="0" tIns="0" rIns="0" bIns="0" rtlCol="0" anchor="t"/>
          <a:lstStyle/>
          <a:p>
            <a:pPr marL="0" indent="0">
              <a:buNone/>
            </a:pPr>
            <a:r>
              <a:rPr lang="en-US" sz="1600" i="1" dirty="0">
                <a:solidFill>
                  <a:schemeClr val="accent2"/>
                </a:solidFill>
              </a:rPr>
              <a:t>“The extent to which a product can be used by specified users to achieve specified goals with </a:t>
            </a:r>
            <a:r>
              <a:rPr lang="en-US" sz="1600" b="1" i="1" dirty="0">
                <a:solidFill>
                  <a:schemeClr val="accent2"/>
                </a:solidFill>
              </a:rPr>
              <a:t>effectiveness</a:t>
            </a:r>
            <a:r>
              <a:rPr lang="en-US" sz="1600" i="1" dirty="0">
                <a:solidFill>
                  <a:schemeClr val="accent2"/>
                </a:solidFill>
              </a:rPr>
              <a:t>, </a:t>
            </a:r>
            <a:r>
              <a:rPr lang="en-US" sz="1600" b="1" i="1" dirty="0">
                <a:solidFill>
                  <a:schemeClr val="accent2"/>
                </a:solidFill>
              </a:rPr>
              <a:t>efficiency</a:t>
            </a:r>
            <a:r>
              <a:rPr lang="en-US" sz="1600" i="1" dirty="0">
                <a:solidFill>
                  <a:schemeClr val="accent2"/>
                </a:solidFill>
              </a:rPr>
              <a:t>, and </a:t>
            </a:r>
            <a:r>
              <a:rPr lang="en-US" sz="1600" b="1" i="1" dirty="0">
                <a:solidFill>
                  <a:schemeClr val="accent2"/>
                </a:solidFill>
              </a:rPr>
              <a:t>satisfaction</a:t>
            </a:r>
            <a:r>
              <a:rPr lang="en-US" sz="1600" i="1" dirty="0">
                <a:solidFill>
                  <a:schemeClr val="accent2"/>
                </a:solidFill>
              </a:rPr>
              <a:t> in a </a:t>
            </a:r>
            <a:r>
              <a:rPr lang="en-US" sz="1600" b="1" i="1" dirty="0">
                <a:solidFill>
                  <a:schemeClr val="accent2"/>
                </a:solidFill>
              </a:rPr>
              <a:t>specified context of use</a:t>
            </a:r>
            <a:r>
              <a:rPr lang="en-US" sz="1600" i="1" dirty="0">
                <a:solidFill>
                  <a:schemeClr val="accent2"/>
                </a:solidFill>
              </a:rPr>
              <a:t>.”</a:t>
            </a:r>
            <a:endParaRPr lang="en-US" sz="16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640080" y="2377440"/>
          <a:ext cx="10908792" cy="3749040"/>
        </p:xfrm>
        <a:graphic>
          <a:graphicData uri="http://schemas.openxmlformats.org/drawingml/2006/table">
            <a:tbl>
              <a:tblPr/>
              <a:tblGrid>
                <a:gridCol w="21945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457200">
                <a:tc>
                  <a:txBody>
                    <a:bodyPr/>
                    <a:lstStyle/>
                    <a:p>
                      <a:pPr marL="0" indent="0" algn="l">
                        <a:buNone/>
                      </a:pPr>
                      <a:r>
                        <a:rPr lang="en-US" sz="1600" b="1" dirty="0">
                          <a:solidFill>
                            <a:srgbClr val="0D0D0D"/>
                          </a:solidFill>
                        </a:rPr>
                        <a:t>Dimension</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l">
                        <a:buNone/>
                      </a:pPr>
                      <a:r>
                        <a:rPr lang="en-US" sz="1600" b="1" dirty="0">
                          <a:solidFill>
                            <a:srgbClr val="0D0D0D"/>
                          </a:solidFill>
                        </a:rPr>
                        <a:t>Definition</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l">
                        <a:buNone/>
                      </a:pPr>
                      <a:r>
                        <a:rPr lang="en-US" sz="1600" b="1" dirty="0">
                          <a:solidFill>
                            <a:srgbClr val="0D0D0D"/>
                          </a:solidFill>
                        </a:rPr>
                        <a:t>Shelf Example</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extLst>
                  <a:ext uri="{0D108BD9-81ED-4DB2-BD59-A6C34878D82A}">
                    <a16:rowId xmlns:a16="http://schemas.microsoft.com/office/drawing/2014/main" val="10000"/>
                  </a:ext>
                </a:extLst>
              </a:tr>
              <a:tr h="822960">
                <a:tc>
                  <a:txBody>
                    <a:bodyPr/>
                    <a:lstStyle/>
                    <a:p>
                      <a:pPr marL="0" indent="0" algn="l">
                        <a:buNone/>
                      </a:pPr>
                      <a:r>
                        <a:rPr lang="en-US" sz="1600" b="1" dirty="0">
                          <a:solidFill>
                            <a:srgbClr val="F5F0E8"/>
                          </a:solidFill>
                        </a:rPr>
                        <a:t>Effectiveness</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600" dirty="0">
                          <a:solidFill>
                            <a:srgbClr val="F5F0E8"/>
                          </a:solidFill>
                        </a:rPr>
                        <a:t>Can users complete the goal accurately?</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600" dirty="0">
                          <a:solidFill>
                            <a:srgbClr val="F5F0E8"/>
                          </a:solidFill>
                        </a:rPr>
                        <a:t>Reader finds a book and sees the cheapest local offer</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1"/>
                  </a:ext>
                </a:extLst>
              </a:tr>
              <a:tr h="822960">
                <a:tc>
                  <a:txBody>
                    <a:bodyPr/>
                    <a:lstStyle/>
                    <a:p>
                      <a:pPr marL="0" indent="0" algn="l">
                        <a:buNone/>
                      </a:pPr>
                      <a:r>
                        <a:rPr lang="en-US" sz="1600" b="1" dirty="0">
                          <a:solidFill>
                            <a:srgbClr val="F5F0E8"/>
                          </a:solidFill>
                        </a:rPr>
                        <a:t>Efficiency</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600" dirty="0">
                          <a:solidFill>
                            <a:srgbClr val="F5F0E8"/>
                          </a:solidFill>
                        </a:rPr>
                        <a:t>How much effort, time, taps?</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600" dirty="0">
                          <a:solidFill>
                            <a:srgbClr val="F5F0E8"/>
                          </a:solidFill>
                        </a:rPr>
                        <a:t>Result in ≤3 taps; progress logged without typing</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extLst>
                  <a:ext uri="{0D108BD9-81ED-4DB2-BD59-A6C34878D82A}">
                    <a16:rowId xmlns:a16="http://schemas.microsoft.com/office/drawing/2014/main" val="10002"/>
                  </a:ext>
                </a:extLst>
              </a:tr>
              <a:tr h="822960">
                <a:tc>
                  <a:txBody>
                    <a:bodyPr/>
                    <a:lstStyle/>
                    <a:p>
                      <a:pPr marL="0" indent="0" algn="l">
                        <a:buNone/>
                      </a:pPr>
                      <a:r>
                        <a:rPr lang="en-US" sz="1600" b="1" dirty="0">
                          <a:solidFill>
                            <a:srgbClr val="F5F0E8"/>
                          </a:solidFill>
                        </a:rPr>
                        <a:t>Satisfaction</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600" dirty="0">
                          <a:solidFill>
                            <a:srgbClr val="F5F0E8"/>
                          </a:solidFill>
                        </a:rPr>
                        <a:t>Does it feel comfortable and trustworthy?</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600" dirty="0">
                          <a:solidFill>
                            <a:srgbClr val="F5F0E8"/>
                          </a:solidFill>
                        </a:rPr>
                        <a:t>Honest drop warnings, no pushy recommendations</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3"/>
                  </a:ext>
                </a:extLst>
              </a:tr>
              <a:tr h="822960">
                <a:tc>
                  <a:txBody>
                    <a:bodyPr/>
                    <a:lstStyle/>
                    <a:p>
                      <a:pPr marL="0" indent="0" algn="l">
                        <a:buNone/>
                      </a:pPr>
                      <a:r>
                        <a:rPr lang="en-US" sz="1600" b="1" dirty="0">
                          <a:solidFill>
                            <a:srgbClr val="F5F0E8"/>
                          </a:solidFill>
                        </a:rPr>
                        <a:t>Context of Use</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600" dirty="0">
                          <a:solidFill>
                            <a:srgbClr val="F5F0E8"/>
                          </a:solidFill>
                        </a:rPr>
                        <a:t>Who, what, where, on what?</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600" dirty="0">
                          <a:solidFill>
                            <a:srgbClr val="F5F0E8"/>
                          </a:solidFill>
                        </a:rPr>
                        <a:t>Readers; comparing/tracking; commute/bed/bookstore; phone</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01 · WHY USER-CENTRED DESIGN?</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Where UX Work Sits in the SDLC</a:t>
            </a:r>
            <a:endParaRPr lang="en-US" sz="3200" dirty="0"/>
          </a:p>
        </p:txBody>
      </p:sp>
      <p:sp>
        <p:nvSpPr>
          <p:cNvPr id="5" name="Phase 1"/>
          <p:cNvSpPr/>
          <p:nvPr/>
        </p:nvSpPr>
        <p:spPr>
          <a:xfrm>
            <a:off x="640080" y="1600200"/>
            <a:ext cx="2148840" cy="777240"/>
          </a:xfrm>
          <a:prstGeom prst="homePlate">
            <a:avLst/>
          </a:prstGeom>
          <a:solidFill>
            <a:schemeClr val="accent1"/>
          </a:solidFill>
          <a:ln/>
        </p:spPr>
        <p:txBody>
          <a:bodyPr/>
          <a:lstStyle/>
          <a:p>
            <a:endParaRPr lang="en-GB"/>
          </a:p>
        </p:txBody>
      </p:sp>
      <p:sp>
        <p:nvSpPr>
          <p:cNvPr id="6" name="Text 3"/>
          <p:cNvSpPr txBox="1"/>
          <p:nvPr/>
        </p:nvSpPr>
        <p:spPr>
          <a:xfrm>
            <a:off x="777240" y="1600200"/>
            <a:ext cx="1783080" cy="777240"/>
          </a:xfrm>
          <a:prstGeom prst="rect">
            <a:avLst/>
          </a:prstGeom>
          <a:noFill/>
          <a:ln/>
        </p:spPr>
        <p:txBody>
          <a:bodyPr wrap="square" lIns="0" tIns="0" rIns="0" bIns="0" rtlCol="0" anchor="ctr"/>
          <a:lstStyle/>
          <a:p>
            <a:pPr marL="0" indent="0">
              <a:buNone/>
            </a:pPr>
            <a:r>
              <a:rPr lang="en-US" sz="1400" b="1" dirty="0">
                <a:solidFill>
                  <a:schemeClr val="bg1"/>
                </a:solidFill>
              </a:rPr>
              <a:t>Research &amp; Requirements</a:t>
            </a:r>
            <a:endParaRPr lang="en-US" sz="1400" dirty="0"/>
          </a:p>
        </p:txBody>
      </p:sp>
      <p:sp>
        <p:nvSpPr>
          <p:cNvPr id="7" name="Activities 1"/>
          <p:cNvSpPr/>
          <p:nvPr/>
        </p:nvSpPr>
        <p:spPr>
          <a:xfrm>
            <a:off x="640080" y="2560320"/>
            <a:ext cx="2057400" cy="2651760"/>
          </a:xfrm>
          <a:prstGeom prst="roundRect">
            <a:avLst>
              <a:gd name="adj" fmla="val 5333"/>
            </a:avLst>
          </a:prstGeom>
          <a:solidFill>
            <a:schemeClr val="bg2"/>
          </a:solidFill>
          <a:ln w="9525">
            <a:solidFill>
              <a:schemeClr val="tx2"/>
            </a:solidFill>
            <a:prstDash val="solid"/>
          </a:ln>
        </p:spPr>
        <p:txBody>
          <a:bodyPr/>
          <a:lstStyle/>
          <a:p>
            <a:endParaRPr lang="en-GB"/>
          </a:p>
        </p:txBody>
      </p:sp>
      <p:sp>
        <p:nvSpPr>
          <p:cNvPr id="8" name="Text 5"/>
          <p:cNvSpPr txBox="1"/>
          <p:nvPr/>
        </p:nvSpPr>
        <p:spPr>
          <a:xfrm>
            <a:off x="822960" y="2697480"/>
            <a:ext cx="1691640" cy="23774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User interviews &amp; surveys</a:t>
            </a:r>
            <a:endParaRPr lang="en-US" sz="1400" dirty="0"/>
          </a:p>
          <a:p>
            <a:pPr marL="228600" indent="-228600">
              <a:spcAft>
                <a:spcPts val="800"/>
              </a:spcAft>
              <a:buSzPct val="100000"/>
              <a:buChar char="•"/>
            </a:pPr>
            <a:r>
              <a:rPr lang="en-US" sz="1400" dirty="0">
                <a:solidFill>
                  <a:schemeClr val="tx1"/>
                </a:solidFill>
              </a:rPr>
              <a:t>Stakeholder map</a:t>
            </a:r>
            <a:endParaRPr lang="en-US" sz="1400" dirty="0"/>
          </a:p>
          <a:p>
            <a:pPr marL="228600" indent="-228600">
              <a:spcAft>
                <a:spcPts val="800"/>
              </a:spcAft>
              <a:buSzPct val="100000"/>
              <a:buChar char="•"/>
            </a:pPr>
            <a:r>
              <a:rPr lang="en-US" sz="1400" dirty="0">
                <a:solidFill>
                  <a:schemeClr val="tx1"/>
                </a:solidFill>
              </a:rPr>
              <a:t>Personas</a:t>
            </a:r>
            <a:endParaRPr lang="en-US" sz="1400" dirty="0"/>
          </a:p>
          <a:p>
            <a:pPr marL="228600" indent="-228600">
              <a:spcAft>
                <a:spcPts val="800"/>
              </a:spcAft>
              <a:buSzPct val="100000"/>
              <a:buChar char="•"/>
            </a:pPr>
            <a:r>
              <a:rPr lang="en-US" sz="1400" dirty="0">
                <a:solidFill>
                  <a:schemeClr val="tx1"/>
                </a:solidFill>
              </a:rPr>
              <a:t>Problem statement</a:t>
            </a:r>
            <a:endParaRPr lang="en-US" sz="1400" dirty="0"/>
          </a:p>
        </p:txBody>
      </p:sp>
      <p:sp>
        <p:nvSpPr>
          <p:cNvPr id="9" name="Phase 2"/>
          <p:cNvSpPr/>
          <p:nvPr/>
        </p:nvSpPr>
        <p:spPr>
          <a:xfrm>
            <a:off x="2852928" y="1600200"/>
            <a:ext cx="2148840" cy="777240"/>
          </a:xfrm>
          <a:prstGeom prst="homePlate">
            <a:avLst/>
          </a:prstGeom>
          <a:solidFill>
            <a:schemeClr val="accent1"/>
          </a:solidFill>
          <a:ln/>
        </p:spPr>
        <p:txBody>
          <a:bodyPr/>
          <a:lstStyle/>
          <a:p>
            <a:endParaRPr lang="en-GB"/>
          </a:p>
        </p:txBody>
      </p:sp>
      <p:sp>
        <p:nvSpPr>
          <p:cNvPr id="10" name="Text 7"/>
          <p:cNvSpPr txBox="1"/>
          <p:nvPr/>
        </p:nvSpPr>
        <p:spPr>
          <a:xfrm>
            <a:off x="2990088" y="1600200"/>
            <a:ext cx="1783080" cy="777240"/>
          </a:xfrm>
          <a:prstGeom prst="rect">
            <a:avLst/>
          </a:prstGeom>
          <a:noFill/>
          <a:ln/>
        </p:spPr>
        <p:txBody>
          <a:bodyPr wrap="square" lIns="0" tIns="0" rIns="0" bIns="0" rtlCol="0" anchor="ctr"/>
          <a:lstStyle/>
          <a:p>
            <a:pPr marL="0" indent="0">
              <a:buNone/>
            </a:pPr>
            <a:r>
              <a:rPr lang="en-US" sz="1400" b="1" dirty="0">
                <a:solidFill>
                  <a:schemeClr val="bg1"/>
                </a:solidFill>
              </a:rPr>
              <a:t>Design &amp; Prototype</a:t>
            </a:r>
            <a:endParaRPr lang="en-US" sz="1400" dirty="0"/>
          </a:p>
        </p:txBody>
      </p:sp>
      <p:sp>
        <p:nvSpPr>
          <p:cNvPr id="11" name="Activities 2"/>
          <p:cNvSpPr/>
          <p:nvPr/>
        </p:nvSpPr>
        <p:spPr>
          <a:xfrm>
            <a:off x="2852928" y="2560320"/>
            <a:ext cx="2057400" cy="2651760"/>
          </a:xfrm>
          <a:prstGeom prst="roundRect">
            <a:avLst>
              <a:gd name="adj" fmla="val 5333"/>
            </a:avLst>
          </a:prstGeom>
          <a:solidFill>
            <a:schemeClr val="bg2"/>
          </a:solidFill>
          <a:ln w="9525">
            <a:solidFill>
              <a:schemeClr val="tx2"/>
            </a:solidFill>
            <a:prstDash val="solid"/>
          </a:ln>
        </p:spPr>
        <p:txBody>
          <a:bodyPr/>
          <a:lstStyle/>
          <a:p>
            <a:endParaRPr lang="en-GB"/>
          </a:p>
        </p:txBody>
      </p:sp>
      <p:sp>
        <p:nvSpPr>
          <p:cNvPr id="12" name="Text 9"/>
          <p:cNvSpPr txBox="1"/>
          <p:nvPr/>
        </p:nvSpPr>
        <p:spPr>
          <a:xfrm>
            <a:off x="3035808" y="2697480"/>
            <a:ext cx="1691640" cy="23774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User flows</a:t>
            </a:r>
            <a:endParaRPr lang="en-US" sz="1400" dirty="0"/>
          </a:p>
          <a:p>
            <a:pPr marL="228600" indent="-228600">
              <a:spcAft>
                <a:spcPts val="800"/>
              </a:spcAft>
              <a:buSzPct val="100000"/>
              <a:buChar char="•"/>
            </a:pPr>
            <a:r>
              <a:rPr lang="en-US" sz="1400" dirty="0">
                <a:solidFill>
                  <a:schemeClr val="tx1"/>
                </a:solidFill>
              </a:rPr>
              <a:t>Lo-fi wireframes</a:t>
            </a:r>
            <a:endParaRPr lang="en-US" sz="1400" dirty="0"/>
          </a:p>
          <a:p>
            <a:pPr marL="228600" indent="-228600">
              <a:spcAft>
                <a:spcPts val="800"/>
              </a:spcAft>
              <a:buSzPct val="100000"/>
              <a:buChar char="•"/>
            </a:pPr>
            <a:r>
              <a:rPr lang="en-US" sz="1400" dirty="0">
                <a:solidFill>
                  <a:schemeClr val="tx1"/>
                </a:solidFill>
              </a:rPr>
              <a:t>Heuristic evaluation</a:t>
            </a:r>
            <a:endParaRPr lang="en-US" sz="1400" dirty="0"/>
          </a:p>
          <a:p>
            <a:pPr marL="228600" indent="-228600">
              <a:spcAft>
                <a:spcPts val="800"/>
              </a:spcAft>
              <a:buSzPct val="100000"/>
              <a:buChar char="•"/>
            </a:pPr>
            <a:r>
              <a:rPr lang="en-US" sz="1400" dirty="0">
                <a:solidFill>
                  <a:schemeClr val="tx1"/>
                </a:solidFill>
              </a:rPr>
              <a:t>Prototype testing</a:t>
            </a:r>
            <a:endParaRPr lang="en-US" sz="1400" dirty="0"/>
          </a:p>
        </p:txBody>
      </p:sp>
      <p:sp>
        <p:nvSpPr>
          <p:cNvPr id="13" name="Phase 3"/>
          <p:cNvSpPr/>
          <p:nvPr/>
        </p:nvSpPr>
        <p:spPr>
          <a:xfrm>
            <a:off x="5065776" y="1600200"/>
            <a:ext cx="2148840" cy="777240"/>
          </a:xfrm>
          <a:prstGeom prst="homePlate">
            <a:avLst/>
          </a:prstGeom>
          <a:solidFill>
            <a:schemeClr val="accent1"/>
          </a:solidFill>
          <a:ln/>
        </p:spPr>
        <p:txBody>
          <a:bodyPr/>
          <a:lstStyle/>
          <a:p>
            <a:endParaRPr lang="en-GB"/>
          </a:p>
        </p:txBody>
      </p:sp>
      <p:sp>
        <p:nvSpPr>
          <p:cNvPr id="14" name="Text 11"/>
          <p:cNvSpPr txBox="1"/>
          <p:nvPr/>
        </p:nvSpPr>
        <p:spPr>
          <a:xfrm>
            <a:off x="5202936" y="1600200"/>
            <a:ext cx="1783080" cy="777240"/>
          </a:xfrm>
          <a:prstGeom prst="rect">
            <a:avLst/>
          </a:prstGeom>
          <a:noFill/>
          <a:ln/>
        </p:spPr>
        <p:txBody>
          <a:bodyPr wrap="square" lIns="0" tIns="0" rIns="0" bIns="0" rtlCol="0" anchor="ctr"/>
          <a:lstStyle/>
          <a:p>
            <a:pPr marL="0" indent="0">
              <a:buNone/>
            </a:pPr>
            <a:r>
              <a:rPr lang="en-US" sz="1400" b="1" dirty="0">
                <a:solidFill>
                  <a:schemeClr val="bg1"/>
                </a:solidFill>
              </a:rPr>
              <a:t>Implementation</a:t>
            </a:r>
            <a:endParaRPr lang="en-US" sz="1400" dirty="0"/>
          </a:p>
        </p:txBody>
      </p:sp>
      <p:sp>
        <p:nvSpPr>
          <p:cNvPr id="15" name="Activities 3"/>
          <p:cNvSpPr/>
          <p:nvPr/>
        </p:nvSpPr>
        <p:spPr>
          <a:xfrm>
            <a:off x="5065776" y="2560320"/>
            <a:ext cx="2057400" cy="2651760"/>
          </a:xfrm>
          <a:prstGeom prst="roundRect">
            <a:avLst>
              <a:gd name="adj" fmla="val 5333"/>
            </a:avLst>
          </a:prstGeom>
          <a:solidFill>
            <a:schemeClr val="bg2"/>
          </a:solidFill>
          <a:ln w="9525">
            <a:solidFill>
              <a:schemeClr val="tx2"/>
            </a:solidFill>
            <a:prstDash val="solid"/>
          </a:ln>
        </p:spPr>
        <p:txBody>
          <a:bodyPr/>
          <a:lstStyle/>
          <a:p>
            <a:endParaRPr lang="en-GB"/>
          </a:p>
        </p:txBody>
      </p:sp>
      <p:sp>
        <p:nvSpPr>
          <p:cNvPr id="16" name="Text 13"/>
          <p:cNvSpPr txBox="1"/>
          <p:nvPr/>
        </p:nvSpPr>
        <p:spPr>
          <a:xfrm>
            <a:off x="5248656" y="2697480"/>
            <a:ext cx="1691640" cy="23774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Design handoff</a:t>
            </a:r>
            <a:endParaRPr lang="en-US" sz="1400" dirty="0"/>
          </a:p>
          <a:p>
            <a:pPr marL="228600" indent="-228600">
              <a:spcAft>
                <a:spcPts val="800"/>
              </a:spcAft>
              <a:buSzPct val="100000"/>
              <a:buChar char="•"/>
            </a:pPr>
            <a:r>
              <a:rPr lang="en-US" sz="1400" dirty="0">
                <a:solidFill>
                  <a:schemeClr val="tx1"/>
                </a:solidFill>
              </a:rPr>
              <a:t>Accessibility annotations</a:t>
            </a:r>
            <a:endParaRPr lang="en-US" sz="1400" dirty="0"/>
          </a:p>
          <a:p>
            <a:pPr marL="228600" indent="-228600">
              <a:spcAft>
                <a:spcPts val="800"/>
              </a:spcAft>
              <a:buSzPct val="100000"/>
              <a:buChar char="•"/>
            </a:pPr>
            <a:r>
              <a:rPr lang="en-US" sz="1400" dirty="0">
                <a:solidFill>
                  <a:schemeClr val="tx1"/>
                </a:solidFill>
              </a:rPr>
              <a:t>Developer Q&amp;A</a:t>
            </a:r>
            <a:endParaRPr lang="en-US" sz="1400" dirty="0"/>
          </a:p>
        </p:txBody>
      </p:sp>
      <p:sp>
        <p:nvSpPr>
          <p:cNvPr id="17" name="Phase 4"/>
          <p:cNvSpPr/>
          <p:nvPr/>
        </p:nvSpPr>
        <p:spPr>
          <a:xfrm>
            <a:off x="7278624" y="1600200"/>
            <a:ext cx="2148840" cy="777240"/>
          </a:xfrm>
          <a:prstGeom prst="homePlate">
            <a:avLst/>
          </a:prstGeom>
          <a:solidFill>
            <a:schemeClr val="accent1"/>
          </a:solidFill>
          <a:ln/>
        </p:spPr>
        <p:txBody>
          <a:bodyPr/>
          <a:lstStyle/>
          <a:p>
            <a:endParaRPr lang="en-GB"/>
          </a:p>
        </p:txBody>
      </p:sp>
      <p:sp>
        <p:nvSpPr>
          <p:cNvPr id="18" name="Text 15"/>
          <p:cNvSpPr txBox="1"/>
          <p:nvPr/>
        </p:nvSpPr>
        <p:spPr>
          <a:xfrm>
            <a:off x="7415784" y="1600200"/>
            <a:ext cx="1783080" cy="777240"/>
          </a:xfrm>
          <a:prstGeom prst="rect">
            <a:avLst/>
          </a:prstGeom>
          <a:noFill/>
          <a:ln/>
        </p:spPr>
        <p:txBody>
          <a:bodyPr wrap="square" lIns="0" tIns="0" rIns="0" bIns="0" rtlCol="0" anchor="ctr"/>
          <a:lstStyle/>
          <a:p>
            <a:pPr marL="0" indent="0">
              <a:buNone/>
            </a:pPr>
            <a:r>
              <a:rPr lang="en-US" sz="1400" b="1" dirty="0">
                <a:solidFill>
                  <a:schemeClr val="bg1"/>
                </a:solidFill>
              </a:rPr>
              <a:t>Test &amp; Evaluate</a:t>
            </a:r>
            <a:endParaRPr lang="en-US" sz="1400" dirty="0"/>
          </a:p>
        </p:txBody>
      </p:sp>
      <p:sp>
        <p:nvSpPr>
          <p:cNvPr id="19" name="Activities 4"/>
          <p:cNvSpPr/>
          <p:nvPr/>
        </p:nvSpPr>
        <p:spPr>
          <a:xfrm>
            <a:off x="7278624" y="2560320"/>
            <a:ext cx="2057400" cy="2651760"/>
          </a:xfrm>
          <a:prstGeom prst="roundRect">
            <a:avLst>
              <a:gd name="adj" fmla="val 5333"/>
            </a:avLst>
          </a:prstGeom>
          <a:solidFill>
            <a:schemeClr val="bg2"/>
          </a:solidFill>
          <a:ln w="9525">
            <a:solidFill>
              <a:schemeClr val="tx2"/>
            </a:solidFill>
            <a:prstDash val="solid"/>
          </a:ln>
        </p:spPr>
        <p:txBody>
          <a:bodyPr/>
          <a:lstStyle/>
          <a:p>
            <a:endParaRPr lang="en-GB"/>
          </a:p>
        </p:txBody>
      </p:sp>
      <p:sp>
        <p:nvSpPr>
          <p:cNvPr id="20" name="Text 17"/>
          <p:cNvSpPr txBox="1"/>
          <p:nvPr/>
        </p:nvSpPr>
        <p:spPr>
          <a:xfrm>
            <a:off x="7461504" y="2697480"/>
            <a:ext cx="1691640" cy="23774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Usability testing with real tasks (not “does it crash?”)</a:t>
            </a:r>
            <a:endParaRPr lang="en-US" sz="1400" dirty="0"/>
          </a:p>
          <a:p>
            <a:pPr marL="228600" indent="-228600">
              <a:spcAft>
                <a:spcPts val="800"/>
              </a:spcAft>
              <a:buSzPct val="100000"/>
              <a:buChar char="•"/>
            </a:pPr>
            <a:r>
              <a:rPr lang="en-US" sz="1400" dirty="0">
                <a:solidFill>
                  <a:schemeClr val="tx1"/>
                </a:solidFill>
              </a:rPr>
              <a:t>Analytics review</a:t>
            </a:r>
            <a:endParaRPr lang="en-US" sz="1400" dirty="0"/>
          </a:p>
        </p:txBody>
      </p:sp>
      <p:sp>
        <p:nvSpPr>
          <p:cNvPr id="21" name="Phase 5"/>
          <p:cNvSpPr/>
          <p:nvPr/>
        </p:nvSpPr>
        <p:spPr>
          <a:xfrm>
            <a:off x="9491472" y="1600200"/>
            <a:ext cx="2148840" cy="777240"/>
          </a:xfrm>
          <a:prstGeom prst="homePlate">
            <a:avLst/>
          </a:prstGeom>
          <a:solidFill>
            <a:schemeClr val="accent1"/>
          </a:solidFill>
          <a:ln/>
        </p:spPr>
        <p:txBody>
          <a:bodyPr/>
          <a:lstStyle/>
          <a:p>
            <a:endParaRPr lang="en-GB"/>
          </a:p>
        </p:txBody>
      </p:sp>
      <p:sp>
        <p:nvSpPr>
          <p:cNvPr id="22" name="Text 19"/>
          <p:cNvSpPr txBox="1"/>
          <p:nvPr/>
        </p:nvSpPr>
        <p:spPr>
          <a:xfrm>
            <a:off x="9628632" y="1600200"/>
            <a:ext cx="1783080" cy="777240"/>
          </a:xfrm>
          <a:prstGeom prst="rect">
            <a:avLst/>
          </a:prstGeom>
          <a:noFill/>
          <a:ln/>
        </p:spPr>
        <p:txBody>
          <a:bodyPr wrap="square" lIns="0" tIns="0" rIns="0" bIns="0" rtlCol="0" anchor="ctr"/>
          <a:lstStyle/>
          <a:p>
            <a:pPr marL="0" indent="0">
              <a:buNone/>
            </a:pPr>
            <a:r>
              <a:rPr lang="en-US" sz="1400" b="1" dirty="0">
                <a:solidFill>
                  <a:schemeClr val="bg1"/>
                </a:solidFill>
              </a:rPr>
              <a:t>Release &amp; Feedback</a:t>
            </a:r>
            <a:endParaRPr lang="en-US" sz="1400" dirty="0"/>
          </a:p>
        </p:txBody>
      </p:sp>
      <p:sp>
        <p:nvSpPr>
          <p:cNvPr id="23" name="Activities 5"/>
          <p:cNvSpPr/>
          <p:nvPr/>
        </p:nvSpPr>
        <p:spPr>
          <a:xfrm>
            <a:off x="9491472" y="2560320"/>
            <a:ext cx="2057400" cy="2651760"/>
          </a:xfrm>
          <a:prstGeom prst="roundRect">
            <a:avLst>
              <a:gd name="adj" fmla="val 5333"/>
            </a:avLst>
          </a:prstGeom>
          <a:solidFill>
            <a:schemeClr val="bg2"/>
          </a:solidFill>
          <a:ln w="9525">
            <a:solidFill>
              <a:schemeClr val="tx2"/>
            </a:solidFill>
            <a:prstDash val="solid"/>
          </a:ln>
        </p:spPr>
        <p:txBody>
          <a:bodyPr/>
          <a:lstStyle/>
          <a:p>
            <a:endParaRPr lang="en-GB"/>
          </a:p>
        </p:txBody>
      </p:sp>
      <p:sp>
        <p:nvSpPr>
          <p:cNvPr id="24" name="Text 21"/>
          <p:cNvSpPr txBox="1"/>
          <p:nvPr/>
        </p:nvSpPr>
        <p:spPr>
          <a:xfrm>
            <a:off x="9674352" y="2697480"/>
            <a:ext cx="1691640" cy="23774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App store reviews</a:t>
            </a:r>
            <a:endParaRPr lang="en-US" sz="1400" dirty="0"/>
          </a:p>
          <a:p>
            <a:pPr marL="228600" indent="-228600">
              <a:spcAft>
                <a:spcPts val="800"/>
              </a:spcAft>
              <a:buSzPct val="100000"/>
              <a:buChar char="•"/>
            </a:pPr>
            <a:r>
              <a:rPr lang="en-US" sz="1400" dirty="0">
                <a:solidFill>
                  <a:schemeClr val="tx1"/>
                </a:solidFill>
              </a:rPr>
              <a:t>Support tickets</a:t>
            </a:r>
            <a:endParaRPr lang="en-US" sz="1400" dirty="0"/>
          </a:p>
          <a:p>
            <a:pPr marL="228600" indent="-228600">
              <a:spcAft>
                <a:spcPts val="800"/>
              </a:spcAft>
              <a:buSzPct val="100000"/>
              <a:buChar char="•"/>
            </a:pPr>
            <a:r>
              <a:rPr lang="en-US" sz="1400" dirty="0">
                <a:solidFill>
                  <a:schemeClr val="tx1"/>
                </a:solidFill>
              </a:rPr>
              <a:t>Usage analytics → next iteration</a:t>
            </a:r>
            <a:endParaRPr lang="en-US" sz="1400" dirty="0"/>
          </a:p>
        </p:txBody>
      </p:sp>
      <p:sp>
        <p:nvSpPr>
          <p:cNvPr id="25" name="Key message"/>
          <p:cNvSpPr/>
          <p:nvPr/>
        </p:nvSpPr>
        <p:spPr>
          <a:xfrm>
            <a:off x="640080" y="5486400"/>
            <a:ext cx="10908792" cy="640080"/>
          </a:xfrm>
          <a:prstGeom prst="roundRect">
            <a:avLst>
              <a:gd name="adj" fmla="val 50000"/>
            </a:avLst>
          </a:prstGeom>
          <a:solidFill>
            <a:schemeClr val="accent1"/>
          </a:solidFill>
          <a:ln/>
        </p:spPr>
        <p:txBody>
          <a:bodyPr/>
          <a:lstStyle/>
          <a:p>
            <a:endParaRPr lang="en-GB"/>
          </a:p>
        </p:txBody>
      </p:sp>
      <p:sp>
        <p:nvSpPr>
          <p:cNvPr id="26" name="Text 23"/>
          <p:cNvSpPr txBox="1"/>
          <p:nvPr/>
        </p:nvSpPr>
        <p:spPr>
          <a:xfrm>
            <a:off x="1005840" y="5486400"/>
            <a:ext cx="10177272" cy="640080"/>
          </a:xfrm>
          <a:prstGeom prst="rect">
            <a:avLst/>
          </a:prstGeom>
          <a:noFill/>
          <a:ln/>
        </p:spPr>
        <p:txBody>
          <a:bodyPr wrap="square" lIns="0" tIns="0" rIns="0" bIns="0" rtlCol="0" anchor="ctr"/>
          <a:lstStyle/>
          <a:p>
            <a:pPr marL="0" indent="0" algn="ctr">
              <a:buNone/>
            </a:pPr>
            <a:r>
              <a:rPr lang="en-US" sz="1800" b="1" dirty="0">
                <a:solidFill>
                  <a:schemeClr val="bg1"/>
                </a:solidFill>
              </a:rPr>
              <a:t>UX is not a phase.</a:t>
            </a:r>
            <a:r>
              <a:rPr lang="en-US" sz="1800" dirty="0">
                <a:solidFill>
                  <a:schemeClr val="bg1"/>
                </a:solidFill>
              </a:rPr>
              <a:t> It’s a thread running before, during, and after.</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280160"/>
            <a:ext cx="4572000" cy="1463040"/>
          </a:xfrm>
          <a:prstGeom prst="rect">
            <a:avLst/>
          </a:prstGeom>
          <a:noFill/>
          <a:ln/>
        </p:spPr>
        <p:txBody>
          <a:bodyPr wrap="square" lIns="0" tIns="0" rIns="0" bIns="0" rtlCol="0" anchor="ctr"/>
          <a:lstStyle/>
          <a:p>
            <a:pPr marL="0" indent="0" algn="l">
              <a:buNone/>
            </a:pPr>
            <a:r>
              <a:rPr lang="en-US" sz="9600" b="1" dirty="0">
                <a:solidFill>
                  <a:schemeClr val="accent1"/>
                </a:solidFill>
              </a:rPr>
              <a:t>02</a:t>
            </a:r>
            <a:endParaRPr lang="en-US" sz="9600" dirty="0"/>
          </a:p>
        </p:txBody>
      </p:sp>
      <p:sp>
        <p:nvSpPr>
          <p:cNvPr id="3" name="Text 1"/>
          <p:cNvSpPr>
            <a:spLocks noGrp="1"/>
          </p:cNvSpPr>
          <p:nvPr>
            <p:ph type="title" idx="102" hasCustomPrompt="1"/>
          </p:nvPr>
        </p:nvSpPr>
        <p:spPr>
          <a:xfrm>
            <a:off x="822960" y="3108960"/>
            <a:ext cx="5852160" cy="2194560"/>
          </a:xfrm>
          <a:prstGeom prst="rect">
            <a:avLst/>
          </a:prstGeom>
          <a:noFill/>
          <a:ln/>
        </p:spPr>
        <p:txBody>
          <a:bodyPr wrap="square" lIns="0" tIns="0" rIns="0" bIns="0" rtlCol="0" anchor="t"/>
          <a:lstStyle/>
          <a:p>
            <a:pPr marL="0" indent="0" algn="l">
              <a:buNone/>
            </a:pPr>
            <a:r>
              <a:rPr lang="en-US" sz="4400" b="1" dirty="0">
                <a:solidFill>
                  <a:schemeClr val="tx1"/>
                </a:solidFill>
              </a:rPr>
              <a:t>Users, Stakeholders &amp; Research</a:t>
            </a:r>
            <a:endParaRPr lang="en-US" sz="4400" dirty="0"/>
          </a:p>
        </p:txBody>
      </p:sp>
      <p:sp>
        <p:nvSpPr>
          <p:cNvPr id="4" name="Text 1"/>
          <p:cNvSpPr>
            <a:spLocks noGrp="1"/>
          </p:cNvSpPr>
          <p:nvPr>
            <p:ph type="body" idx="103" hasCustomPrompt="1"/>
          </p:nvPr>
        </p:nvSpPr>
        <p:spPr>
          <a:xfrm>
            <a:off x="822960" y="5577840"/>
            <a:ext cx="5852160" cy="274320"/>
          </a:xfrm>
          <a:prstGeom prst="rect">
            <a:avLst/>
          </a:prstGeom>
          <a:noFill/>
          <a:ln/>
        </p:spPr>
        <p:txBody>
          <a:bodyPr wrap="square" lIns="0" tIns="0" rIns="0" bIns="0" rtlCol="0" anchor="ctr"/>
          <a:lstStyle/>
          <a:p>
            <a:pPr marL="0" indent="0" algn="l">
              <a:buNone/>
            </a:pPr>
            <a:r>
              <a:rPr lang="en-US" sz="1400" b="1" kern="0" spc="150" dirty="0">
                <a:solidFill>
                  <a:schemeClr val="accent2"/>
                </a:solidFill>
              </a:rPr>
              <a:t>PRESENTER  ·  YOUSSEF HUSSEIN  ·  ~8 MIN</a:t>
            </a:r>
            <a:endParaRPr lang="en-US" sz="1400" dirty="0"/>
          </a:p>
        </p:txBody>
      </p:sp>
      <p:sp>
        <p:nvSpPr>
          <p:cNvPr id="6" name="Text 3"/>
          <p:cNvSpPr txBox="1"/>
          <p:nvPr/>
        </p:nvSpPr>
        <p:spPr>
          <a:xfrm>
            <a:off x="7223760" y="1325880"/>
            <a:ext cx="4297680" cy="228600"/>
          </a:xfrm>
          <a:prstGeom prst="rect">
            <a:avLst/>
          </a:prstGeom>
          <a:noFill/>
          <a:ln/>
        </p:spPr>
        <p:txBody>
          <a:bodyPr wrap="square" lIns="0" tIns="0" rIns="0" bIns="0" rtlCol="0" anchor="t"/>
          <a:lstStyle/>
          <a:p>
            <a:pPr marL="0" indent="0">
              <a:buNone/>
            </a:pPr>
            <a:r>
              <a:rPr lang="en-US" sz="1200" b="1" kern="0" spc="150" dirty="0">
                <a:solidFill>
                  <a:schemeClr val="accent2"/>
                </a:solidFill>
              </a:rPr>
              <a:t>AGENDA</a:t>
            </a:r>
            <a:endParaRPr lang="en-US" sz="1200" dirty="0"/>
          </a:p>
        </p:txBody>
      </p:sp>
      <p:sp>
        <p:nvSpPr>
          <p:cNvPr id="7" name="Text 4"/>
          <p:cNvSpPr txBox="1"/>
          <p:nvPr/>
        </p:nvSpPr>
        <p:spPr>
          <a:xfrm>
            <a:off x="7406640" y="169164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01</a:t>
            </a:r>
            <a:endParaRPr lang="en-US" sz="1600" dirty="0"/>
          </a:p>
        </p:txBody>
      </p:sp>
      <p:sp>
        <p:nvSpPr>
          <p:cNvPr id="8" name="Text 5"/>
          <p:cNvSpPr txBox="1"/>
          <p:nvPr/>
        </p:nvSpPr>
        <p:spPr>
          <a:xfrm>
            <a:off x="7955280" y="169164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Why User-Centred Design?</a:t>
            </a:r>
            <a:endParaRPr lang="en-US" sz="1600" dirty="0"/>
          </a:p>
        </p:txBody>
      </p:sp>
      <p:sp>
        <p:nvSpPr>
          <p:cNvPr id="9" name="Current section"/>
          <p:cNvSpPr/>
          <p:nvPr/>
        </p:nvSpPr>
        <p:spPr>
          <a:xfrm>
            <a:off x="7223760" y="2276856"/>
            <a:ext cx="4325112" cy="548640"/>
          </a:xfrm>
          <a:prstGeom prst="roundRect">
            <a:avLst>
              <a:gd name="adj" fmla="val 20000"/>
            </a:avLst>
          </a:prstGeom>
          <a:solidFill>
            <a:schemeClr val="bg2"/>
          </a:solidFill>
          <a:ln w="15875">
            <a:solidFill>
              <a:schemeClr val="accent1"/>
            </a:solidFill>
            <a:prstDash val="solid"/>
          </a:ln>
        </p:spPr>
        <p:txBody>
          <a:bodyPr/>
          <a:lstStyle/>
          <a:p>
            <a:endParaRPr lang="en-GB"/>
          </a:p>
        </p:txBody>
      </p:sp>
      <p:sp>
        <p:nvSpPr>
          <p:cNvPr id="10" name="Text 7"/>
          <p:cNvSpPr txBox="1"/>
          <p:nvPr/>
        </p:nvSpPr>
        <p:spPr>
          <a:xfrm>
            <a:off x="7406640" y="2331720"/>
            <a:ext cx="457200" cy="438912"/>
          </a:xfrm>
          <a:prstGeom prst="rect">
            <a:avLst/>
          </a:prstGeom>
          <a:noFill/>
          <a:ln/>
        </p:spPr>
        <p:txBody>
          <a:bodyPr wrap="square" lIns="0" tIns="0" rIns="0" bIns="0" rtlCol="0" anchor="ctr"/>
          <a:lstStyle/>
          <a:p>
            <a:pPr marL="0" indent="0">
              <a:buNone/>
            </a:pPr>
            <a:r>
              <a:rPr lang="en-US" sz="1600" b="1" dirty="0">
                <a:solidFill>
                  <a:schemeClr val="accent1"/>
                </a:solidFill>
              </a:rPr>
              <a:t>02</a:t>
            </a:r>
            <a:endParaRPr lang="en-US" sz="1600" dirty="0"/>
          </a:p>
        </p:txBody>
      </p:sp>
      <p:sp>
        <p:nvSpPr>
          <p:cNvPr id="11" name="Text 8"/>
          <p:cNvSpPr txBox="1"/>
          <p:nvPr/>
        </p:nvSpPr>
        <p:spPr>
          <a:xfrm>
            <a:off x="7955280" y="2331720"/>
            <a:ext cx="3474720" cy="438912"/>
          </a:xfrm>
          <a:prstGeom prst="rect">
            <a:avLst/>
          </a:prstGeom>
          <a:noFill/>
          <a:ln/>
        </p:spPr>
        <p:txBody>
          <a:bodyPr wrap="square" lIns="0" tIns="0" rIns="0" bIns="0" rtlCol="0" anchor="ctr"/>
          <a:lstStyle/>
          <a:p>
            <a:pPr marL="0" indent="0">
              <a:buNone/>
            </a:pPr>
            <a:r>
              <a:rPr lang="en-US" sz="1600" b="1" dirty="0">
                <a:solidFill>
                  <a:schemeClr val="tx1"/>
                </a:solidFill>
              </a:rPr>
              <a:t>Users, Stakeholders &amp; Research</a:t>
            </a:r>
            <a:endParaRPr lang="en-US" sz="1600" dirty="0"/>
          </a:p>
        </p:txBody>
      </p:sp>
      <p:sp>
        <p:nvSpPr>
          <p:cNvPr id="12" name="Text 9"/>
          <p:cNvSpPr txBox="1"/>
          <p:nvPr/>
        </p:nvSpPr>
        <p:spPr>
          <a:xfrm>
            <a:off x="7406640" y="297180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03</a:t>
            </a:r>
            <a:endParaRPr lang="en-US" sz="1600" dirty="0"/>
          </a:p>
        </p:txBody>
      </p:sp>
      <p:sp>
        <p:nvSpPr>
          <p:cNvPr id="13" name="Text 10"/>
          <p:cNvSpPr txBox="1"/>
          <p:nvPr/>
        </p:nvSpPr>
        <p:spPr>
          <a:xfrm>
            <a:off x="7955280" y="297180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Personas</a:t>
            </a:r>
            <a:endParaRPr lang="en-US" sz="1600" dirty="0"/>
          </a:p>
        </p:txBody>
      </p:sp>
      <p:sp>
        <p:nvSpPr>
          <p:cNvPr id="14" name="Text 11"/>
          <p:cNvSpPr txBox="1"/>
          <p:nvPr/>
        </p:nvSpPr>
        <p:spPr>
          <a:xfrm>
            <a:off x="7406640" y="361188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04</a:t>
            </a:r>
            <a:endParaRPr lang="en-US" sz="1600" dirty="0"/>
          </a:p>
        </p:txBody>
      </p:sp>
      <p:sp>
        <p:nvSpPr>
          <p:cNvPr id="15" name="Text 12"/>
          <p:cNvSpPr txBox="1"/>
          <p:nvPr/>
        </p:nvSpPr>
        <p:spPr>
          <a:xfrm>
            <a:off x="7955280" y="361188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User Stories &amp; Acceptance Criteria</a:t>
            </a:r>
            <a:endParaRPr lang="en-US" sz="1600" dirty="0"/>
          </a:p>
        </p:txBody>
      </p:sp>
      <p:sp>
        <p:nvSpPr>
          <p:cNvPr id="16" name="Text 13"/>
          <p:cNvSpPr txBox="1"/>
          <p:nvPr/>
        </p:nvSpPr>
        <p:spPr>
          <a:xfrm>
            <a:off x="7406640" y="425196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05</a:t>
            </a:r>
            <a:endParaRPr lang="en-US" sz="1600" dirty="0"/>
          </a:p>
        </p:txBody>
      </p:sp>
      <p:sp>
        <p:nvSpPr>
          <p:cNvPr id="17" name="Text 14"/>
          <p:cNvSpPr txBox="1"/>
          <p:nvPr/>
        </p:nvSpPr>
        <p:spPr>
          <a:xfrm>
            <a:off x="7955280" y="425196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Problem Statement &amp; User Flow</a:t>
            </a:r>
            <a:endParaRPr lang="en-US" sz="1600" dirty="0"/>
          </a:p>
        </p:txBody>
      </p:sp>
      <p:sp>
        <p:nvSpPr>
          <p:cNvPr id="18" name="Text 15"/>
          <p:cNvSpPr txBox="1"/>
          <p:nvPr/>
        </p:nvSpPr>
        <p:spPr>
          <a:xfrm>
            <a:off x="7406640" y="489204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06</a:t>
            </a:r>
            <a:endParaRPr lang="en-US" sz="1600" dirty="0"/>
          </a:p>
        </p:txBody>
      </p:sp>
      <p:sp>
        <p:nvSpPr>
          <p:cNvPr id="19" name="Text 16"/>
          <p:cNvSpPr txBox="1"/>
          <p:nvPr/>
        </p:nvSpPr>
        <p:spPr>
          <a:xfrm>
            <a:off x="7955280" y="489204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Wireframes &amp; Usability Heuristics</a:t>
            </a:r>
            <a:endParaRPr lang="en-US" sz="1600" dirty="0"/>
          </a:p>
        </p:txBody>
      </p:sp>
      <p:sp>
        <p:nvSpPr>
          <p:cNvPr id="20" name="Text 17"/>
          <p:cNvSpPr txBox="1"/>
          <p:nvPr/>
        </p:nvSpPr>
        <p:spPr>
          <a:xfrm>
            <a:off x="7406640" y="553212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07</a:t>
            </a:r>
            <a:endParaRPr lang="en-US" sz="1600" dirty="0"/>
          </a:p>
        </p:txBody>
      </p:sp>
      <p:sp>
        <p:nvSpPr>
          <p:cNvPr id="21" name="Text 18"/>
          <p:cNvSpPr txBox="1"/>
          <p:nvPr/>
        </p:nvSpPr>
        <p:spPr>
          <a:xfrm>
            <a:off x="7955280" y="553212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Accessibility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02 · USERS, STAKEHOLDERS &amp; RESEARCH</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Users vs Stakeholders</a:t>
            </a:r>
            <a:endParaRPr lang="en-US" sz="3200" dirty="0"/>
          </a:p>
        </p:txBody>
      </p:sp>
      <p:sp>
        <p:nvSpPr>
          <p:cNvPr id="5" name="Users card"/>
          <p:cNvSpPr/>
          <p:nvPr/>
        </p:nvSpPr>
        <p:spPr>
          <a:xfrm>
            <a:off x="640080" y="1554480"/>
            <a:ext cx="5349240" cy="4709160"/>
          </a:xfrm>
          <a:prstGeom prst="roundRect">
            <a:avLst>
              <a:gd name="adj" fmla="val 2330"/>
            </a:avLst>
          </a:prstGeom>
          <a:solidFill>
            <a:schemeClr val="bg2"/>
          </a:solidFill>
          <a:ln w="9525">
            <a:solidFill>
              <a:schemeClr val="tx2"/>
            </a:solidFill>
            <a:prstDash val="solid"/>
          </a:ln>
        </p:spPr>
        <p:txBody>
          <a:bodyPr/>
          <a:lstStyle/>
          <a:p>
            <a:endParaRPr lang="en-GB"/>
          </a:p>
        </p:txBody>
      </p:sp>
      <p:sp>
        <p:nvSpPr>
          <p:cNvPr id="6" name="Text 3"/>
          <p:cNvSpPr txBox="1"/>
          <p:nvPr/>
        </p:nvSpPr>
        <p:spPr>
          <a:xfrm>
            <a:off x="914400" y="1783080"/>
            <a:ext cx="4572000"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USERS</a:t>
            </a:r>
            <a:endParaRPr lang="en-US" sz="1200" dirty="0"/>
          </a:p>
        </p:txBody>
      </p:sp>
      <p:sp>
        <p:nvSpPr>
          <p:cNvPr id="7" name="Text 4"/>
          <p:cNvSpPr txBox="1"/>
          <p:nvPr/>
        </p:nvSpPr>
        <p:spPr>
          <a:xfrm>
            <a:off x="914400" y="2148840"/>
            <a:ext cx="4846320" cy="320040"/>
          </a:xfrm>
          <a:prstGeom prst="rect">
            <a:avLst/>
          </a:prstGeom>
          <a:noFill/>
          <a:ln/>
        </p:spPr>
        <p:txBody>
          <a:bodyPr wrap="square" lIns="0" tIns="0" rIns="0" bIns="0" rtlCol="0" anchor="t"/>
          <a:lstStyle/>
          <a:p>
            <a:pPr marL="0" indent="0">
              <a:buNone/>
            </a:pPr>
            <a:r>
              <a:rPr lang="en-US" sz="2000" b="1" dirty="0">
                <a:solidFill>
                  <a:schemeClr val="tx1"/>
                </a:solidFill>
              </a:rPr>
              <a:t>Primary users</a:t>
            </a:r>
            <a:endParaRPr lang="en-US" sz="2000" dirty="0"/>
          </a:p>
        </p:txBody>
      </p:sp>
      <p:sp>
        <p:nvSpPr>
          <p:cNvPr id="8" name="Text 5"/>
          <p:cNvSpPr txBox="1"/>
          <p:nvPr/>
        </p:nvSpPr>
        <p:spPr>
          <a:xfrm>
            <a:off x="914400" y="2514600"/>
            <a:ext cx="4846320" cy="274320"/>
          </a:xfrm>
          <a:prstGeom prst="rect">
            <a:avLst/>
          </a:prstGeom>
          <a:noFill/>
          <a:ln/>
        </p:spPr>
        <p:txBody>
          <a:bodyPr wrap="square" lIns="0" tIns="0" rIns="0" bIns="0" rtlCol="0" anchor="t"/>
          <a:lstStyle/>
          <a:p>
            <a:pPr marL="0" indent="0">
              <a:buNone/>
            </a:pPr>
            <a:r>
              <a:rPr lang="en-US" sz="1600" dirty="0">
                <a:solidFill>
                  <a:schemeClr val="accent2"/>
                </a:solidFill>
              </a:rPr>
              <a:t>Use the app directly and often.</a:t>
            </a:r>
            <a:endParaRPr lang="en-US" sz="1600" dirty="0"/>
          </a:p>
        </p:txBody>
      </p:sp>
      <p:sp>
        <p:nvSpPr>
          <p:cNvPr id="9" name="Text 6"/>
          <p:cNvSpPr txBox="1"/>
          <p:nvPr/>
        </p:nvSpPr>
        <p:spPr>
          <a:xfrm>
            <a:off x="914400" y="2880360"/>
            <a:ext cx="4846320" cy="8229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Readers who search for books, compare prices, log progress, get recommendations</a:t>
            </a:r>
            <a:endParaRPr lang="en-US" sz="1600" dirty="0"/>
          </a:p>
        </p:txBody>
      </p:sp>
      <p:sp>
        <p:nvSpPr>
          <p:cNvPr id="10" name="Text 7"/>
          <p:cNvSpPr txBox="1"/>
          <p:nvPr/>
        </p:nvSpPr>
        <p:spPr>
          <a:xfrm>
            <a:off x="914400" y="3931920"/>
            <a:ext cx="4846320" cy="320040"/>
          </a:xfrm>
          <a:prstGeom prst="rect">
            <a:avLst/>
          </a:prstGeom>
          <a:noFill/>
          <a:ln/>
        </p:spPr>
        <p:txBody>
          <a:bodyPr wrap="square" lIns="0" tIns="0" rIns="0" bIns="0" rtlCol="0" anchor="t"/>
          <a:lstStyle/>
          <a:p>
            <a:pPr marL="0" indent="0">
              <a:buNone/>
            </a:pPr>
            <a:r>
              <a:rPr lang="en-US" sz="2000" b="1" dirty="0">
                <a:solidFill>
                  <a:schemeClr val="tx1"/>
                </a:solidFill>
              </a:rPr>
              <a:t>Secondary users</a:t>
            </a:r>
            <a:endParaRPr lang="en-US" sz="2000" dirty="0"/>
          </a:p>
        </p:txBody>
      </p:sp>
      <p:sp>
        <p:nvSpPr>
          <p:cNvPr id="11" name="Text 8"/>
          <p:cNvSpPr txBox="1"/>
          <p:nvPr/>
        </p:nvSpPr>
        <p:spPr>
          <a:xfrm>
            <a:off x="914400" y="4297680"/>
            <a:ext cx="4846320" cy="274320"/>
          </a:xfrm>
          <a:prstGeom prst="rect">
            <a:avLst/>
          </a:prstGeom>
          <a:noFill/>
          <a:ln/>
        </p:spPr>
        <p:txBody>
          <a:bodyPr wrap="square" lIns="0" tIns="0" rIns="0" bIns="0" rtlCol="0" anchor="t"/>
          <a:lstStyle/>
          <a:p>
            <a:pPr marL="0" indent="0">
              <a:buNone/>
            </a:pPr>
            <a:r>
              <a:rPr lang="en-US" sz="1600" dirty="0">
                <a:solidFill>
                  <a:schemeClr val="accent2"/>
                </a:solidFill>
              </a:rPr>
              <a:t>Use it occasionally or through someone else.</a:t>
            </a:r>
            <a:endParaRPr lang="en-US" sz="1600" dirty="0"/>
          </a:p>
        </p:txBody>
      </p:sp>
      <p:sp>
        <p:nvSpPr>
          <p:cNvPr id="12" name="Text 9"/>
          <p:cNvSpPr txBox="1"/>
          <p:nvPr/>
        </p:nvSpPr>
        <p:spPr>
          <a:xfrm>
            <a:off x="914400" y="4663440"/>
            <a:ext cx="4846320" cy="1463040"/>
          </a:xfrm>
          <a:prstGeom prst="rect">
            <a:avLst/>
          </a:prstGeom>
          <a:noFill/>
          <a:ln/>
        </p:spPr>
        <p:txBody>
          <a:bodyPr wrap="square" lIns="0" tIns="0" rIns="0" bIns="0" rtlCol="0" anchor="t"/>
          <a:lstStyle/>
          <a:p>
            <a:pPr marL="228600" indent="-228600">
              <a:spcAft>
                <a:spcPts val="500"/>
              </a:spcAft>
              <a:buSzPct val="100000"/>
              <a:buChar char="•"/>
            </a:pPr>
            <a:r>
              <a:rPr lang="en-US" sz="1600" dirty="0">
                <a:solidFill>
                  <a:schemeClr val="tx1"/>
                </a:solidFill>
              </a:rPr>
              <a:t>Gift buyers (search once for a specific title)</a:t>
            </a:r>
            <a:endParaRPr lang="en-US" sz="1600" dirty="0"/>
          </a:p>
          <a:p>
            <a:pPr marL="228600" indent="-228600">
              <a:spcAft>
                <a:spcPts val="500"/>
              </a:spcAft>
              <a:buSzPct val="100000"/>
              <a:buChar char="•"/>
            </a:pPr>
            <a:r>
              <a:rPr lang="en-US" sz="1600" dirty="0">
                <a:solidFill>
                  <a:schemeClr val="tx1"/>
                </a:solidFill>
              </a:rPr>
              <a:t>Friends sharing reading lists</a:t>
            </a:r>
            <a:endParaRPr lang="en-US" sz="1600" dirty="0"/>
          </a:p>
          <a:p>
            <a:pPr marL="228600" indent="-228600">
              <a:spcAft>
                <a:spcPts val="500"/>
              </a:spcAft>
              <a:buSzPct val="100000"/>
              <a:buChar char="•"/>
            </a:pPr>
            <a:r>
              <a:rPr lang="en-US" sz="1600" dirty="0">
                <a:solidFill>
                  <a:schemeClr val="tx1"/>
                </a:solidFill>
              </a:rPr>
              <a:t>Support staff handling “wrong price” reports</a:t>
            </a:r>
            <a:endParaRPr lang="en-US" sz="1600" dirty="0"/>
          </a:p>
        </p:txBody>
      </p:sp>
      <p:sp>
        <p:nvSpPr>
          <p:cNvPr id="13" name="Stakeholders card"/>
          <p:cNvSpPr/>
          <p:nvPr/>
        </p:nvSpPr>
        <p:spPr>
          <a:xfrm>
            <a:off x="6199632" y="1554480"/>
            <a:ext cx="5349240" cy="4709160"/>
          </a:xfrm>
          <a:prstGeom prst="roundRect">
            <a:avLst>
              <a:gd name="adj" fmla="val 2330"/>
            </a:avLst>
          </a:prstGeom>
          <a:solidFill>
            <a:schemeClr val="bg2"/>
          </a:solidFill>
          <a:ln w="9525">
            <a:solidFill>
              <a:schemeClr val="tx2"/>
            </a:solidFill>
            <a:prstDash val="solid"/>
          </a:ln>
        </p:spPr>
        <p:txBody>
          <a:bodyPr/>
          <a:lstStyle/>
          <a:p>
            <a:endParaRPr lang="en-GB"/>
          </a:p>
        </p:txBody>
      </p:sp>
      <p:sp>
        <p:nvSpPr>
          <p:cNvPr id="14" name="Text 11"/>
          <p:cNvSpPr txBox="1"/>
          <p:nvPr/>
        </p:nvSpPr>
        <p:spPr>
          <a:xfrm>
            <a:off x="6473952" y="1783080"/>
            <a:ext cx="4572000"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STAKEHOLDERS</a:t>
            </a:r>
            <a:endParaRPr lang="en-US" sz="1200" dirty="0"/>
          </a:p>
        </p:txBody>
      </p:sp>
      <p:sp>
        <p:nvSpPr>
          <p:cNvPr id="15" name="Text 12"/>
          <p:cNvSpPr txBox="1"/>
          <p:nvPr/>
        </p:nvSpPr>
        <p:spPr>
          <a:xfrm>
            <a:off x="6473952" y="2148840"/>
            <a:ext cx="4846320" cy="548640"/>
          </a:xfrm>
          <a:prstGeom prst="rect">
            <a:avLst/>
          </a:prstGeom>
          <a:noFill/>
          <a:ln/>
        </p:spPr>
        <p:txBody>
          <a:bodyPr wrap="square" lIns="0" tIns="0" rIns="0" bIns="0" rtlCol="0" anchor="t"/>
          <a:lstStyle/>
          <a:p>
            <a:pPr marL="0" indent="0">
              <a:buNone/>
            </a:pPr>
            <a:r>
              <a:rPr lang="en-US" sz="1600" dirty="0">
                <a:solidFill>
                  <a:schemeClr val="accent2"/>
                </a:solidFill>
              </a:rPr>
              <a:t>Affect or are affected by the product, even if they never open it.</a:t>
            </a:r>
            <a:endParaRPr lang="en-US" sz="1600" dirty="0"/>
          </a:p>
        </p:txBody>
      </p:sp>
      <p:sp>
        <p:nvSpPr>
          <p:cNvPr id="16" name="Text 13"/>
          <p:cNvSpPr txBox="1"/>
          <p:nvPr/>
        </p:nvSpPr>
        <p:spPr>
          <a:xfrm>
            <a:off x="6473952" y="2788920"/>
            <a:ext cx="4846320" cy="3383280"/>
          </a:xfrm>
          <a:prstGeom prst="rect">
            <a:avLst/>
          </a:prstGeom>
          <a:noFill/>
          <a:ln/>
        </p:spPr>
        <p:txBody>
          <a:bodyPr wrap="square" lIns="0" tIns="0" rIns="0" bIns="0" rtlCol="0" anchor="t"/>
          <a:lstStyle/>
          <a:p>
            <a:pPr marL="228600" indent="-228600">
              <a:spcAft>
                <a:spcPts val="600"/>
              </a:spcAft>
              <a:buSzPct val="100000"/>
              <a:buChar char="•"/>
            </a:pPr>
            <a:r>
              <a:rPr lang="en-US" sz="1400" b="1" dirty="0">
                <a:solidFill>
                  <a:schemeClr val="tx1"/>
                </a:solidFill>
              </a:rPr>
              <a:t>Bookstores (local &amp; overseas)</a:t>
            </a:r>
            <a:r>
              <a:rPr lang="en-US" sz="1400" dirty="0">
                <a:solidFill>
                  <a:schemeClr val="tx1"/>
                </a:solidFill>
              </a:rPr>
              <a:t> — visibility, fair ranking</a:t>
            </a:r>
            <a:endParaRPr lang="en-US" sz="1400" dirty="0"/>
          </a:p>
          <a:p>
            <a:pPr marL="228600" indent="-228600">
              <a:spcAft>
                <a:spcPts val="600"/>
              </a:spcAft>
              <a:buSzPct val="100000"/>
              <a:buChar char="•"/>
            </a:pPr>
            <a:r>
              <a:rPr lang="en-US" sz="1400" b="1" dirty="0">
                <a:solidFill>
                  <a:schemeClr val="tx1"/>
                </a:solidFill>
              </a:rPr>
              <a:t>Marketplace APIs</a:t>
            </a:r>
            <a:r>
              <a:rPr lang="en-US" sz="1400" dirty="0">
                <a:solidFill>
                  <a:schemeClr val="tx1"/>
                </a:solidFill>
              </a:rPr>
              <a:t> — rate limits, terms of service</a:t>
            </a:r>
            <a:endParaRPr lang="en-US" sz="1400" dirty="0"/>
          </a:p>
          <a:p>
            <a:pPr marL="228600" indent="-228600">
              <a:spcAft>
                <a:spcPts val="600"/>
              </a:spcAft>
              <a:buSzPct val="100000"/>
              <a:buChar char="•"/>
            </a:pPr>
            <a:r>
              <a:rPr lang="en-US" sz="1400" b="1" dirty="0">
                <a:solidFill>
                  <a:schemeClr val="tx1"/>
                </a:solidFill>
              </a:rPr>
              <a:t>App stores</a:t>
            </a:r>
            <a:r>
              <a:rPr lang="en-US" sz="1400" dirty="0">
                <a:solidFill>
                  <a:schemeClr val="tx1"/>
                </a:solidFill>
              </a:rPr>
              <a:t> — guidelines, revenue share</a:t>
            </a:r>
            <a:endParaRPr lang="en-US" sz="1400" dirty="0"/>
          </a:p>
          <a:p>
            <a:pPr marL="228600" indent="-228600">
              <a:spcAft>
                <a:spcPts val="600"/>
              </a:spcAft>
              <a:buSzPct val="100000"/>
              <a:buChar char="•"/>
            </a:pPr>
            <a:r>
              <a:rPr lang="en-US" sz="1400" b="1" dirty="0">
                <a:solidFill>
                  <a:schemeClr val="tx1"/>
                </a:solidFill>
              </a:rPr>
              <a:t>Development team</a:t>
            </a:r>
            <a:r>
              <a:rPr lang="en-US" sz="1400" dirty="0">
                <a:solidFill>
                  <a:schemeClr val="tx1"/>
                </a:solidFill>
              </a:rPr>
              <a:t> — maintenance, technical debt</a:t>
            </a:r>
            <a:endParaRPr lang="en-US" sz="1400" dirty="0"/>
          </a:p>
          <a:p>
            <a:pPr marL="228600" indent="-228600">
              <a:spcAft>
                <a:spcPts val="600"/>
              </a:spcAft>
              <a:buSzPct val="100000"/>
              <a:buChar char="•"/>
            </a:pPr>
            <a:r>
              <a:rPr lang="en-US" sz="1400" b="1" dirty="0">
                <a:solidFill>
                  <a:schemeClr val="tx1"/>
                </a:solidFill>
              </a:rPr>
              <a:t>Instructor / evaluator</a:t>
            </a:r>
            <a:r>
              <a:rPr lang="en-US" sz="1400" dirty="0">
                <a:solidFill>
                  <a:schemeClr val="tx1"/>
                </a:solidFill>
              </a:rPr>
              <a:t> — grading criteria</a:t>
            </a:r>
            <a:endParaRPr lang="en-US" sz="1400" dirty="0"/>
          </a:p>
          <a:p>
            <a:pPr marL="228600" indent="-228600">
              <a:spcAft>
                <a:spcPts val="600"/>
              </a:spcAft>
              <a:buSzPct val="100000"/>
              <a:buChar char="•"/>
            </a:pPr>
            <a:r>
              <a:rPr lang="en-US" sz="1400" b="1" dirty="0">
                <a:solidFill>
                  <a:schemeClr val="tx1"/>
                </a:solidFill>
              </a:rPr>
              <a:t>Authors &amp; publishers</a:t>
            </a:r>
            <a:r>
              <a:rPr lang="en-US" sz="1400" dirty="0">
                <a:solidFill>
                  <a:schemeClr val="tx1"/>
                </a:solidFill>
              </a:rPr>
              <a:t> — discoverability, pricing control</a:t>
            </a:r>
            <a:endParaRPr lang="en-US" sz="1400" dirty="0"/>
          </a:p>
          <a:p>
            <a:pPr marL="228600" indent="-228600">
              <a:spcAft>
                <a:spcPts val="600"/>
              </a:spcAft>
              <a:buSzPct val="100000"/>
              <a:buChar char="•"/>
            </a:pPr>
            <a:r>
              <a:rPr lang="en-US" sz="1400" b="1" dirty="0">
                <a:solidFill>
                  <a:schemeClr val="tx1"/>
                </a:solidFill>
              </a:rPr>
              <a:t>Payment/affiliate partners</a:t>
            </a:r>
            <a:r>
              <a:rPr lang="en-US" sz="1400" dirty="0">
                <a:solidFill>
                  <a:schemeClr val="tx1"/>
                </a:solidFill>
              </a:rPr>
              <a:t> — conversion tracking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02 · USERS, STAKEHOLDERS &amp; RESEARCH</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User Research Methods</a:t>
            </a:r>
            <a:endParaRPr lang="en-US" sz="32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640080" y="1554480"/>
          <a:ext cx="10908792" cy="3749040"/>
        </p:xfrm>
        <a:graphic>
          <a:graphicData uri="http://schemas.openxmlformats.org/drawingml/2006/table">
            <a:tbl>
              <a:tblPr/>
              <a:tblGrid>
                <a:gridCol w="17373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457200">
                <a:tc>
                  <a:txBody>
                    <a:bodyPr/>
                    <a:lstStyle/>
                    <a:p>
                      <a:pPr marL="0" indent="0" algn="l">
                        <a:buNone/>
                      </a:pPr>
                      <a:r>
                        <a:rPr lang="en-US" sz="1400" b="1" dirty="0">
                          <a:solidFill>
                            <a:srgbClr val="0D0D0D"/>
                          </a:solidFill>
                        </a:rPr>
                        <a:t>Method</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l">
                        <a:buNone/>
                      </a:pPr>
                      <a:r>
                        <a:rPr lang="en-US" sz="1400" b="1" dirty="0">
                          <a:solidFill>
                            <a:srgbClr val="0D0D0D"/>
                          </a:solidFill>
                        </a:rPr>
                        <a:t>Strengths</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l">
                        <a:buNone/>
                      </a:pPr>
                      <a:r>
                        <a:rPr lang="en-US" sz="1400" b="1" dirty="0">
                          <a:solidFill>
                            <a:srgbClr val="0D0D0D"/>
                          </a:solidFill>
                        </a:rPr>
                        <a:t>Limits</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l">
                        <a:buNone/>
                      </a:pPr>
                      <a:r>
                        <a:rPr lang="en-US" sz="1400" b="1" dirty="0">
                          <a:solidFill>
                            <a:srgbClr val="0D0D0D"/>
                          </a:solidFill>
                        </a:rPr>
                        <a:t>Shelf Application</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extLst>
                  <a:ext uri="{0D108BD9-81ED-4DB2-BD59-A6C34878D82A}">
                    <a16:rowId xmlns:a16="http://schemas.microsoft.com/office/drawing/2014/main" val="10000"/>
                  </a:ext>
                </a:extLst>
              </a:tr>
              <a:tr h="1097280">
                <a:tc>
                  <a:txBody>
                    <a:bodyPr/>
                    <a:lstStyle/>
                    <a:p>
                      <a:pPr marL="0" indent="0" algn="l">
                        <a:buNone/>
                      </a:pPr>
                      <a:r>
                        <a:rPr lang="en-US" sz="1400" b="1" dirty="0">
                          <a:solidFill>
                            <a:srgbClr val="F5F0E8"/>
                          </a:solidFill>
                        </a:rPr>
                        <a:t>Interviews</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Deep context, “why” behind behaviour, follow-up questions</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Small sample, time-consuming, interviewer bias</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5–8 readers: “Walk me through the last time you bought a book”</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1"/>
                  </a:ext>
                </a:extLst>
              </a:tr>
              <a:tr h="1097280">
                <a:tc>
                  <a:txBody>
                    <a:bodyPr/>
                    <a:lstStyle/>
                    <a:p>
                      <a:pPr marL="0" indent="0" algn="l">
                        <a:buNone/>
                      </a:pPr>
                      <a:r>
                        <a:rPr lang="en-US" sz="1400" b="1" dirty="0">
                          <a:solidFill>
                            <a:srgbClr val="F5F0E8"/>
                          </a:solidFill>
                        </a:rPr>
                        <a:t>Questionnaires</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F5F0E8"/>
                          </a:solidFill>
                        </a:rPr>
                        <a:t>Larger sample, quantifiable, remote-friendly</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F5F0E8"/>
                          </a:solidFill>
                        </a:rPr>
                        <a:t>No follow-up, self-report bias, shallow</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F5F0E8"/>
                          </a:solidFill>
                        </a:rPr>
                        <a:t>20+ readers: frequency, pain points, price sensitivity, drop reasons</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extLst>
                  <a:ext uri="{0D108BD9-81ED-4DB2-BD59-A6C34878D82A}">
                    <a16:rowId xmlns:a16="http://schemas.microsoft.com/office/drawing/2014/main" val="10002"/>
                  </a:ext>
                </a:extLst>
              </a:tr>
              <a:tr h="1097280">
                <a:tc>
                  <a:txBody>
                    <a:bodyPr/>
                    <a:lstStyle/>
                    <a:p>
                      <a:pPr marL="0" indent="0" algn="l">
                        <a:buNone/>
                      </a:pPr>
                      <a:r>
                        <a:rPr lang="en-US" sz="1400" b="1" dirty="0">
                          <a:solidFill>
                            <a:srgbClr val="F5F0E8"/>
                          </a:solidFill>
                        </a:rPr>
                        <a:t>Observation</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Real behaviour, not self-reported; context visible</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Observer effect, no “why”, privacy/ethics</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Watch 3 users compare prices across tabs/sites (screen-record with consent)</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3"/>
                  </a:ext>
                </a:extLst>
              </a:tr>
            </a:tbl>
          </a:graphicData>
        </a:graphic>
      </p:graphicFrame>
      <p:sp>
        <p:nvSpPr>
          <p:cNvPr id="6" name="Triangulation callout"/>
          <p:cNvSpPr/>
          <p:nvPr/>
        </p:nvSpPr>
        <p:spPr>
          <a:xfrm>
            <a:off x="640080" y="5440680"/>
            <a:ext cx="10908792" cy="685800"/>
          </a:xfrm>
          <a:prstGeom prst="roundRect">
            <a:avLst>
              <a:gd name="adj" fmla="val 16000"/>
            </a:avLst>
          </a:prstGeom>
          <a:solidFill>
            <a:schemeClr val="bg2"/>
          </a:solidFill>
          <a:ln w="15875">
            <a:solidFill>
              <a:schemeClr val="accent1"/>
            </a:solidFill>
            <a:prstDash val="solid"/>
          </a:ln>
        </p:spPr>
        <p:txBody>
          <a:bodyPr/>
          <a:lstStyle/>
          <a:p>
            <a:endParaRPr lang="en-GB"/>
          </a:p>
        </p:txBody>
      </p:sp>
      <p:sp>
        <p:nvSpPr>
          <p:cNvPr id="7" name="Text 3"/>
          <p:cNvSpPr txBox="1"/>
          <p:nvPr/>
        </p:nvSpPr>
        <p:spPr>
          <a:xfrm>
            <a:off x="914400" y="5440680"/>
            <a:ext cx="10360152" cy="685800"/>
          </a:xfrm>
          <a:prstGeom prst="rect">
            <a:avLst/>
          </a:prstGeom>
          <a:noFill/>
          <a:ln/>
        </p:spPr>
        <p:txBody>
          <a:bodyPr wrap="square" lIns="0" tIns="0" rIns="0" bIns="0" rtlCol="0" anchor="ctr"/>
          <a:lstStyle/>
          <a:p>
            <a:pPr marL="0" indent="0">
              <a:buNone/>
            </a:pPr>
            <a:r>
              <a:rPr lang="en-US" sz="1600" b="1" dirty="0">
                <a:solidFill>
                  <a:schemeClr val="tx1"/>
                </a:solidFill>
              </a:rPr>
              <a:t>Triangulation: </a:t>
            </a:r>
            <a:r>
              <a:rPr lang="en-US" sz="1600" dirty="0">
                <a:solidFill>
                  <a:schemeClr val="tx1"/>
                </a:solidFill>
              </a:rPr>
              <a:t>use at least two methods. Interviews + questionnaires = qualitative depth + quantitative breadth.</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02 · USERS, STAKEHOLDERS &amp; RESEARCH</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Stakeholder Map: Power vs Interest</a:t>
            </a:r>
            <a:endParaRPr lang="en-US" sz="3200" dirty="0"/>
          </a:p>
        </p:txBody>
      </p:sp>
      <p:sp>
        <p:nvSpPr>
          <p:cNvPr id="5" name="Text 2"/>
          <p:cNvSpPr txBox="1"/>
          <p:nvPr/>
        </p:nvSpPr>
        <p:spPr>
          <a:xfrm>
            <a:off x="640080" y="1508760"/>
            <a:ext cx="2743200" cy="228600"/>
          </a:xfrm>
          <a:prstGeom prst="rect">
            <a:avLst/>
          </a:prstGeom>
          <a:noFill/>
          <a:ln/>
        </p:spPr>
        <p:txBody>
          <a:bodyPr wrap="square" lIns="0" tIns="0" rIns="0" bIns="0" rtlCol="0" anchor="t"/>
          <a:lstStyle/>
          <a:p>
            <a:pPr marL="0" indent="0">
              <a:buNone/>
            </a:pPr>
            <a:r>
              <a:rPr lang="en-US" sz="1100" b="1" kern="0" spc="150" dirty="0">
                <a:solidFill>
                  <a:schemeClr val="accent2"/>
                </a:solidFill>
              </a:rPr>
              <a:t>↑  INTEREST</a:t>
            </a:r>
            <a:endParaRPr lang="en-US" sz="1100" dirty="0"/>
          </a:p>
        </p:txBody>
      </p:sp>
      <p:sp>
        <p:nvSpPr>
          <p:cNvPr id="6" name="Text 3"/>
          <p:cNvSpPr txBox="1"/>
          <p:nvPr/>
        </p:nvSpPr>
        <p:spPr>
          <a:xfrm>
            <a:off x="3108960" y="5833872"/>
            <a:ext cx="2743200" cy="228600"/>
          </a:xfrm>
          <a:prstGeom prst="rect">
            <a:avLst/>
          </a:prstGeom>
          <a:noFill/>
          <a:ln/>
        </p:spPr>
        <p:txBody>
          <a:bodyPr wrap="square" lIns="0" tIns="0" rIns="0" bIns="0" rtlCol="0" anchor="t"/>
          <a:lstStyle/>
          <a:p>
            <a:pPr marL="0" indent="0" algn="r">
              <a:buNone/>
            </a:pPr>
            <a:r>
              <a:rPr lang="en-US" sz="1100" b="1" kern="0" spc="150" dirty="0">
                <a:solidFill>
                  <a:schemeClr val="accent2"/>
                </a:solidFill>
              </a:rPr>
              <a:t>POWER  →</a:t>
            </a:r>
            <a:endParaRPr lang="en-US" sz="1100" dirty="0"/>
          </a:p>
        </p:txBody>
      </p:sp>
      <p:sp>
        <p:nvSpPr>
          <p:cNvPr id="7" name="Quadrant KEEP INFORMED"/>
          <p:cNvSpPr/>
          <p:nvPr/>
        </p:nvSpPr>
        <p:spPr>
          <a:xfrm>
            <a:off x="640080" y="1828800"/>
            <a:ext cx="2606040" cy="1965960"/>
          </a:xfrm>
          <a:prstGeom prst="rect">
            <a:avLst/>
          </a:prstGeom>
          <a:solidFill>
            <a:schemeClr val="bg2"/>
          </a:solidFill>
          <a:ln w="12700">
            <a:solidFill>
              <a:schemeClr val="tx2"/>
            </a:solidFill>
            <a:prstDash val="solid"/>
          </a:ln>
        </p:spPr>
        <p:txBody>
          <a:bodyPr/>
          <a:lstStyle/>
          <a:p>
            <a:endParaRPr lang="en-GB"/>
          </a:p>
        </p:txBody>
      </p:sp>
      <p:sp>
        <p:nvSpPr>
          <p:cNvPr id="8" name="Text 5"/>
          <p:cNvSpPr txBox="1"/>
          <p:nvPr/>
        </p:nvSpPr>
        <p:spPr>
          <a:xfrm>
            <a:off x="749808" y="1920240"/>
            <a:ext cx="2386584" cy="201168"/>
          </a:xfrm>
          <a:prstGeom prst="rect">
            <a:avLst/>
          </a:prstGeom>
          <a:noFill/>
          <a:ln/>
        </p:spPr>
        <p:txBody>
          <a:bodyPr wrap="square" lIns="0" tIns="0" rIns="0" bIns="0" rtlCol="0" anchor="t"/>
          <a:lstStyle/>
          <a:p>
            <a:pPr marL="0" indent="0" algn="l">
              <a:buNone/>
            </a:pPr>
            <a:r>
              <a:rPr lang="en-US" sz="1000" b="1" kern="0" spc="150" dirty="0">
                <a:solidFill>
                  <a:schemeClr val="accent2"/>
                </a:solidFill>
              </a:rPr>
              <a:t>KEEP INFORMED</a:t>
            </a:r>
            <a:endParaRPr lang="en-US" sz="1000" dirty="0"/>
          </a:p>
        </p:txBody>
      </p:sp>
      <p:sp>
        <p:nvSpPr>
          <p:cNvPr id="9" name="Quadrant MANAGE CLOSELY"/>
          <p:cNvSpPr/>
          <p:nvPr/>
        </p:nvSpPr>
        <p:spPr>
          <a:xfrm>
            <a:off x="3246120" y="1828800"/>
            <a:ext cx="2606040" cy="1965960"/>
          </a:xfrm>
          <a:prstGeom prst="rect">
            <a:avLst/>
          </a:prstGeom>
          <a:solidFill>
            <a:schemeClr val="accent1">
              <a:alpha val="15000"/>
            </a:schemeClr>
          </a:solidFill>
          <a:ln w="12700">
            <a:solidFill>
              <a:schemeClr val="tx2"/>
            </a:solidFill>
            <a:prstDash val="solid"/>
          </a:ln>
        </p:spPr>
        <p:txBody>
          <a:bodyPr/>
          <a:lstStyle/>
          <a:p>
            <a:endParaRPr lang="en-GB"/>
          </a:p>
        </p:txBody>
      </p:sp>
      <p:sp>
        <p:nvSpPr>
          <p:cNvPr id="10" name="Text 7"/>
          <p:cNvSpPr txBox="1"/>
          <p:nvPr/>
        </p:nvSpPr>
        <p:spPr>
          <a:xfrm>
            <a:off x="3355848" y="1920240"/>
            <a:ext cx="2386584" cy="201168"/>
          </a:xfrm>
          <a:prstGeom prst="rect">
            <a:avLst/>
          </a:prstGeom>
          <a:noFill/>
          <a:ln/>
        </p:spPr>
        <p:txBody>
          <a:bodyPr wrap="square" lIns="0" tIns="0" rIns="0" bIns="0" rtlCol="0" anchor="t"/>
          <a:lstStyle/>
          <a:p>
            <a:pPr marL="0" indent="0" algn="r">
              <a:buNone/>
            </a:pPr>
            <a:r>
              <a:rPr lang="en-US" sz="1000" b="1" kern="0" spc="150" dirty="0">
                <a:solidFill>
                  <a:schemeClr val="accent1"/>
                </a:solidFill>
              </a:rPr>
              <a:t>MANAGE CLOSELY</a:t>
            </a:r>
            <a:endParaRPr lang="en-US" sz="1000" dirty="0"/>
          </a:p>
        </p:txBody>
      </p:sp>
      <p:sp>
        <p:nvSpPr>
          <p:cNvPr id="11" name="Quadrant MONITOR"/>
          <p:cNvSpPr/>
          <p:nvPr/>
        </p:nvSpPr>
        <p:spPr>
          <a:xfrm>
            <a:off x="640080" y="3794760"/>
            <a:ext cx="2606040" cy="1965960"/>
          </a:xfrm>
          <a:prstGeom prst="rect">
            <a:avLst/>
          </a:prstGeom>
          <a:solidFill>
            <a:schemeClr val="bg2"/>
          </a:solidFill>
          <a:ln w="12700">
            <a:solidFill>
              <a:schemeClr val="tx2"/>
            </a:solidFill>
            <a:prstDash val="solid"/>
          </a:ln>
        </p:spPr>
        <p:txBody>
          <a:bodyPr/>
          <a:lstStyle/>
          <a:p>
            <a:endParaRPr lang="en-GB"/>
          </a:p>
        </p:txBody>
      </p:sp>
      <p:sp>
        <p:nvSpPr>
          <p:cNvPr id="12" name="Text 9"/>
          <p:cNvSpPr txBox="1"/>
          <p:nvPr/>
        </p:nvSpPr>
        <p:spPr>
          <a:xfrm>
            <a:off x="749808" y="5468112"/>
            <a:ext cx="2386584" cy="201168"/>
          </a:xfrm>
          <a:prstGeom prst="rect">
            <a:avLst/>
          </a:prstGeom>
          <a:noFill/>
          <a:ln/>
        </p:spPr>
        <p:txBody>
          <a:bodyPr wrap="square" lIns="0" tIns="0" rIns="0" bIns="0" rtlCol="0" anchor="t"/>
          <a:lstStyle/>
          <a:p>
            <a:pPr marL="0" indent="0" algn="l">
              <a:buNone/>
            </a:pPr>
            <a:r>
              <a:rPr lang="en-US" sz="1000" b="1" kern="0" spc="150" dirty="0">
                <a:solidFill>
                  <a:schemeClr val="accent2"/>
                </a:solidFill>
              </a:rPr>
              <a:t>MONITOR</a:t>
            </a:r>
            <a:endParaRPr lang="en-US" sz="1000" dirty="0"/>
          </a:p>
        </p:txBody>
      </p:sp>
      <p:sp>
        <p:nvSpPr>
          <p:cNvPr id="13" name="Quadrant KEEP SATISFIED"/>
          <p:cNvSpPr/>
          <p:nvPr/>
        </p:nvSpPr>
        <p:spPr>
          <a:xfrm>
            <a:off x="3246120" y="3794760"/>
            <a:ext cx="2606040" cy="1965960"/>
          </a:xfrm>
          <a:prstGeom prst="rect">
            <a:avLst/>
          </a:prstGeom>
          <a:solidFill>
            <a:schemeClr val="bg2"/>
          </a:solidFill>
          <a:ln w="12700">
            <a:solidFill>
              <a:schemeClr val="tx2"/>
            </a:solidFill>
            <a:prstDash val="solid"/>
          </a:ln>
        </p:spPr>
        <p:txBody>
          <a:bodyPr/>
          <a:lstStyle/>
          <a:p>
            <a:endParaRPr lang="en-GB"/>
          </a:p>
        </p:txBody>
      </p:sp>
      <p:sp>
        <p:nvSpPr>
          <p:cNvPr id="14" name="Text 11"/>
          <p:cNvSpPr txBox="1"/>
          <p:nvPr/>
        </p:nvSpPr>
        <p:spPr>
          <a:xfrm>
            <a:off x="3355848" y="5468112"/>
            <a:ext cx="2386584" cy="201168"/>
          </a:xfrm>
          <a:prstGeom prst="rect">
            <a:avLst/>
          </a:prstGeom>
          <a:noFill/>
          <a:ln/>
        </p:spPr>
        <p:txBody>
          <a:bodyPr wrap="square" lIns="0" tIns="0" rIns="0" bIns="0" rtlCol="0" anchor="t"/>
          <a:lstStyle/>
          <a:p>
            <a:pPr marL="0" indent="0" algn="r">
              <a:buNone/>
            </a:pPr>
            <a:r>
              <a:rPr lang="en-US" sz="1000" b="1" kern="0" spc="150" dirty="0">
                <a:solidFill>
                  <a:schemeClr val="accent2"/>
                </a:solidFill>
              </a:rPr>
              <a:t>KEEP SATISFIED</a:t>
            </a:r>
            <a:endParaRPr lang="en-US" sz="1000" dirty="0"/>
          </a:p>
        </p:txBody>
      </p:sp>
      <p:sp>
        <p:nvSpPr>
          <p:cNvPr id="15" name="Stakeholder Dev team"/>
          <p:cNvSpPr/>
          <p:nvPr/>
        </p:nvSpPr>
        <p:spPr>
          <a:xfrm>
            <a:off x="4988052" y="2218334"/>
            <a:ext cx="164592" cy="164592"/>
          </a:xfrm>
          <a:prstGeom prst="ellipse">
            <a:avLst/>
          </a:prstGeom>
          <a:solidFill>
            <a:schemeClr val="accent1"/>
          </a:solidFill>
          <a:ln w="12700">
            <a:solidFill>
              <a:schemeClr val="bg1"/>
            </a:solidFill>
            <a:prstDash val="solid"/>
          </a:ln>
        </p:spPr>
        <p:txBody>
          <a:bodyPr/>
          <a:lstStyle/>
          <a:p>
            <a:endParaRPr lang="en-GB"/>
          </a:p>
        </p:txBody>
      </p:sp>
      <p:sp>
        <p:nvSpPr>
          <p:cNvPr id="16" name="Text 13"/>
          <p:cNvSpPr txBox="1"/>
          <p:nvPr/>
        </p:nvSpPr>
        <p:spPr>
          <a:xfrm>
            <a:off x="3095244" y="2190902"/>
            <a:ext cx="1828800" cy="219456"/>
          </a:xfrm>
          <a:prstGeom prst="rect">
            <a:avLst/>
          </a:prstGeom>
          <a:noFill/>
          <a:ln/>
        </p:spPr>
        <p:txBody>
          <a:bodyPr wrap="square" lIns="0" tIns="0" rIns="0" bIns="0" rtlCol="0" anchor="ctr"/>
          <a:lstStyle/>
          <a:p>
            <a:pPr marL="0" indent="0" algn="r">
              <a:buNone/>
            </a:pPr>
            <a:r>
              <a:rPr lang="en-US" sz="1200" dirty="0">
                <a:solidFill>
                  <a:schemeClr val="tx1"/>
                </a:solidFill>
              </a:rPr>
              <a:t>Dev team</a:t>
            </a:r>
            <a:endParaRPr lang="en-US" sz="1200" dirty="0"/>
          </a:p>
        </p:txBody>
      </p:sp>
      <p:sp>
        <p:nvSpPr>
          <p:cNvPr id="17" name="Stakeholder Instructor"/>
          <p:cNvSpPr/>
          <p:nvPr/>
        </p:nvSpPr>
        <p:spPr>
          <a:xfrm>
            <a:off x="5248656" y="2532888"/>
            <a:ext cx="164592" cy="164592"/>
          </a:xfrm>
          <a:prstGeom prst="ellipse">
            <a:avLst/>
          </a:prstGeom>
          <a:solidFill>
            <a:schemeClr val="accent1"/>
          </a:solidFill>
          <a:ln w="12700">
            <a:solidFill>
              <a:schemeClr val="bg1"/>
            </a:solidFill>
            <a:prstDash val="solid"/>
          </a:ln>
        </p:spPr>
        <p:txBody>
          <a:bodyPr/>
          <a:lstStyle/>
          <a:p>
            <a:endParaRPr lang="en-GB"/>
          </a:p>
        </p:txBody>
      </p:sp>
      <p:sp>
        <p:nvSpPr>
          <p:cNvPr id="18" name="Text 15"/>
          <p:cNvSpPr txBox="1"/>
          <p:nvPr/>
        </p:nvSpPr>
        <p:spPr>
          <a:xfrm>
            <a:off x="3355848" y="2505456"/>
            <a:ext cx="1828800" cy="219456"/>
          </a:xfrm>
          <a:prstGeom prst="rect">
            <a:avLst/>
          </a:prstGeom>
          <a:noFill/>
          <a:ln/>
        </p:spPr>
        <p:txBody>
          <a:bodyPr wrap="square" lIns="0" tIns="0" rIns="0" bIns="0" rtlCol="0" anchor="ctr"/>
          <a:lstStyle/>
          <a:p>
            <a:pPr marL="0" indent="0" algn="r">
              <a:buNone/>
            </a:pPr>
            <a:r>
              <a:rPr lang="en-US" sz="1200" dirty="0">
                <a:solidFill>
                  <a:schemeClr val="tx1"/>
                </a:solidFill>
              </a:rPr>
              <a:t>Instructor</a:t>
            </a:r>
            <a:endParaRPr lang="en-US" sz="1200" dirty="0"/>
          </a:p>
        </p:txBody>
      </p:sp>
      <p:sp>
        <p:nvSpPr>
          <p:cNvPr id="19" name="Stakeholder Marketplace APIs"/>
          <p:cNvSpPr/>
          <p:nvPr/>
        </p:nvSpPr>
        <p:spPr>
          <a:xfrm>
            <a:off x="4727448" y="4498848"/>
            <a:ext cx="164592" cy="164592"/>
          </a:xfrm>
          <a:prstGeom prst="ellipse">
            <a:avLst/>
          </a:prstGeom>
          <a:solidFill>
            <a:schemeClr val="accent1"/>
          </a:solidFill>
          <a:ln w="12700">
            <a:solidFill>
              <a:schemeClr val="bg1"/>
            </a:solidFill>
            <a:prstDash val="solid"/>
          </a:ln>
        </p:spPr>
        <p:txBody>
          <a:bodyPr/>
          <a:lstStyle/>
          <a:p>
            <a:endParaRPr lang="en-GB"/>
          </a:p>
        </p:txBody>
      </p:sp>
      <p:sp>
        <p:nvSpPr>
          <p:cNvPr id="20" name="Text 17"/>
          <p:cNvSpPr txBox="1"/>
          <p:nvPr/>
        </p:nvSpPr>
        <p:spPr>
          <a:xfrm>
            <a:off x="2834640" y="4471416"/>
            <a:ext cx="1828800" cy="219456"/>
          </a:xfrm>
          <a:prstGeom prst="rect">
            <a:avLst/>
          </a:prstGeom>
          <a:noFill/>
          <a:ln/>
        </p:spPr>
        <p:txBody>
          <a:bodyPr wrap="square" lIns="0" tIns="0" rIns="0" bIns="0" rtlCol="0" anchor="ctr"/>
          <a:lstStyle/>
          <a:p>
            <a:pPr marL="0" indent="0" algn="r">
              <a:buNone/>
            </a:pPr>
            <a:r>
              <a:rPr lang="en-US" sz="1200" dirty="0">
                <a:solidFill>
                  <a:schemeClr val="tx1"/>
                </a:solidFill>
              </a:rPr>
              <a:t>Marketplace APIs</a:t>
            </a:r>
            <a:endParaRPr lang="en-US" sz="1200" dirty="0"/>
          </a:p>
        </p:txBody>
      </p:sp>
      <p:sp>
        <p:nvSpPr>
          <p:cNvPr id="21" name="Stakeholder App stores"/>
          <p:cNvSpPr/>
          <p:nvPr/>
        </p:nvSpPr>
        <p:spPr>
          <a:xfrm>
            <a:off x="4988052" y="4813402"/>
            <a:ext cx="164592" cy="164592"/>
          </a:xfrm>
          <a:prstGeom prst="ellipse">
            <a:avLst/>
          </a:prstGeom>
          <a:solidFill>
            <a:schemeClr val="accent1"/>
          </a:solidFill>
          <a:ln w="12700">
            <a:solidFill>
              <a:schemeClr val="bg1"/>
            </a:solidFill>
            <a:prstDash val="solid"/>
          </a:ln>
        </p:spPr>
        <p:txBody>
          <a:bodyPr/>
          <a:lstStyle/>
          <a:p>
            <a:endParaRPr lang="en-GB"/>
          </a:p>
        </p:txBody>
      </p:sp>
      <p:sp>
        <p:nvSpPr>
          <p:cNvPr id="22" name="Text 19"/>
          <p:cNvSpPr txBox="1"/>
          <p:nvPr/>
        </p:nvSpPr>
        <p:spPr>
          <a:xfrm>
            <a:off x="3095244" y="4785970"/>
            <a:ext cx="1828800" cy="219456"/>
          </a:xfrm>
          <a:prstGeom prst="rect">
            <a:avLst/>
          </a:prstGeom>
          <a:noFill/>
          <a:ln/>
        </p:spPr>
        <p:txBody>
          <a:bodyPr wrap="square" lIns="0" tIns="0" rIns="0" bIns="0" rtlCol="0" anchor="ctr"/>
          <a:lstStyle/>
          <a:p>
            <a:pPr marL="0" indent="0" algn="r">
              <a:buNone/>
            </a:pPr>
            <a:r>
              <a:rPr lang="en-US" sz="1200" dirty="0">
                <a:solidFill>
                  <a:schemeClr val="tx1"/>
                </a:solidFill>
              </a:rPr>
              <a:t>App stores</a:t>
            </a:r>
            <a:endParaRPr lang="en-US" sz="1200" dirty="0"/>
          </a:p>
        </p:txBody>
      </p:sp>
      <p:sp>
        <p:nvSpPr>
          <p:cNvPr id="23" name="Stakeholder Readers"/>
          <p:cNvSpPr/>
          <p:nvPr/>
        </p:nvSpPr>
        <p:spPr>
          <a:xfrm>
            <a:off x="1600200" y="2139696"/>
            <a:ext cx="164592" cy="164592"/>
          </a:xfrm>
          <a:prstGeom prst="ellipse">
            <a:avLst/>
          </a:prstGeom>
          <a:solidFill>
            <a:schemeClr val="accent1"/>
          </a:solidFill>
          <a:ln w="12700">
            <a:solidFill>
              <a:schemeClr val="bg1"/>
            </a:solidFill>
            <a:prstDash val="solid"/>
          </a:ln>
        </p:spPr>
        <p:txBody>
          <a:bodyPr/>
          <a:lstStyle/>
          <a:p>
            <a:endParaRPr lang="en-GB"/>
          </a:p>
        </p:txBody>
      </p:sp>
      <p:sp>
        <p:nvSpPr>
          <p:cNvPr id="24" name="Text 21"/>
          <p:cNvSpPr txBox="1"/>
          <p:nvPr/>
        </p:nvSpPr>
        <p:spPr>
          <a:xfrm>
            <a:off x="1828800" y="2112264"/>
            <a:ext cx="1828800" cy="219456"/>
          </a:xfrm>
          <a:prstGeom prst="rect">
            <a:avLst/>
          </a:prstGeom>
          <a:noFill/>
          <a:ln/>
        </p:spPr>
        <p:txBody>
          <a:bodyPr wrap="square" lIns="0" tIns="0" rIns="0" bIns="0" rtlCol="0" anchor="ctr"/>
          <a:lstStyle/>
          <a:p>
            <a:pPr marL="0" indent="0">
              <a:buNone/>
            </a:pPr>
            <a:r>
              <a:rPr lang="en-US" sz="1200" dirty="0">
                <a:solidFill>
                  <a:schemeClr val="tx1"/>
                </a:solidFill>
              </a:rPr>
              <a:t>Readers</a:t>
            </a:r>
            <a:endParaRPr lang="en-US" sz="1200" dirty="0"/>
          </a:p>
        </p:txBody>
      </p:sp>
      <p:sp>
        <p:nvSpPr>
          <p:cNvPr id="25" name="Stakeholder Local bookstores"/>
          <p:cNvSpPr/>
          <p:nvPr/>
        </p:nvSpPr>
        <p:spPr>
          <a:xfrm>
            <a:off x="1600200" y="2926080"/>
            <a:ext cx="164592" cy="164592"/>
          </a:xfrm>
          <a:prstGeom prst="ellipse">
            <a:avLst/>
          </a:prstGeom>
          <a:solidFill>
            <a:schemeClr val="accent1"/>
          </a:solidFill>
          <a:ln w="12700">
            <a:solidFill>
              <a:schemeClr val="bg1"/>
            </a:solidFill>
            <a:prstDash val="solid"/>
          </a:ln>
        </p:spPr>
        <p:txBody>
          <a:bodyPr/>
          <a:lstStyle/>
          <a:p>
            <a:endParaRPr lang="en-GB"/>
          </a:p>
        </p:txBody>
      </p:sp>
      <p:sp>
        <p:nvSpPr>
          <p:cNvPr id="26" name="Text 23"/>
          <p:cNvSpPr txBox="1"/>
          <p:nvPr/>
        </p:nvSpPr>
        <p:spPr>
          <a:xfrm>
            <a:off x="1828800" y="2898648"/>
            <a:ext cx="1828800" cy="219456"/>
          </a:xfrm>
          <a:prstGeom prst="rect">
            <a:avLst/>
          </a:prstGeom>
          <a:noFill/>
          <a:ln/>
        </p:spPr>
        <p:txBody>
          <a:bodyPr wrap="square" lIns="0" tIns="0" rIns="0" bIns="0" rtlCol="0" anchor="ctr"/>
          <a:lstStyle/>
          <a:p>
            <a:pPr marL="0" indent="0">
              <a:buNone/>
            </a:pPr>
            <a:r>
              <a:rPr lang="en-US" sz="1200" dirty="0">
                <a:solidFill>
                  <a:schemeClr val="tx1"/>
                </a:solidFill>
              </a:rPr>
              <a:t>Local bookstores</a:t>
            </a:r>
            <a:endParaRPr lang="en-US" sz="1200" dirty="0"/>
          </a:p>
        </p:txBody>
      </p:sp>
      <p:sp>
        <p:nvSpPr>
          <p:cNvPr id="27" name="Stakeholder Authors &amp; publishers"/>
          <p:cNvSpPr/>
          <p:nvPr/>
        </p:nvSpPr>
        <p:spPr>
          <a:xfrm>
            <a:off x="1339596" y="3397910"/>
            <a:ext cx="164592" cy="164592"/>
          </a:xfrm>
          <a:prstGeom prst="ellipse">
            <a:avLst/>
          </a:prstGeom>
          <a:solidFill>
            <a:schemeClr val="accent1"/>
          </a:solidFill>
          <a:ln w="12700">
            <a:solidFill>
              <a:schemeClr val="bg1"/>
            </a:solidFill>
            <a:prstDash val="solid"/>
          </a:ln>
        </p:spPr>
        <p:txBody>
          <a:bodyPr/>
          <a:lstStyle/>
          <a:p>
            <a:endParaRPr lang="en-GB"/>
          </a:p>
        </p:txBody>
      </p:sp>
      <p:sp>
        <p:nvSpPr>
          <p:cNvPr id="28" name="Text 25"/>
          <p:cNvSpPr txBox="1"/>
          <p:nvPr/>
        </p:nvSpPr>
        <p:spPr>
          <a:xfrm>
            <a:off x="1568196" y="3370478"/>
            <a:ext cx="1828800" cy="219456"/>
          </a:xfrm>
          <a:prstGeom prst="rect">
            <a:avLst/>
          </a:prstGeom>
          <a:noFill/>
          <a:ln/>
        </p:spPr>
        <p:txBody>
          <a:bodyPr wrap="square" lIns="0" tIns="0" rIns="0" bIns="0" rtlCol="0" anchor="ctr"/>
          <a:lstStyle/>
          <a:p>
            <a:pPr marL="0" indent="0">
              <a:buNone/>
            </a:pPr>
            <a:r>
              <a:rPr lang="en-US" sz="1200" dirty="0">
                <a:solidFill>
                  <a:schemeClr val="tx1"/>
                </a:solidFill>
              </a:rPr>
              <a:t>Authors &amp; publishers</a:t>
            </a:r>
            <a:endParaRPr lang="en-US" sz="1200" dirty="0"/>
          </a:p>
        </p:txBody>
      </p:sp>
      <p:sp>
        <p:nvSpPr>
          <p:cNvPr id="29" name="Stakeholder Review sites"/>
          <p:cNvSpPr/>
          <p:nvPr/>
        </p:nvSpPr>
        <p:spPr>
          <a:xfrm>
            <a:off x="1339596" y="4892040"/>
            <a:ext cx="164592" cy="164592"/>
          </a:xfrm>
          <a:prstGeom prst="ellipse">
            <a:avLst/>
          </a:prstGeom>
          <a:solidFill>
            <a:schemeClr val="accent1"/>
          </a:solidFill>
          <a:ln w="12700">
            <a:solidFill>
              <a:schemeClr val="bg1"/>
            </a:solidFill>
            <a:prstDash val="solid"/>
          </a:ln>
        </p:spPr>
        <p:txBody>
          <a:bodyPr/>
          <a:lstStyle/>
          <a:p>
            <a:endParaRPr lang="en-GB"/>
          </a:p>
        </p:txBody>
      </p:sp>
      <p:sp>
        <p:nvSpPr>
          <p:cNvPr id="30" name="Text 27"/>
          <p:cNvSpPr txBox="1"/>
          <p:nvPr/>
        </p:nvSpPr>
        <p:spPr>
          <a:xfrm>
            <a:off x="1568196" y="4864608"/>
            <a:ext cx="1828800" cy="219456"/>
          </a:xfrm>
          <a:prstGeom prst="rect">
            <a:avLst/>
          </a:prstGeom>
          <a:noFill/>
          <a:ln/>
        </p:spPr>
        <p:txBody>
          <a:bodyPr wrap="square" lIns="0" tIns="0" rIns="0" bIns="0" rtlCol="0" anchor="ctr"/>
          <a:lstStyle/>
          <a:p>
            <a:pPr marL="0" indent="0">
              <a:buNone/>
            </a:pPr>
            <a:r>
              <a:rPr lang="en-US" sz="1200" dirty="0">
                <a:solidFill>
                  <a:schemeClr val="tx1"/>
                </a:solidFill>
              </a:rPr>
              <a:t>Review sites</a:t>
            </a:r>
            <a:endParaRPr lang="en-US" sz="1200" dirty="0"/>
          </a:p>
        </p:txBody>
      </p:sp>
      <p:sp>
        <p:nvSpPr>
          <p:cNvPr id="31" name="Stakeholder Payment partners"/>
          <p:cNvSpPr/>
          <p:nvPr/>
        </p:nvSpPr>
        <p:spPr>
          <a:xfrm>
            <a:off x="1600200" y="5206594"/>
            <a:ext cx="164592" cy="164592"/>
          </a:xfrm>
          <a:prstGeom prst="ellipse">
            <a:avLst/>
          </a:prstGeom>
          <a:solidFill>
            <a:schemeClr val="accent1"/>
          </a:solidFill>
          <a:ln w="12700">
            <a:solidFill>
              <a:schemeClr val="bg1"/>
            </a:solidFill>
            <a:prstDash val="solid"/>
          </a:ln>
        </p:spPr>
        <p:txBody>
          <a:bodyPr/>
          <a:lstStyle/>
          <a:p>
            <a:endParaRPr lang="en-GB"/>
          </a:p>
        </p:txBody>
      </p:sp>
      <p:sp>
        <p:nvSpPr>
          <p:cNvPr id="32" name="Text 29"/>
          <p:cNvSpPr txBox="1"/>
          <p:nvPr/>
        </p:nvSpPr>
        <p:spPr>
          <a:xfrm>
            <a:off x="1828800" y="5179162"/>
            <a:ext cx="1828800" cy="219456"/>
          </a:xfrm>
          <a:prstGeom prst="rect">
            <a:avLst/>
          </a:prstGeom>
          <a:noFill/>
          <a:ln/>
        </p:spPr>
        <p:txBody>
          <a:bodyPr wrap="square" lIns="0" tIns="0" rIns="0" bIns="0" rtlCol="0" anchor="ctr"/>
          <a:lstStyle/>
          <a:p>
            <a:pPr marL="0" indent="0">
              <a:buNone/>
            </a:pPr>
            <a:r>
              <a:rPr lang="en-US" sz="1200" dirty="0">
                <a:solidFill>
                  <a:schemeClr val="tx1"/>
                </a:solidFill>
              </a:rPr>
              <a:t>Payment partners</a:t>
            </a:r>
            <a:endParaRPr lang="en-US" sz="1200" dirty="0"/>
          </a:p>
        </p:txBody>
      </p:sp>
      <p:sp>
        <p:nvSpPr>
          <p:cNvPr id="33" name="Strategy Manage Closely"/>
          <p:cNvSpPr/>
          <p:nvPr/>
        </p:nvSpPr>
        <p:spPr>
          <a:xfrm>
            <a:off x="6400800" y="1554480"/>
            <a:ext cx="5148072" cy="1051560"/>
          </a:xfrm>
          <a:prstGeom prst="roundRect">
            <a:avLst>
              <a:gd name="adj" fmla="val 10435"/>
            </a:avLst>
          </a:prstGeom>
          <a:solidFill>
            <a:schemeClr val="bg2"/>
          </a:solidFill>
          <a:ln w="9525">
            <a:solidFill>
              <a:schemeClr val="tx2"/>
            </a:solidFill>
            <a:prstDash val="solid"/>
          </a:ln>
        </p:spPr>
        <p:txBody>
          <a:bodyPr/>
          <a:lstStyle/>
          <a:p>
            <a:endParaRPr lang="en-GB"/>
          </a:p>
        </p:txBody>
      </p:sp>
      <p:sp>
        <p:nvSpPr>
          <p:cNvPr id="34" name="Text 31"/>
          <p:cNvSpPr txBox="1"/>
          <p:nvPr/>
        </p:nvSpPr>
        <p:spPr>
          <a:xfrm>
            <a:off x="6629400" y="1664208"/>
            <a:ext cx="4690872" cy="274320"/>
          </a:xfrm>
          <a:prstGeom prst="rect">
            <a:avLst/>
          </a:prstGeom>
          <a:noFill/>
          <a:ln/>
        </p:spPr>
        <p:txBody>
          <a:bodyPr wrap="square" lIns="0" tIns="0" rIns="0" bIns="0" rtlCol="0" anchor="t"/>
          <a:lstStyle/>
          <a:p>
            <a:pPr marL="0" indent="0">
              <a:buNone/>
            </a:pPr>
            <a:r>
              <a:rPr lang="en-US" sz="1600" b="1" dirty="0">
                <a:solidFill>
                  <a:schemeClr val="accent1"/>
                </a:solidFill>
              </a:rPr>
              <a:t>Manage Closely</a:t>
            </a:r>
            <a:r>
              <a:rPr lang="en-US" sz="1200" dirty="0">
                <a:solidFill>
                  <a:schemeClr val="accent2"/>
                </a:solidFill>
              </a:rPr>
              <a:t>   High power · High interest</a:t>
            </a:r>
            <a:endParaRPr lang="en-US" sz="1600" dirty="0"/>
          </a:p>
        </p:txBody>
      </p:sp>
      <p:sp>
        <p:nvSpPr>
          <p:cNvPr id="35" name="Text 32"/>
          <p:cNvSpPr txBox="1"/>
          <p:nvPr/>
        </p:nvSpPr>
        <p:spPr>
          <a:xfrm>
            <a:off x="6629400" y="1984248"/>
            <a:ext cx="4690872" cy="548640"/>
          </a:xfrm>
          <a:prstGeom prst="rect">
            <a:avLst/>
          </a:prstGeom>
          <a:noFill/>
          <a:ln/>
        </p:spPr>
        <p:txBody>
          <a:bodyPr wrap="square" lIns="0" tIns="0" rIns="0" bIns="0" rtlCol="0" anchor="t"/>
          <a:lstStyle/>
          <a:p>
            <a:pPr marL="0" indent="0">
              <a:buNone/>
            </a:pPr>
            <a:r>
              <a:rPr lang="en-US" sz="1400" b="1" dirty="0">
                <a:solidFill>
                  <a:schemeClr val="tx1"/>
                </a:solidFill>
              </a:rPr>
              <a:t>Development team, Instructor</a:t>
            </a:r>
            <a:r>
              <a:rPr lang="en-US" sz="1400" dirty="0">
                <a:solidFill>
                  <a:schemeClr val="tx1"/>
                </a:solidFill>
              </a:rPr>
              <a:t> — Frequent communication, involve in decisions</a:t>
            </a:r>
            <a:endParaRPr lang="en-US" sz="1400" dirty="0"/>
          </a:p>
        </p:txBody>
      </p:sp>
      <p:sp>
        <p:nvSpPr>
          <p:cNvPr id="36" name="Strategy Keep Satisfied"/>
          <p:cNvSpPr/>
          <p:nvPr/>
        </p:nvSpPr>
        <p:spPr>
          <a:xfrm>
            <a:off x="6400800" y="2743200"/>
            <a:ext cx="5148072" cy="1051560"/>
          </a:xfrm>
          <a:prstGeom prst="roundRect">
            <a:avLst>
              <a:gd name="adj" fmla="val 10435"/>
            </a:avLst>
          </a:prstGeom>
          <a:solidFill>
            <a:schemeClr val="bg2"/>
          </a:solidFill>
          <a:ln w="9525">
            <a:solidFill>
              <a:schemeClr val="tx2"/>
            </a:solidFill>
            <a:prstDash val="solid"/>
          </a:ln>
        </p:spPr>
        <p:txBody>
          <a:bodyPr/>
          <a:lstStyle/>
          <a:p>
            <a:endParaRPr lang="en-GB"/>
          </a:p>
        </p:txBody>
      </p:sp>
      <p:sp>
        <p:nvSpPr>
          <p:cNvPr id="37" name="Text 34"/>
          <p:cNvSpPr txBox="1"/>
          <p:nvPr/>
        </p:nvSpPr>
        <p:spPr>
          <a:xfrm>
            <a:off x="6629400" y="2852928"/>
            <a:ext cx="4690872" cy="274320"/>
          </a:xfrm>
          <a:prstGeom prst="rect">
            <a:avLst/>
          </a:prstGeom>
          <a:noFill/>
          <a:ln/>
        </p:spPr>
        <p:txBody>
          <a:bodyPr wrap="square" lIns="0" tIns="0" rIns="0" bIns="0" rtlCol="0" anchor="t"/>
          <a:lstStyle/>
          <a:p>
            <a:pPr marL="0" indent="0">
              <a:buNone/>
            </a:pPr>
            <a:r>
              <a:rPr lang="en-US" sz="1600" b="1" dirty="0">
                <a:solidFill>
                  <a:schemeClr val="accent1"/>
                </a:solidFill>
              </a:rPr>
              <a:t>Keep Satisfied</a:t>
            </a:r>
            <a:r>
              <a:rPr lang="en-US" sz="1200" dirty="0">
                <a:solidFill>
                  <a:schemeClr val="accent2"/>
                </a:solidFill>
              </a:rPr>
              <a:t>   High power · Low interest</a:t>
            </a:r>
            <a:endParaRPr lang="en-US" sz="1600" dirty="0"/>
          </a:p>
        </p:txBody>
      </p:sp>
      <p:sp>
        <p:nvSpPr>
          <p:cNvPr id="38" name="Text 35"/>
          <p:cNvSpPr txBox="1"/>
          <p:nvPr/>
        </p:nvSpPr>
        <p:spPr>
          <a:xfrm>
            <a:off x="6629400" y="3172968"/>
            <a:ext cx="4690872" cy="548640"/>
          </a:xfrm>
          <a:prstGeom prst="rect">
            <a:avLst/>
          </a:prstGeom>
          <a:noFill/>
          <a:ln/>
        </p:spPr>
        <p:txBody>
          <a:bodyPr wrap="square" lIns="0" tIns="0" rIns="0" bIns="0" rtlCol="0" anchor="t"/>
          <a:lstStyle/>
          <a:p>
            <a:pPr marL="0" indent="0">
              <a:buNone/>
            </a:pPr>
            <a:r>
              <a:rPr lang="en-US" sz="1400" b="1" dirty="0">
                <a:solidFill>
                  <a:schemeClr val="tx1"/>
                </a:solidFill>
              </a:rPr>
              <a:t>Marketplaces &amp; APIs, App stores</a:t>
            </a:r>
            <a:r>
              <a:rPr lang="en-US" sz="1400" dirty="0">
                <a:solidFill>
                  <a:schemeClr val="tx1"/>
                </a:solidFill>
              </a:rPr>
              <a:t> — Meet requirements, monitor policy changes</a:t>
            </a:r>
            <a:endParaRPr lang="en-US" sz="1400" dirty="0"/>
          </a:p>
        </p:txBody>
      </p:sp>
      <p:sp>
        <p:nvSpPr>
          <p:cNvPr id="39" name="Strategy Keep Informed"/>
          <p:cNvSpPr/>
          <p:nvPr/>
        </p:nvSpPr>
        <p:spPr>
          <a:xfrm>
            <a:off x="6400800" y="3931920"/>
            <a:ext cx="5148072" cy="1051560"/>
          </a:xfrm>
          <a:prstGeom prst="roundRect">
            <a:avLst>
              <a:gd name="adj" fmla="val 10435"/>
            </a:avLst>
          </a:prstGeom>
          <a:solidFill>
            <a:schemeClr val="bg2"/>
          </a:solidFill>
          <a:ln w="9525">
            <a:solidFill>
              <a:schemeClr val="tx2"/>
            </a:solidFill>
            <a:prstDash val="solid"/>
          </a:ln>
        </p:spPr>
        <p:txBody>
          <a:bodyPr/>
          <a:lstStyle/>
          <a:p>
            <a:endParaRPr lang="en-GB"/>
          </a:p>
        </p:txBody>
      </p:sp>
      <p:sp>
        <p:nvSpPr>
          <p:cNvPr id="40" name="Text 37"/>
          <p:cNvSpPr txBox="1"/>
          <p:nvPr/>
        </p:nvSpPr>
        <p:spPr>
          <a:xfrm>
            <a:off x="6629400" y="4041648"/>
            <a:ext cx="4690872" cy="274320"/>
          </a:xfrm>
          <a:prstGeom prst="rect">
            <a:avLst/>
          </a:prstGeom>
          <a:noFill/>
          <a:ln/>
        </p:spPr>
        <p:txBody>
          <a:bodyPr wrap="square" lIns="0" tIns="0" rIns="0" bIns="0" rtlCol="0" anchor="t"/>
          <a:lstStyle/>
          <a:p>
            <a:pPr marL="0" indent="0">
              <a:buNone/>
            </a:pPr>
            <a:r>
              <a:rPr lang="en-US" sz="1600" b="1" dirty="0">
                <a:solidFill>
                  <a:schemeClr val="accent1"/>
                </a:solidFill>
              </a:rPr>
              <a:t>Keep Informed</a:t>
            </a:r>
            <a:r>
              <a:rPr lang="en-US" sz="1200" dirty="0">
                <a:solidFill>
                  <a:schemeClr val="accent2"/>
                </a:solidFill>
              </a:rPr>
              <a:t>   Low power · High interest</a:t>
            </a:r>
            <a:endParaRPr lang="en-US" sz="1600" dirty="0"/>
          </a:p>
        </p:txBody>
      </p:sp>
      <p:sp>
        <p:nvSpPr>
          <p:cNvPr id="41" name="Text 38"/>
          <p:cNvSpPr txBox="1"/>
          <p:nvPr/>
        </p:nvSpPr>
        <p:spPr>
          <a:xfrm>
            <a:off x="6629400" y="4361688"/>
            <a:ext cx="4690872" cy="548640"/>
          </a:xfrm>
          <a:prstGeom prst="rect">
            <a:avLst/>
          </a:prstGeom>
          <a:noFill/>
          <a:ln/>
        </p:spPr>
        <p:txBody>
          <a:bodyPr wrap="square" lIns="0" tIns="0" rIns="0" bIns="0" rtlCol="0" anchor="t"/>
          <a:lstStyle/>
          <a:p>
            <a:pPr marL="0" indent="0">
              <a:buNone/>
            </a:pPr>
            <a:r>
              <a:rPr lang="en-US" sz="1400" b="1" dirty="0">
                <a:solidFill>
                  <a:schemeClr val="tx1"/>
                </a:solidFill>
              </a:rPr>
              <a:t>Readers, Local bookstores, Authors &amp; publishers</a:t>
            </a:r>
            <a:r>
              <a:rPr lang="en-US" sz="1400" dirty="0">
                <a:solidFill>
                  <a:schemeClr val="tx1"/>
                </a:solidFill>
              </a:rPr>
              <a:t> — Regular updates, feedback channels</a:t>
            </a:r>
            <a:endParaRPr lang="en-US" sz="1400" dirty="0"/>
          </a:p>
        </p:txBody>
      </p:sp>
      <p:sp>
        <p:nvSpPr>
          <p:cNvPr id="42" name="Strategy Monitor"/>
          <p:cNvSpPr/>
          <p:nvPr/>
        </p:nvSpPr>
        <p:spPr>
          <a:xfrm>
            <a:off x="6400800" y="5120640"/>
            <a:ext cx="5148072" cy="1051560"/>
          </a:xfrm>
          <a:prstGeom prst="roundRect">
            <a:avLst>
              <a:gd name="adj" fmla="val 10435"/>
            </a:avLst>
          </a:prstGeom>
          <a:solidFill>
            <a:schemeClr val="bg2"/>
          </a:solidFill>
          <a:ln w="9525">
            <a:solidFill>
              <a:schemeClr val="tx2"/>
            </a:solidFill>
            <a:prstDash val="solid"/>
          </a:ln>
        </p:spPr>
        <p:txBody>
          <a:bodyPr/>
          <a:lstStyle/>
          <a:p>
            <a:endParaRPr lang="en-GB"/>
          </a:p>
        </p:txBody>
      </p:sp>
      <p:sp>
        <p:nvSpPr>
          <p:cNvPr id="43" name="Text 40"/>
          <p:cNvSpPr txBox="1"/>
          <p:nvPr/>
        </p:nvSpPr>
        <p:spPr>
          <a:xfrm>
            <a:off x="6629400" y="5230368"/>
            <a:ext cx="4690872" cy="274320"/>
          </a:xfrm>
          <a:prstGeom prst="rect">
            <a:avLst/>
          </a:prstGeom>
          <a:noFill/>
          <a:ln/>
        </p:spPr>
        <p:txBody>
          <a:bodyPr wrap="square" lIns="0" tIns="0" rIns="0" bIns="0" rtlCol="0" anchor="t"/>
          <a:lstStyle/>
          <a:p>
            <a:pPr marL="0" indent="0">
              <a:buNone/>
            </a:pPr>
            <a:r>
              <a:rPr lang="en-US" sz="1600" b="1" dirty="0">
                <a:solidFill>
                  <a:schemeClr val="accent1"/>
                </a:solidFill>
              </a:rPr>
              <a:t>Monitor</a:t>
            </a:r>
            <a:r>
              <a:rPr lang="en-US" sz="1200" dirty="0">
                <a:solidFill>
                  <a:schemeClr val="accent2"/>
                </a:solidFill>
              </a:rPr>
              <a:t>   Low power · Low interest</a:t>
            </a:r>
            <a:endParaRPr lang="en-US" sz="1600" dirty="0"/>
          </a:p>
        </p:txBody>
      </p:sp>
      <p:sp>
        <p:nvSpPr>
          <p:cNvPr id="44" name="Text 41"/>
          <p:cNvSpPr txBox="1"/>
          <p:nvPr/>
        </p:nvSpPr>
        <p:spPr>
          <a:xfrm>
            <a:off x="6629400" y="5550408"/>
            <a:ext cx="4690872" cy="548640"/>
          </a:xfrm>
          <a:prstGeom prst="rect">
            <a:avLst/>
          </a:prstGeom>
          <a:noFill/>
          <a:ln/>
        </p:spPr>
        <p:txBody>
          <a:bodyPr wrap="square" lIns="0" tIns="0" rIns="0" bIns="0" rtlCol="0" anchor="t"/>
          <a:lstStyle/>
          <a:p>
            <a:pPr marL="0" indent="0">
              <a:buNone/>
            </a:pPr>
            <a:r>
              <a:rPr lang="en-US" sz="1400" b="1" dirty="0">
                <a:solidFill>
                  <a:schemeClr val="tx1"/>
                </a:solidFill>
              </a:rPr>
              <a:t>Review sites, Payment/affiliate partners</a:t>
            </a:r>
            <a:r>
              <a:rPr lang="en-US" sz="1400" dirty="0">
                <a:solidFill>
                  <a:schemeClr val="tx1"/>
                </a:solidFill>
              </a:rPr>
              <a:t> — Periodic check, no active management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280160"/>
            <a:ext cx="4572000" cy="1463040"/>
          </a:xfrm>
          <a:prstGeom prst="rect">
            <a:avLst/>
          </a:prstGeom>
          <a:noFill/>
          <a:ln/>
        </p:spPr>
        <p:txBody>
          <a:bodyPr wrap="square" lIns="0" tIns="0" rIns="0" bIns="0" rtlCol="0" anchor="ctr"/>
          <a:lstStyle/>
          <a:p>
            <a:pPr marL="0" indent="0" algn="l">
              <a:buNone/>
            </a:pPr>
            <a:r>
              <a:rPr lang="en-US" sz="9600" b="1" dirty="0">
                <a:solidFill>
                  <a:schemeClr val="accent1"/>
                </a:solidFill>
              </a:rPr>
              <a:t>03</a:t>
            </a:r>
            <a:endParaRPr lang="en-US" sz="9600" dirty="0"/>
          </a:p>
        </p:txBody>
      </p:sp>
      <p:sp>
        <p:nvSpPr>
          <p:cNvPr id="3" name="Text 1"/>
          <p:cNvSpPr>
            <a:spLocks noGrp="1"/>
          </p:cNvSpPr>
          <p:nvPr>
            <p:ph type="title" idx="102" hasCustomPrompt="1"/>
          </p:nvPr>
        </p:nvSpPr>
        <p:spPr>
          <a:xfrm>
            <a:off x="822960" y="3108960"/>
            <a:ext cx="5852160" cy="2194560"/>
          </a:xfrm>
          <a:prstGeom prst="rect">
            <a:avLst/>
          </a:prstGeom>
          <a:noFill/>
          <a:ln/>
        </p:spPr>
        <p:txBody>
          <a:bodyPr wrap="square" lIns="0" tIns="0" rIns="0" bIns="0" rtlCol="0" anchor="t"/>
          <a:lstStyle/>
          <a:p>
            <a:pPr marL="0" indent="0" algn="l">
              <a:buNone/>
            </a:pPr>
            <a:r>
              <a:rPr lang="en-US" sz="4400" b="1" dirty="0">
                <a:solidFill>
                  <a:schemeClr val="tx1"/>
                </a:solidFill>
              </a:rPr>
              <a:t>Personas</a:t>
            </a:r>
            <a:endParaRPr lang="en-US" sz="4400" dirty="0"/>
          </a:p>
        </p:txBody>
      </p:sp>
      <p:sp>
        <p:nvSpPr>
          <p:cNvPr id="4" name="Text 1"/>
          <p:cNvSpPr>
            <a:spLocks noGrp="1"/>
          </p:cNvSpPr>
          <p:nvPr>
            <p:ph type="body" idx="103" hasCustomPrompt="1"/>
          </p:nvPr>
        </p:nvSpPr>
        <p:spPr>
          <a:xfrm>
            <a:off x="822960" y="5577840"/>
            <a:ext cx="5852160" cy="274320"/>
          </a:xfrm>
          <a:prstGeom prst="rect">
            <a:avLst/>
          </a:prstGeom>
          <a:noFill/>
          <a:ln/>
        </p:spPr>
        <p:txBody>
          <a:bodyPr wrap="square" lIns="0" tIns="0" rIns="0" bIns="0" rtlCol="0" anchor="ctr"/>
          <a:lstStyle/>
          <a:p>
            <a:pPr marL="0" indent="0" algn="l">
              <a:buNone/>
            </a:pPr>
            <a:r>
              <a:rPr lang="en-US" sz="1400" b="1" kern="0" spc="150" dirty="0">
                <a:solidFill>
                  <a:schemeClr val="accent2"/>
                </a:solidFill>
              </a:rPr>
              <a:t>PRESENTER  ·  HOZYFA BATISHA  ·  ~8 MIN</a:t>
            </a:r>
            <a:endParaRPr lang="en-US" sz="1400" dirty="0"/>
          </a:p>
        </p:txBody>
      </p:sp>
      <p:sp>
        <p:nvSpPr>
          <p:cNvPr id="6" name="Text 3"/>
          <p:cNvSpPr txBox="1"/>
          <p:nvPr/>
        </p:nvSpPr>
        <p:spPr>
          <a:xfrm>
            <a:off x="7223760" y="1325880"/>
            <a:ext cx="4297680" cy="228600"/>
          </a:xfrm>
          <a:prstGeom prst="rect">
            <a:avLst/>
          </a:prstGeom>
          <a:noFill/>
          <a:ln/>
        </p:spPr>
        <p:txBody>
          <a:bodyPr wrap="square" lIns="0" tIns="0" rIns="0" bIns="0" rtlCol="0" anchor="t"/>
          <a:lstStyle/>
          <a:p>
            <a:pPr marL="0" indent="0">
              <a:buNone/>
            </a:pPr>
            <a:r>
              <a:rPr lang="en-US" sz="1200" b="1" kern="0" spc="150" dirty="0">
                <a:solidFill>
                  <a:schemeClr val="accent2"/>
                </a:solidFill>
              </a:rPr>
              <a:t>AGENDA</a:t>
            </a:r>
            <a:endParaRPr lang="en-US" sz="1200" dirty="0"/>
          </a:p>
        </p:txBody>
      </p:sp>
      <p:sp>
        <p:nvSpPr>
          <p:cNvPr id="7" name="Text 4"/>
          <p:cNvSpPr txBox="1"/>
          <p:nvPr/>
        </p:nvSpPr>
        <p:spPr>
          <a:xfrm>
            <a:off x="7406640" y="169164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01</a:t>
            </a:r>
            <a:endParaRPr lang="en-US" sz="1600" dirty="0"/>
          </a:p>
        </p:txBody>
      </p:sp>
      <p:sp>
        <p:nvSpPr>
          <p:cNvPr id="8" name="Text 5"/>
          <p:cNvSpPr txBox="1"/>
          <p:nvPr/>
        </p:nvSpPr>
        <p:spPr>
          <a:xfrm>
            <a:off x="7955280" y="169164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Why User-Centred Design?</a:t>
            </a:r>
            <a:endParaRPr lang="en-US" sz="1600" dirty="0"/>
          </a:p>
        </p:txBody>
      </p:sp>
      <p:sp>
        <p:nvSpPr>
          <p:cNvPr id="9" name="Text 6"/>
          <p:cNvSpPr txBox="1"/>
          <p:nvPr/>
        </p:nvSpPr>
        <p:spPr>
          <a:xfrm>
            <a:off x="7406640" y="233172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02</a:t>
            </a:r>
            <a:endParaRPr lang="en-US" sz="1600" dirty="0"/>
          </a:p>
        </p:txBody>
      </p:sp>
      <p:sp>
        <p:nvSpPr>
          <p:cNvPr id="10" name="Text 7"/>
          <p:cNvSpPr txBox="1"/>
          <p:nvPr/>
        </p:nvSpPr>
        <p:spPr>
          <a:xfrm>
            <a:off x="7955280" y="233172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Users, Stakeholders &amp; Research</a:t>
            </a:r>
            <a:endParaRPr lang="en-US" sz="1600" dirty="0"/>
          </a:p>
        </p:txBody>
      </p:sp>
      <p:sp>
        <p:nvSpPr>
          <p:cNvPr id="11" name="Current section"/>
          <p:cNvSpPr/>
          <p:nvPr/>
        </p:nvSpPr>
        <p:spPr>
          <a:xfrm>
            <a:off x="7223760" y="2916936"/>
            <a:ext cx="4325112" cy="548640"/>
          </a:xfrm>
          <a:prstGeom prst="roundRect">
            <a:avLst>
              <a:gd name="adj" fmla="val 20000"/>
            </a:avLst>
          </a:prstGeom>
          <a:solidFill>
            <a:schemeClr val="bg2"/>
          </a:solidFill>
          <a:ln w="15875">
            <a:solidFill>
              <a:schemeClr val="accent1"/>
            </a:solidFill>
            <a:prstDash val="solid"/>
          </a:ln>
        </p:spPr>
        <p:txBody>
          <a:bodyPr/>
          <a:lstStyle/>
          <a:p>
            <a:endParaRPr lang="en-GB"/>
          </a:p>
        </p:txBody>
      </p:sp>
      <p:sp>
        <p:nvSpPr>
          <p:cNvPr id="12" name="Text 9"/>
          <p:cNvSpPr txBox="1"/>
          <p:nvPr/>
        </p:nvSpPr>
        <p:spPr>
          <a:xfrm>
            <a:off x="7406640" y="2971800"/>
            <a:ext cx="457200" cy="438912"/>
          </a:xfrm>
          <a:prstGeom prst="rect">
            <a:avLst/>
          </a:prstGeom>
          <a:noFill/>
          <a:ln/>
        </p:spPr>
        <p:txBody>
          <a:bodyPr wrap="square" lIns="0" tIns="0" rIns="0" bIns="0" rtlCol="0" anchor="ctr"/>
          <a:lstStyle/>
          <a:p>
            <a:pPr marL="0" indent="0">
              <a:buNone/>
            </a:pPr>
            <a:r>
              <a:rPr lang="en-US" sz="1600" b="1" dirty="0">
                <a:solidFill>
                  <a:schemeClr val="accent1"/>
                </a:solidFill>
              </a:rPr>
              <a:t>03</a:t>
            </a:r>
            <a:endParaRPr lang="en-US" sz="1600" dirty="0"/>
          </a:p>
        </p:txBody>
      </p:sp>
      <p:sp>
        <p:nvSpPr>
          <p:cNvPr id="13" name="Text 10"/>
          <p:cNvSpPr txBox="1"/>
          <p:nvPr/>
        </p:nvSpPr>
        <p:spPr>
          <a:xfrm>
            <a:off x="7955280" y="2971800"/>
            <a:ext cx="3474720" cy="438912"/>
          </a:xfrm>
          <a:prstGeom prst="rect">
            <a:avLst/>
          </a:prstGeom>
          <a:noFill/>
          <a:ln/>
        </p:spPr>
        <p:txBody>
          <a:bodyPr wrap="square" lIns="0" tIns="0" rIns="0" bIns="0" rtlCol="0" anchor="ctr"/>
          <a:lstStyle/>
          <a:p>
            <a:pPr marL="0" indent="0">
              <a:buNone/>
            </a:pPr>
            <a:r>
              <a:rPr lang="en-US" sz="1600" b="1" dirty="0">
                <a:solidFill>
                  <a:schemeClr val="tx1"/>
                </a:solidFill>
              </a:rPr>
              <a:t>Personas</a:t>
            </a:r>
            <a:endParaRPr lang="en-US" sz="1600" dirty="0"/>
          </a:p>
        </p:txBody>
      </p:sp>
      <p:sp>
        <p:nvSpPr>
          <p:cNvPr id="14" name="Text 11"/>
          <p:cNvSpPr txBox="1"/>
          <p:nvPr/>
        </p:nvSpPr>
        <p:spPr>
          <a:xfrm>
            <a:off x="7406640" y="361188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04</a:t>
            </a:r>
            <a:endParaRPr lang="en-US" sz="1600" dirty="0"/>
          </a:p>
        </p:txBody>
      </p:sp>
      <p:sp>
        <p:nvSpPr>
          <p:cNvPr id="15" name="Text 12"/>
          <p:cNvSpPr txBox="1"/>
          <p:nvPr/>
        </p:nvSpPr>
        <p:spPr>
          <a:xfrm>
            <a:off x="7955280" y="361188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User Stories &amp; Acceptance Criteria</a:t>
            </a:r>
            <a:endParaRPr lang="en-US" sz="1600" dirty="0"/>
          </a:p>
        </p:txBody>
      </p:sp>
      <p:sp>
        <p:nvSpPr>
          <p:cNvPr id="16" name="Text 13"/>
          <p:cNvSpPr txBox="1"/>
          <p:nvPr/>
        </p:nvSpPr>
        <p:spPr>
          <a:xfrm>
            <a:off x="7406640" y="425196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05</a:t>
            </a:r>
            <a:endParaRPr lang="en-US" sz="1600" dirty="0"/>
          </a:p>
        </p:txBody>
      </p:sp>
      <p:sp>
        <p:nvSpPr>
          <p:cNvPr id="17" name="Text 14"/>
          <p:cNvSpPr txBox="1"/>
          <p:nvPr/>
        </p:nvSpPr>
        <p:spPr>
          <a:xfrm>
            <a:off x="7955280" y="425196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Problem Statement &amp; User Flow</a:t>
            </a:r>
            <a:endParaRPr lang="en-US" sz="1600" dirty="0"/>
          </a:p>
        </p:txBody>
      </p:sp>
      <p:sp>
        <p:nvSpPr>
          <p:cNvPr id="18" name="Text 15"/>
          <p:cNvSpPr txBox="1"/>
          <p:nvPr/>
        </p:nvSpPr>
        <p:spPr>
          <a:xfrm>
            <a:off x="7406640" y="489204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06</a:t>
            </a:r>
            <a:endParaRPr lang="en-US" sz="1600" dirty="0"/>
          </a:p>
        </p:txBody>
      </p:sp>
      <p:sp>
        <p:nvSpPr>
          <p:cNvPr id="19" name="Text 16"/>
          <p:cNvSpPr txBox="1"/>
          <p:nvPr/>
        </p:nvSpPr>
        <p:spPr>
          <a:xfrm>
            <a:off x="7955280" y="489204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Wireframes &amp; Usability Heuristics</a:t>
            </a:r>
            <a:endParaRPr lang="en-US" sz="1600" dirty="0"/>
          </a:p>
        </p:txBody>
      </p:sp>
      <p:sp>
        <p:nvSpPr>
          <p:cNvPr id="20" name="Text 17"/>
          <p:cNvSpPr txBox="1"/>
          <p:nvPr/>
        </p:nvSpPr>
        <p:spPr>
          <a:xfrm>
            <a:off x="7406640" y="553212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07</a:t>
            </a:r>
            <a:endParaRPr lang="en-US" sz="1600" dirty="0"/>
          </a:p>
        </p:txBody>
      </p:sp>
      <p:sp>
        <p:nvSpPr>
          <p:cNvPr id="21" name="Text 18"/>
          <p:cNvSpPr txBox="1"/>
          <p:nvPr/>
        </p:nvSpPr>
        <p:spPr>
          <a:xfrm>
            <a:off x="7955280" y="553212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Accessibility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03 · PERSONAS</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What is a Persona?</a:t>
            </a:r>
            <a:endParaRPr lang="en-US" sz="3200" dirty="0"/>
          </a:p>
        </p:txBody>
      </p:sp>
      <p:sp>
        <p:nvSpPr>
          <p:cNvPr id="5" name="Definition card"/>
          <p:cNvSpPr/>
          <p:nvPr/>
        </p:nvSpPr>
        <p:spPr>
          <a:xfrm>
            <a:off x="640080" y="1554480"/>
            <a:ext cx="5669280" cy="1737360"/>
          </a:xfrm>
          <a:prstGeom prst="roundRect">
            <a:avLst>
              <a:gd name="adj" fmla="val 6316"/>
            </a:avLst>
          </a:prstGeom>
          <a:solidFill>
            <a:schemeClr val="bg2"/>
          </a:solidFill>
          <a:ln w="9525">
            <a:solidFill>
              <a:schemeClr val="tx2"/>
            </a:solidFill>
            <a:prstDash val="solid"/>
          </a:ln>
        </p:spPr>
        <p:txBody>
          <a:bodyPr/>
          <a:lstStyle/>
          <a:p>
            <a:endParaRPr lang="en-GB"/>
          </a:p>
        </p:txBody>
      </p:sp>
      <p:sp>
        <p:nvSpPr>
          <p:cNvPr id="6" name="Text 3"/>
          <p:cNvSpPr txBox="1"/>
          <p:nvPr/>
        </p:nvSpPr>
        <p:spPr>
          <a:xfrm>
            <a:off x="914400" y="1554480"/>
            <a:ext cx="5120640" cy="1737360"/>
          </a:xfrm>
          <a:prstGeom prst="rect">
            <a:avLst/>
          </a:prstGeom>
          <a:noFill/>
          <a:ln/>
        </p:spPr>
        <p:txBody>
          <a:bodyPr wrap="square" lIns="0" tIns="0" rIns="0" bIns="0" rtlCol="0" anchor="ctr"/>
          <a:lstStyle/>
          <a:p>
            <a:pPr marL="0" indent="0">
              <a:buNone/>
            </a:pPr>
            <a:r>
              <a:rPr lang="en-US" sz="2000" dirty="0">
                <a:solidFill>
                  <a:schemeClr val="tx1"/>
                </a:solidFill>
              </a:rPr>
              <a:t>A fictional but realistic archetype of a key user group, synthesised from research data.</a:t>
            </a:r>
            <a:endParaRPr lang="en-US" sz="2000" dirty="0"/>
          </a:p>
        </p:txBody>
      </p:sp>
      <p:sp>
        <p:nvSpPr>
          <p:cNvPr id="7" name="Golden rule card"/>
          <p:cNvSpPr/>
          <p:nvPr/>
        </p:nvSpPr>
        <p:spPr>
          <a:xfrm>
            <a:off x="640080" y="3520440"/>
            <a:ext cx="5669280" cy="2651760"/>
          </a:xfrm>
          <a:prstGeom prst="roundRect">
            <a:avLst>
              <a:gd name="adj" fmla="val 4138"/>
            </a:avLst>
          </a:prstGeom>
          <a:solidFill>
            <a:schemeClr val="bg2"/>
          </a:solidFill>
          <a:ln w="19050">
            <a:solidFill>
              <a:schemeClr val="accent1"/>
            </a:solidFill>
            <a:prstDash val="solid"/>
          </a:ln>
        </p:spPr>
        <p:txBody>
          <a:bodyPr/>
          <a:lstStyle/>
          <a:p>
            <a:endParaRPr lang="en-GB"/>
          </a:p>
        </p:txBody>
      </p:sp>
      <p:sp>
        <p:nvSpPr>
          <p:cNvPr id="8" name="Text 5"/>
          <p:cNvSpPr txBox="1"/>
          <p:nvPr/>
        </p:nvSpPr>
        <p:spPr>
          <a:xfrm>
            <a:off x="914400" y="3749040"/>
            <a:ext cx="4572000"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GOLDEN RULE</a:t>
            </a:r>
            <a:endParaRPr lang="en-US" sz="1200" dirty="0"/>
          </a:p>
        </p:txBody>
      </p:sp>
      <p:sp>
        <p:nvSpPr>
          <p:cNvPr id="9" name="Text 6"/>
          <p:cNvSpPr txBox="1"/>
          <p:nvPr/>
        </p:nvSpPr>
        <p:spPr>
          <a:xfrm>
            <a:off x="914400" y="4114800"/>
            <a:ext cx="5120640" cy="1188720"/>
          </a:xfrm>
          <a:prstGeom prst="rect">
            <a:avLst/>
          </a:prstGeom>
          <a:noFill/>
          <a:ln/>
        </p:spPr>
        <p:txBody>
          <a:bodyPr wrap="square" lIns="0" tIns="0" rIns="0" bIns="0" rtlCol="0" anchor="t"/>
          <a:lstStyle/>
          <a:p>
            <a:pPr marL="0" indent="0">
              <a:buNone/>
            </a:pPr>
            <a:r>
              <a:rPr lang="en-US" sz="1800" dirty="0">
                <a:solidFill>
                  <a:schemeClr val="tx1"/>
                </a:solidFill>
              </a:rPr>
              <a:t>Must be based on </a:t>
            </a:r>
            <a:r>
              <a:rPr lang="en-US" sz="1800" b="1" dirty="0">
                <a:solidFill>
                  <a:schemeClr val="tx1"/>
                </a:solidFill>
              </a:rPr>
              <a:t>evidence</a:t>
            </a:r>
            <a:r>
              <a:rPr lang="en-US" sz="1800" dirty="0">
                <a:solidFill>
                  <a:schemeClr val="tx1"/>
                </a:solidFill>
              </a:rPr>
              <a:t> (interviews, surveys, analytics), not stereotypes or team assumptions.</a:t>
            </a:r>
            <a:endParaRPr lang="en-US" sz="1800" dirty="0"/>
          </a:p>
        </p:txBody>
      </p:sp>
      <p:sp>
        <p:nvSpPr>
          <p:cNvPr id="10" name="Text 7"/>
          <p:cNvSpPr txBox="1"/>
          <p:nvPr/>
        </p:nvSpPr>
        <p:spPr>
          <a:xfrm>
            <a:off x="914400" y="5440680"/>
            <a:ext cx="5120640" cy="457200"/>
          </a:xfrm>
          <a:prstGeom prst="rect">
            <a:avLst/>
          </a:prstGeom>
          <a:noFill/>
          <a:ln/>
        </p:spPr>
        <p:txBody>
          <a:bodyPr wrap="square" lIns="0" tIns="0" rIns="0" bIns="0" rtlCol="0" anchor="t"/>
          <a:lstStyle/>
          <a:p>
            <a:pPr marL="0" indent="0">
              <a:buNone/>
            </a:pPr>
            <a:r>
              <a:rPr lang="en-US" sz="1600" i="1" dirty="0">
                <a:solidFill>
                  <a:schemeClr val="accent2"/>
                </a:solidFill>
              </a:rPr>
              <a:t>An invented persona creates false confidence.</a:t>
            </a:r>
            <a:endParaRPr lang="en-US" sz="1600" dirty="0"/>
          </a:p>
        </p:txBody>
      </p:sp>
      <p:sp>
        <p:nvSpPr>
          <p:cNvPr id="11" name="Text 8"/>
          <p:cNvSpPr txBox="1"/>
          <p:nvPr/>
        </p:nvSpPr>
        <p:spPr>
          <a:xfrm>
            <a:off x="6675120" y="1554480"/>
            <a:ext cx="4572000" cy="228600"/>
          </a:xfrm>
          <a:prstGeom prst="rect">
            <a:avLst/>
          </a:prstGeom>
          <a:noFill/>
          <a:ln/>
        </p:spPr>
        <p:txBody>
          <a:bodyPr wrap="square" lIns="0" tIns="0" rIns="0" bIns="0" rtlCol="0" anchor="t"/>
          <a:lstStyle/>
          <a:p>
            <a:pPr marL="0" indent="0">
              <a:buNone/>
            </a:pPr>
            <a:r>
              <a:rPr lang="en-US" sz="1200" b="1" kern="0" spc="150" dirty="0">
                <a:solidFill>
                  <a:schemeClr val="accent2"/>
                </a:solidFill>
              </a:rPr>
              <a:t>A PERSONA CONTAINS</a:t>
            </a:r>
            <a:endParaRPr lang="en-US" sz="1200" dirty="0"/>
          </a:p>
        </p:txBody>
      </p:sp>
      <p:sp>
        <p:nvSpPr>
          <p:cNvPr id="12" name="Persona field Name"/>
          <p:cNvSpPr/>
          <p:nvPr/>
        </p:nvSpPr>
        <p:spPr>
          <a:xfrm>
            <a:off x="6675120" y="1920240"/>
            <a:ext cx="2377440" cy="658368"/>
          </a:xfrm>
          <a:prstGeom prst="roundRect">
            <a:avLst>
              <a:gd name="adj" fmla="val 16667"/>
            </a:avLst>
          </a:prstGeom>
          <a:solidFill>
            <a:schemeClr val="bg2"/>
          </a:solidFill>
          <a:ln w="9525">
            <a:solidFill>
              <a:schemeClr val="tx2"/>
            </a:solidFill>
            <a:prstDash val="solid"/>
          </a:ln>
        </p:spPr>
        <p:txBody>
          <a:bodyPr/>
          <a:lstStyle/>
          <a:p>
            <a:endParaRPr lang="en-GB"/>
          </a:p>
        </p:txBody>
      </p:sp>
      <p:sp>
        <p:nvSpPr>
          <p:cNvPr id="13" name="Marker"/>
          <p:cNvSpPr/>
          <p:nvPr/>
        </p:nvSpPr>
        <p:spPr>
          <a:xfrm>
            <a:off x="6858000" y="2139696"/>
            <a:ext cx="219456" cy="219456"/>
          </a:xfrm>
          <a:prstGeom prst="ellipse">
            <a:avLst/>
          </a:prstGeom>
          <a:solidFill>
            <a:schemeClr val="accent1"/>
          </a:solidFill>
          <a:ln/>
        </p:spPr>
        <p:txBody>
          <a:bodyPr/>
          <a:lstStyle/>
          <a:p>
            <a:endParaRPr lang="en-GB"/>
          </a:p>
        </p:txBody>
      </p:sp>
      <p:sp>
        <p:nvSpPr>
          <p:cNvPr id="14" name="Text 11"/>
          <p:cNvSpPr txBox="1"/>
          <p:nvPr/>
        </p:nvSpPr>
        <p:spPr>
          <a:xfrm>
            <a:off x="7205472" y="1920240"/>
            <a:ext cx="1783080" cy="658368"/>
          </a:xfrm>
          <a:prstGeom prst="rect">
            <a:avLst/>
          </a:prstGeom>
          <a:noFill/>
          <a:ln/>
        </p:spPr>
        <p:txBody>
          <a:bodyPr wrap="square" lIns="0" tIns="0" rIns="0" bIns="0" rtlCol="0" anchor="ctr"/>
          <a:lstStyle/>
          <a:p>
            <a:pPr marL="0" indent="0">
              <a:buNone/>
            </a:pPr>
            <a:r>
              <a:rPr lang="en-US" sz="1400" dirty="0">
                <a:solidFill>
                  <a:schemeClr val="tx1"/>
                </a:solidFill>
              </a:rPr>
              <a:t>Name</a:t>
            </a:r>
            <a:endParaRPr lang="en-US" sz="1400" dirty="0"/>
          </a:p>
        </p:txBody>
      </p:sp>
      <p:sp>
        <p:nvSpPr>
          <p:cNvPr id="15" name="Persona field Photo"/>
          <p:cNvSpPr/>
          <p:nvPr/>
        </p:nvSpPr>
        <p:spPr>
          <a:xfrm>
            <a:off x="9162288" y="1920240"/>
            <a:ext cx="2377440" cy="658368"/>
          </a:xfrm>
          <a:prstGeom prst="roundRect">
            <a:avLst>
              <a:gd name="adj" fmla="val 16667"/>
            </a:avLst>
          </a:prstGeom>
          <a:solidFill>
            <a:schemeClr val="bg2"/>
          </a:solidFill>
          <a:ln w="9525">
            <a:solidFill>
              <a:schemeClr val="tx2"/>
            </a:solidFill>
            <a:prstDash val="solid"/>
          </a:ln>
        </p:spPr>
        <p:txBody>
          <a:bodyPr/>
          <a:lstStyle/>
          <a:p>
            <a:endParaRPr lang="en-GB"/>
          </a:p>
        </p:txBody>
      </p:sp>
      <p:sp>
        <p:nvSpPr>
          <p:cNvPr id="16" name="Marker"/>
          <p:cNvSpPr/>
          <p:nvPr/>
        </p:nvSpPr>
        <p:spPr>
          <a:xfrm>
            <a:off x="9345168" y="2139696"/>
            <a:ext cx="219456" cy="219456"/>
          </a:xfrm>
          <a:prstGeom prst="ellipse">
            <a:avLst/>
          </a:prstGeom>
          <a:solidFill>
            <a:schemeClr val="accent1"/>
          </a:solidFill>
          <a:ln/>
        </p:spPr>
        <p:txBody>
          <a:bodyPr/>
          <a:lstStyle/>
          <a:p>
            <a:endParaRPr lang="en-GB"/>
          </a:p>
        </p:txBody>
      </p:sp>
      <p:sp>
        <p:nvSpPr>
          <p:cNvPr id="17" name="Text 14"/>
          <p:cNvSpPr txBox="1"/>
          <p:nvPr/>
        </p:nvSpPr>
        <p:spPr>
          <a:xfrm>
            <a:off x="9692640" y="1920240"/>
            <a:ext cx="1783080" cy="658368"/>
          </a:xfrm>
          <a:prstGeom prst="rect">
            <a:avLst/>
          </a:prstGeom>
          <a:noFill/>
          <a:ln/>
        </p:spPr>
        <p:txBody>
          <a:bodyPr wrap="square" lIns="0" tIns="0" rIns="0" bIns="0" rtlCol="0" anchor="ctr"/>
          <a:lstStyle/>
          <a:p>
            <a:pPr marL="0" indent="0">
              <a:buNone/>
            </a:pPr>
            <a:r>
              <a:rPr lang="en-US" sz="1400" dirty="0">
                <a:solidFill>
                  <a:schemeClr val="tx1"/>
                </a:solidFill>
              </a:rPr>
              <a:t>Photo</a:t>
            </a:r>
            <a:endParaRPr lang="en-US" sz="1400" dirty="0"/>
          </a:p>
        </p:txBody>
      </p:sp>
      <p:sp>
        <p:nvSpPr>
          <p:cNvPr id="18" name="Persona field Age &amp; location"/>
          <p:cNvSpPr/>
          <p:nvPr/>
        </p:nvSpPr>
        <p:spPr>
          <a:xfrm>
            <a:off x="6675120" y="2743200"/>
            <a:ext cx="2377440" cy="658368"/>
          </a:xfrm>
          <a:prstGeom prst="roundRect">
            <a:avLst>
              <a:gd name="adj" fmla="val 16667"/>
            </a:avLst>
          </a:prstGeom>
          <a:solidFill>
            <a:schemeClr val="bg2"/>
          </a:solidFill>
          <a:ln w="9525">
            <a:solidFill>
              <a:schemeClr val="tx2"/>
            </a:solidFill>
            <a:prstDash val="solid"/>
          </a:ln>
        </p:spPr>
        <p:txBody>
          <a:bodyPr/>
          <a:lstStyle/>
          <a:p>
            <a:endParaRPr lang="en-GB"/>
          </a:p>
        </p:txBody>
      </p:sp>
      <p:sp>
        <p:nvSpPr>
          <p:cNvPr id="19" name="Marker"/>
          <p:cNvSpPr/>
          <p:nvPr/>
        </p:nvSpPr>
        <p:spPr>
          <a:xfrm>
            <a:off x="6858000" y="2962656"/>
            <a:ext cx="219456" cy="219456"/>
          </a:xfrm>
          <a:prstGeom prst="ellipse">
            <a:avLst/>
          </a:prstGeom>
          <a:solidFill>
            <a:schemeClr val="accent1"/>
          </a:solidFill>
          <a:ln/>
        </p:spPr>
        <p:txBody>
          <a:bodyPr/>
          <a:lstStyle/>
          <a:p>
            <a:endParaRPr lang="en-GB"/>
          </a:p>
        </p:txBody>
      </p:sp>
      <p:sp>
        <p:nvSpPr>
          <p:cNvPr id="20" name="Text 17"/>
          <p:cNvSpPr txBox="1"/>
          <p:nvPr/>
        </p:nvSpPr>
        <p:spPr>
          <a:xfrm>
            <a:off x="7205472" y="2743200"/>
            <a:ext cx="1783080" cy="658368"/>
          </a:xfrm>
          <a:prstGeom prst="rect">
            <a:avLst/>
          </a:prstGeom>
          <a:noFill/>
          <a:ln/>
        </p:spPr>
        <p:txBody>
          <a:bodyPr wrap="square" lIns="0" tIns="0" rIns="0" bIns="0" rtlCol="0" anchor="ctr"/>
          <a:lstStyle/>
          <a:p>
            <a:pPr marL="0" indent="0">
              <a:buNone/>
            </a:pPr>
            <a:r>
              <a:rPr lang="en-US" sz="1400" dirty="0">
                <a:solidFill>
                  <a:schemeClr val="tx1"/>
                </a:solidFill>
              </a:rPr>
              <a:t>Age &amp; location</a:t>
            </a:r>
            <a:endParaRPr lang="en-US" sz="1400" dirty="0"/>
          </a:p>
        </p:txBody>
      </p:sp>
      <p:sp>
        <p:nvSpPr>
          <p:cNvPr id="21" name="Persona field Role"/>
          <p:cNvSpPr/>
          <p:nvPr/>
        </p:nvSpPr>
        <p:spPr>
          <a:xfrm>
            <a:off x="9162288" y="2743200"/>
            <a:ext cx="2377440" cy="658368"/>
          </a:xfrm>
          <a:prstGeom prst="roundRect">
            <a:avLst>
              <a:gd name="adj" fmla="val 16667"/>
            </a:avLst>
          </a:prstGeom>
          <a:solidFill>
            <a:schemeClr val="bg2"/>
          </a:solidFill>
          <a:ln w="9525">
            <a:solidFill>
              <a:schemeClr val="tx2"/>
            </a:solidFill>
            <a:prstDash val="solid"/>
          </a:ln>
        </p:spPr>
        <p:txBody>
          <a:bodyPr/>
          <a:lstStyle/>
          <a:p>
            <a:endParaRPr lang="en-GB"/>
          </a:p>
        </p:txBody>
      </p:sp>
      <p:sp>
        <p:nvSpPr>
          <p:cNvPr id="22" name="Marker"/>
          <p:cNvSpPr/>
          <p:nvPr/>
        </p:nvSpPr>
        <p:spPr>
          <a:xfrm>
            <a:off x="9345168" y="2962656"/>
            <a:ext cx="219456" cy="219456"/>
          </a:xfrm>
          <a:prstGeom prst="ellipse">
            <a:avLst/>
          </a:prstGeom>
          <a:solidFill>
            <a:schemeClr val="accent1"/>
          </a:solidFill>
          <a:ln/>
        </p:spPr>
        <p:txBody>
          <a:bodyPr/>
          <a:lstStyle/>
          <a:p>
            <a:endParaRPr lang="en-GB"/>
          </a:p>
        </p:txBody>
      </p:sp>
      <p:sp>
        <p:nvSpPr>
          <p:cNvPr id="23" name="Text 20"/>
          <p:cNvSpPr txBox="1"/>
          <p:nvPr/>
        </p:nvSpPr>
        <p:spPr>
          <a:xfrm>
            <a:off x="9692640" y="2743200"/>
            <a:ext cx="1783080" cy="658368"/>
          </a:xfrm>
          <a:prstGeom prst="rect">
            <a:avLst/>
          </a:prstGeom>
          <a:noFill/>
          <a:ln/>
        </p:spPr>
        <p:txBody>
          <a:bodyPr wrap="square" lIns="0" tIns="0" rIns="0" bIns="0" rtlCol="0" anchor="ctr"/>
          <a:lstStyle/>
          <a:p>
            <a:pPr marL="0" indent="0">
              <a:buNone/>
            </a:pPr>
            <a:r>
              <a:rPr lang="en-US" sz="1400" dirty="0">
                <a:solidFill>
                  <a:schemeClr val="tx1"/>
                </a:solidFill>
              </a:rPr>
              <a:t>Role</a:t>
            </a:r>
            <a:endParaRPr lang="en-US" sz="1400" dirty="0"/>
          </a:p>
        </p:txBody>
      </p:sp>
      <p:sp>
        <p:nvSpPr>
          <p:cNvPr id="24" name="Persona field Goals"/>
          <p:cNvSpPr/>
          <p:nvPr/>
        </p:nvSpPr>
        <p:spPr>
          <a:xfrm>
            <a:off x="6675120" y="3566160"/>
            <a:ext cx="2377440" cy="658368"/>
          </a:xfrm>
          <a:prstGeom prst="roundRect">
            <a:avLst>
              <a:gd name="adj" fmla="val 16667"/>
            </a:avLst>
          </a:prstGeom>
          <a:solidFill>
            <a:schemeClr val="bg2"/>
          </a:solidFill>
          <a:ln w="9525">
            <a:solidFill>
              <a:schemeClr val="tx2"/>
            </a:solidFill>
            <a:prstDash val="solid"/>
          </a:ln>
        </p:spPr>
        <p:txBody>
          <a:bodyPr/>
          <a:lstStyle/>
          <a:p>
            <a:endParaRPr lang="en-GB"/>
          </a:p>
        </p:txBody>
      </p:sp>
      <p:sp>
        <p:nvSpPr>
          <p:cNvPr id="25" name="Marker"/>
          <p:cNvSpPr/>
          <p:nvPr/>
        </p:nvSpPr>
        <p:spPr>
          <a:xfrm>
            <a:off x="6858000" y="3785616"/>
            <a:ext cx="219456" cy="219456"/>
          </a:xfrm>
          <a:prstGeom prst="ellipse">
            <a:avLst/>
          </a:prstGeom>
          <a:solidFill>
            <a:schemeClr val="accent1"/>
          </a:solidFill>
          <a:ln/>
        </p:spPr>
        <p:txBody>
          <a:bodyPr/>
          <a:lstStyle/>
          <a:p>
            <a:endParaRPr lang="en-GB"/>
          </a:p>
        </p:txBody>
      </p:sp>
      <p:sp>
        <p:nvSpPr>
          <p:cNvPr id="26" name="Text 23"/>
          <p:cNvSpPr txBox="1"/>
          <p:nvPr/>
        </p:nvSpPr>
        <p:spPr>
          <a:xfrm>
            <a:off x="7205472" y="3566160"/>
            <a:ext cx="1783080" cy="658368"/>
          </a:xfrm>
          <a:prstGeom prst="rect">
            <a:avLst/>
          </a:prstGeom>
          <a:noFill/>
          <a:ln/>
        </p:spPr>
        <p:txBody>
          <a:bodyPr wrap="square" lIns="0" tIns="0" rIns="0" bIns="0" rtlCol="0" anchor="ctr"/>
          <a:lstStyle/>
          <a:p>
            <a:pPr marL="0" indent="0">
              <a:buNone/>
            </a:pPr>
            <a:r>
              <a:rPr lang="en-US" sz="1400" dirty="0">
                <a:solidFill>
                  <a:schemeClr val="tx1"/>
                </a:solidFill>
              </a:rPr>
              <a:t>Goals</a:t>
            </a:r>
            <a:endParaRPr lang="en-US" sz="1400" dirty="0"/>
          </a:p>
        </p:txBody>
      </p:sp>
      <p:sp>
        <p:nvSpPr>
          <p:cNvPr id="27" name="Persona field Frustrations"/>
          <p:cNvSpPr/>
          <p:nvPr/>
        </p:nvSpPr>
        <p:spPr>
          <a:xfrm>
            <a:off x="9162288" y="3566160"/>
            <a:ext cx="2377440" cy="658368"/>
          </a:xfrm>
          <a:prstGeom prst="roundRect">
            <a:avLst>
              <a:gd name="adj" fmla="val 16667"/>
            </a:avLst>
          </a:prstGeom>
          <a:solidFill>
            <a:schemeClr val="bg2"/>
          </a:solidFill>
          <a:ln w="9525">
            <a:solidFill>
              <a:schemeClr val="tx2"/>
            </a:solidFill>
            <a:prstDash val="solid"/>
          </a:ln>
        </p:spPr>
        <p:txBody>
          <a:bodyPr/>
          <a:lstStyle/>
          <a:p>
            <a:endParaRPr lang="en-GB"/>
          </a:p>
        </p:txBody>
      </p:sp>
      <p:sp>
        <p:nvSpPr>
          <p:cNvPr id="28" name="Marker"/>
          <p:cNvSpPr/>
          <p:nvPr/>
        </p:nvSpPr>
        <p:spPr>
          <a:xfrm>
            <a:off x="9345168" y="3785616"/>
            <a:ext cx="219456" cy="219456"/>
          </a:xfrm>
          <a:prstGeom prst="ellipse">
            <a:avLst/>
          </a:prstGeom>
          <a:solidFill>
            <a:schemeClr val="accent1"/>
          </a:solidFill>
          <a:ln/>
        </p:spPr>
        <p:txBody>
          <a:bodyPr/>
          <a:lstStyle/>
          <a:p>
            <a:endParaRPr lang="en-GB"/>
          </a:p>
        </p:txBody>
      </p:sp>
      <p:sp>
        <p:nvSpPr>
          <p:cNvPr id="29" name="Text 26"/>
          <p:cNvSpPr txBox="1"/>
          <p:nvPr/>
        </p:nvSpPr>
        <p:spPr>
          <a:xfrm>
            <a:off x="9692640" y="3566160"/>
            <a:ext cx="1783080" cy="658368"/>
          </a:xfrm>
          <a:prstGeom prst="rect">
            <a:avLst/>
          </a:prstGeom>
          <a:noFill/>
          <a:ln/>
        </p:spPr>
        <p:txBody>
          <a:bodyPr wrap="square" lIns="0" tIns="0" rIns="0" bIns="0" rtlCol="0" anchor="ctr"/>
          <a:lstStyle/>
          <a:p>
            <a:pPr marL="0" indent="0">
              <a:buNone/>
            </a:pPr>
            <a:r>
              <a:rPr lang="en-US" sz="1400" dirty="0">
                <a:solidFill>
                  <a:schemeClr val="tx1"/>
                </a:solidFill>
              </a:rPr>
              <a:t>Frustrations</a:t>
            </a:r>
            <a:endParaRPr lang="en-US" sz="1400" dirty="0"/>
          </a:p>
        </p:txBody>
      </p:sp>
      <p:sp>
        <p:nvSpPr>
          <p:cNvPr id="30" name="Persona field Technical skills"/>
          <p:cNvSpPr/>
          <p:nvPr/>
        </p:nvSpPr>
        <p:spPr>
          <a:xfrm>
            <a:off x="6675120" y="4389120"/>
            <a:ext cx="2377440" cy="658368"/>
          </a:xfrm>
          <a:prstGeom prst="roundRect">
            <a:avLst>
              <a:gd name="adj" fmla="val 16667"/>
            </a:avLst>
          </a:prstGeom>
          <a:solidFill>
            <a:schemeClr val="bg2"/>
          </a:solidFill>
          <a:ln w="9525">
            <a:solidFill>
              <a:schemeClr val="tx2"/>
            </a:solidFill>
            <a:prstDash val="solid"/>
          </a:ln>
        </p:spPr>
        <p:txBody>
          <a:bodyPr/>
          <a:lstStyle/>
          <a:p>
            <a:endParaRPr lang="en-GB"/>
          </a:p>
        </p:txBody>
      </p:sp>
      <p:sp>
        <p:nvSpPr>
          <p:cNvPr id="31" name="Marker"/>
          <p:cNvSpPr/>
          <p:nvPr/>
        </p:nvSpPr>
        <p:spPr>
          <a:xfrm>
            <a:off x="6858000" y="4608576"/>
            <a:ext cx="219456" cy="219456"/>
          </a:xfrm>
          <a:prstGeom prst="ellipse">
            <a:avLst/>
          </a:prstGeom>
          <a:solidFill>
            <a:schemeClr val="accent1"/>
          </a:solidFill>
          <a:ln/>
        </p:spPr>
        <p:txBody>
          <a:bodyPr/>
          <a:lstStyle/>
          <a:p>
            <a:endParaRPr lang="en-GB"/>
          </a:p>
        </p:txBody>
      </p:sp>
      <p:sp>
        <p:nvSpPr>
          <p:cNvPr id="32" name="Text 29"/>
          <p:cNvSpPr txBox="1"/>
          <p:nvPr/>
        </p:nvSpPr>
        <p:spPr>
          <a:xfrm>
            <a:off x="7205472" y="4389120"/>
            <a:ext cx="1783080" cy="658368"/>
          </a:xfrm>
          <a:prstGeom prst="rect">
            <a:avLst/>
          </a:prstGeom>
          <a:noFill/>
          <a:ln/>
        </p:spPr>
        <p:txBody>
          <a:bodyPr wrap="square" lIns="0" tIns="0" rIns="0" bIns="0" rtlCol="0" anchor="ctr"/>
          <a:lstStyle/>
          <a:p>
            <a:pPr marL="0" indent="0">
              <a:buNone/>
            </a:pPr>
            <a:r>
              <a:rPr lang="en-US" sz="1400" dirty="0">
                <a:solidFill>
                  <a:schemeClr val="tx1"/>
                </a:solidFill>
              </a:rPr>
              <a:t>Technical skills</a:t>
            </a:r>
            <a:endParaRPr lang="en-US" sz="1400" dirty="0"/>
          </a:p>
        </p:txBody>
      </p:sp>
      <p:sp>
        <p:nvSpPr>
          <p:cNvPr id="33" name="Persona field Context of use"/>
          <p:cNvSpPr/>
          <p:nvPr/>
        </p:nvSpPr>
        <p:spPr>
          <a:xfrm>
            <a:off x="9162288" y="4389120"/>
            <a:ext cx="2377440" cy="658368"/>
          </a:xfrm>
          <a:prstGeom prst="roundRect">
            <a:avLst>
              <a:gd name="adj" fmla="val 16667"/>
            </a:avLst>
          </a:prstGeom>
          <a:solidFill>
            <a:schemeClr val="bg2"/>
          </a:solidFill>
          <a:ln w="9525">
            <a:solidFill>
              <a:schemeClr val="tx2"/>
            </a:solidFill>
            <a:prstDash val="solid"/>
          </a:ln>
        </p:spPr>
        <p:txBody>
          <a:bodyPr/>
          <a:lstStyle/>
          <a:p>
            <a:endParaRPr lang="en-GB"/>
          </a:p>
        </p:txBody>
      </p:sp>
      <p:sp>
        <p:nvSpPr>
          <p:cNvPr id="34" name="Marker"/>
          <p:cNvSpPr/>
          <p:nvPr/>
        </p:nvSpPr>
        <p:spPr>
          <a:xfrm>
            <a:off x="9345168" y="4608576"/>
            <a:ext cx="219456" cy="219456"/>
          </a:xfrm>
          <a:prstGeom prst="ellipse">
            <a:avLst/>
          </a:prstGeom>
          <a:solidFill>
            <a:schemeClr val="accent1"/>
          </a:solidFill>
          <a:ln/>
        </p:spPr>
        <p:txBody>
          <a:bodyPr/>
          <a:lstStyle/>
          <a:p>
            <a:endParaRPr lang="en-GB"/>
          </a:p>
        </p:txBody>
      </p:sp>
      <p:sp>
        <p:nvSpPr>
          <p:cNvPr id="35" name="Text 32"/>
          <p:cNvSpPr txBox="1"/>
          <p:nvPr/>
        </p:nvSpPr>
        <p:spPr>
          <a:xfrm>
            <a:off x="9692640" y="4389120"/>
            <a:ext cx="1783080" cy="658368"/>
          </a:xfrm>
          <a:prstGeom prst="rect">
            <a:avLst/>
          </a:prstGeom>
          <a:noFill/>
          <a:ln/>
        </p:spPr>
        <p:txBody>
          <a:bodyPr wrap="square" lIns="0" tIns="0" rIns="0" bIns="0" rtlCol="0" anchor="ctr"/>
          <a:lstStyle/>
          <a:p>
            <a:pPr marL="0" indent="0">
              <a:buNone/>
            </a:pPr>
            <a:r>
              <a:rPr lang="en-US" sz="1400" dirty="0">
                <a:solidFill>
                  <a:schemeClr val="tx1"/>
                </a:solidFill>
              </a:rPr>
              <a:t>Context of use</a:t>
            </a:r>
            <a:endParaRPr lang="en-US" sz="1400" dirty="0"/>
          </a:p>
        </p:txBody>
      </p:sp>
      <p:sp>
        <p:nvSpPr>
          <p:cNvPr id="36" name="Persona field Behaviours / habits"/>
          <p:cNvSpPr/>
          <p:nvPr/>
        </p:nvSpPr>
        <p:spPr>
          <a:xfrm>
            <a:off x="6675120" y="5212080"/>
            <a:ext cx="2377440" cy="658368"/>
          </a:xfrm>
          <a:prstGeom prst="roundRect">
            <a:avLst>
              <a:gd name="adj" fmla="val 16667"/>
            </a:avLst>
          </a:prstGeom>
          <a:solidFill>
            <a:schemeClr val="bg2"/>
          </a:solidFill>
          <a:ln w="9525">
            <a:solidFill>
              <a:schemeClr val="tx2"/>
            </a:solidFill>
            <a:prstDash val="solid"/>
          </a:ln>
        </p:spPr>
        <p:txBody>
          <a:bodyPr/>
          <a:lstStyle/>
          <a:p>
            <a:endParaRPr lang="en-GB"/>
          </a:p>
        </p:txBody>
      </p:sp>
      <p:sp>
        <p:nvSpPr>
          <p:cNvPr id="37" name="Marker"/>
          <p:cNvSpPr/>
          <p:nvPr/>
        </p:nvSpPr>
        <p:spPr>
          <a:xfrm>
            <a:off x="6858000" y="5431536"/>
            <a:ext cx="219456" cy="219456"/>
          </a:xfrm>
          <a:prstGeom prst="ellipse">
            <a:avLst/>
          </a:prstGeom>
          <a:solidFill>
            <a:schemeClr val="accent1"/>
          </a:solidFill>
          <a:ln/>
        </p:spPr>
        <p:txBody>
          <a:bodyPr/>
          <a:lstStyle/>
          <a:p>
            <a:endParaRPr lang="en-GB"/>
          </a:p>
        </p:txBody>
      </p:sp>
      <p:sp>
        <p:nvSpPr>
          <p:cNvPr id="38" name="Text 35"/>
          <p:cNvSpPr txBox="1"/>
          <p:nvPr/>
        </p:nvSpPr>
        <p:spPr>
          <a:xfrm>
            <a:off x="7205472" y="5212080"/>
            <a:ext cx="1783080" cy="658368"/>
          </a:xfrm>
          <a:prstGeom prst="rect">
            <a:avLst/>
          </a:prstGeom>
          <a:noFill/>
          <a:ln/>
        </p:spPr>
        <p:txBody>
          <a:bodyPr wrap="square" lIns="0" tIns="0" rIns="0" bIns="0" rtlCol="0" anchor="ctr"/>
          <a:lstStyle/>
          <a:p>
            <a:pPr marL="0" indent="0">
              <a:buNone/>
            </a:pPr>
            <a:r>
              <a:rPr lang="en-US" sz="1400" dirty="0">
                <a:solidFill>
                  <a:schemeClr val="tx1"/>
                </a:solidFill>
              </a:rPr>
              <a:t>Behaviours / habits</a:t>
            </a:r>
            <a:endParaRPr lang="en-US" sz="1400" dirty="0"/>
          </a:p>
        </p:txBody>
      </p:sp>
      <p:sp>
        <p:nvSpPr>
          <p:cNvPr id="39" name="Persona field Quote"/>
          <p:cNvSpPr/>
          <p:nvPr/>
        </p:nvSpPr>
        <p:spPr>
          <a:xfrm>
            <a:off x="9162288" y="5212080"/>
            <a:ext cx="2377440" cy="658368"/>
          </a:xfrm>
          <a:prstGeom prst="roundRect">
            <a:avLst>
              <a:gd name="adj" fmla="val 16667"/>
            </a:avLst>
          </a:prstGeom>
          <a:solidFill>
            <a:schemeClr val="bg2"/>
          </a:solidFill>
          <a:ln w="9525">
            <a:solidFill>
              <a:schemeClr val="tx2"/>
            </a:solidFill>
            <a:prstDash val="solid"/>
          </a:ln>
        </p:spPr>
        <p:txBody>
          <a:bodyPr/>
          <a:lstStyle/>
          <a:p>
            <a:endParaRPr lang="en-GB"/>
          </a:p>
        </p:txBody>
      </p:sp>
      <p:sp>
        <p:nvSpPr>
          <p:cNvPr id="40" name="Marker"/>
          <p:cNvSpPr/>
          <p:nvPr/>
        </p:nvSpPr>
        <p:spPr>
          <a:xfrm>
            <a:off x="9345168" y="5431536"/>
            <a:ext cx="219456" cy="219456"/>
          </a:xfrm>
          <a:prstGeom prst="ellipse">
            <a:avLst/>
          </a:prstGeom>
          <a:solidFill>
            <a:schemeClr val="accent1"/>
          </a:solidFill>
          <a:ln/>
        </p:spPr>
        <p:txBody>
          <a:bodyPr/>
          <a:lstStyle/>
          <a:p>
            <a:endParaRPr lang="en-GB"/>
          </a:p>
        </p:txBody>
      </p:sp>
      <p:sp>
        <p:nvSpPr>
          <p:cNvPr id="41" name="Text 38"/>
          <p:cNvSpPr txBox="1"/>
          <p:nvPr/>
        </p:nvSpPr>
        <p:spPr>
          <a:xfrm>
            <a:off x="9692640" y="5212080"/>
            <a:ext cx="1783080" cy="658368"/>
          </a:xfrm>
          <a:prstGeom prst="rect">
            <a:avLst/>
          </a:prstGeom>
          <a:noFill/>
          <a:ln/>
        </p:spPr>
        <p:txBody>
          <a:bodyPr wrap="square" lIns="0" tIns="0" rIns="0" bIns="0" rtlCol="0" anchor="ctr"/>
          <a:lstStyle/>
          <a:p>
            <a:pPr marL="0" indent="0">
              <a:buNone/>
            </a:pPr>
            <a:r>
              <a:rPr lang="en-US" sz="1400" dirty="0">
                <a:solidFill>
                  <a:schemeClr val="tx1"/>
                </a:solidFill>
              </a:rPr>
              <a:t>Quote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03 · PERSONAS</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Proto-Persona: Layla Hassan</a:t>
            </a:r>
            <a:endParaRPr lang="en-US" sz="3200" dirty="0"/>
          </a:p>
        </p:txBody>
      </p:sp>
      <p:sp>
        <p:nvSpPr>
          <p:cNvPr id="5" name="Profile card"/>
          <p:cNvSpPr/>
          <p:nvPr/>
        </p:nvSpPr>
        <p:spPr>
          <a:xfrm>
            <a:off x="640080" y="1554480"/>
            <a:ext cx="4937760" cy="4754880"/>
          </a:xfrm>
          <a:prstGeom prst="roundRect">
            <a:avLst>
              <a:gd name="adj" fmla="val 2308"/>
            </a:avLst>
          </a:prstGeom>
          <a:solidFill>
            <a:schemeClr val="bg2"/>
          </a:solidFill>
          <a:ln w="9525">
            <a:solidFill>
              <a:schemeClr val="tx2"/>
            </a:solidFill>
            <a:prstDash val="solid"/>
          </a:ln>
        </p:spPr>
        <p:txBody>
          <a:bodyPr/>
          <a:lstStyle/>
          <a:p>
            <a:endParaRPr lang="en-GB"/>
          </a:p>
        </p:txBody>
      </p:sp>
      <p:sp>
        <p:nvSpPr>
          <p:cNvPr id="6" name="Avatar"/>
          <p:cNvSpPr/>
          <p:nvPr/>
        </p:nvSpPr>
        <p:spPr>
          <a:xfrm>
            <a:off x="914400" y="1783080"/>
            <a:ext cx="1005840" cy="1005840"/>
          </a:xfrm>
          <a:prstGeom prst="ellipse">
            <a:avLst/>
          </a:prstGeom>
          <a:solidFill>
            <a:schemeClr val="accent1"/>
          </a:solidFill>
          <a:ln/>
        </p:spPr>
        <p:txBody>
          <a:bodyPr/>
          <a:lstStyle/>
          <a:p>
            <a:endParaRPr lang="en-GB"/>
          </a:p>
        </p:txBody>
      </p:sp>
      <p:sp>
        <p:nvSpPr>
          <p:cNvPr id="7" name="Text 4"/>
          <p:cNvSpPr txBox="1"/>
          <p:nvPr/>
        </p:nvSpPr>
        <p:spPr>
          <a:xfrm>
            <a:off x="914400" y="1783080"/>
            <a:ext cx="1005840" cy="1005840"/>
          </a:xfrm>
          <a:prstGeom prst="rect">
            <a:avLst/>
          </a:prstGeom>
          <a:noFill/>
          <a:ln/>
        </p:spPr>
        <p:txBody>
          <a:bodyPr wrap="square" lIns="0" tIns="0" rIns="0" bIns="0" rtlCol="0" anchor="ctr"/>
          <a:lstStyle/>
          <a:p>
            <a:pPr marL="0" indent="0" algn="ctr">
              <a:buNone/>
            </a:pPr>
            <a:r>
              <a:rPr lang="en-US" sz="3200" b="1" dirty="0">
                <a:solidFill>
                  <a:schemeClr val="bg1"/>
                </a:solidFill>
              </a:rPr>
              <a:t>LH</a:t>
            </a:r>
            <a:endParaRPr lang="en-US" sz="3200" dirty="0"/>
          </a:p>
        </p:txBody>
      </p:sp>
      <p:sp>
        <p:nvSpPr>
          <p:cNvPr id="8" name="Text 5"/>
          <p:cNvSpPr txBox="1"/>
          <p:nvPr/>
        </p:nvSpPr>
        <p:spPr>
          <a:xfrm>
            <a:off x="2148840" y="1874520"/>
            <a:ext cx="3200400" cy="411480"/>
          </a:xfrm>
          <a:prstGeom prst="rect">
            <a:avLst/>
          </a:prstGeom>
          <a:noFill/>
          <a:ln/>
        </p:spPr>
        <p:txBody>
          <a:bodyPr wrap="square" lIns="0" tIns="0" rIns="0" bIns="0" rtlCol="0" anchor="t"/>
          <a:lstStyle/>
          <a:p>
            <a:pPr marL="0" indent="0">
              <a:buNone/>
            </a:pPr>
            <a:r>
              <a:rPr lang="en-US" sz="2400" b="1" dirty="0">
                <a:solidFill>
                  <a:schemeClr val="tx1"/>
                </a:solidFill>
              </a:rPr>
              <a:t>Layla Hassan</a:t>
            </a:r>
            <a:endParaRPr lang="en-US" sz="2400" dirty="0"/>
          </a:p>
        </p:txBody>
      </p:sp>
      <p:sp>
        <p:nvSpPr>
          <p:cNvPr id="9" name="Text 6"/>
          <p:cNvSpPr txBox="1"/>
          <p:nvPr/>
        </p:nvSpPr>
        <p:spPr>
          <a:xfrm>
            <a:off x="2148840" y="2331720"/>
            <a:ext cx="3200400" cy="320040"/>
          </a:xfrm>
          <a:prstGeom prst="rect">
            <a:avLst/>
          </a:prstGeom>
          <a:noFill/>
          <a:ln/>
        </p:spPr>
        <p:txBody>
          <a:bodyPr wrap="square" lIns="0" tIns="0" rIns="0" bIns="0" rtlCol="0" anchor="t"/>
          <a:lstStyle/>
          <a:p>
            <a:pPr marL="0" indent="0">
              <a:buNone/>
            </a:pPr>
            <a:r>
              <a:rPr lang="en-US" sz="1600" dirty="0">
                <a:solidFill>
                  <a:schemeClr val="accent2"/>
                </a:solidFill>
              </a:rPr>
              <a:t>21 · University student · Cairo</a:t>
            </a:r>
            <a:endParaRPr lang="en-US" sz="1600" dirty="0"/>
          </a:p>
        </p:txBody>
      </p:sp>
      <p:sp>
        <p:nvSpPr>
          <p:cNvPr id="10" name="Text 7"/>
          <p:cNvSpPr txBox="1"/>
          <p:nvPr/>
        </p:nvSpPr>
        <p:spPr>
          <a:xfrm>
            <a:off x="914400" y="2971800"/>
            <a:ext cx="1280160" cy="502920"/>
          </a:xfrm>
          <a:prstGeom prst="rect">
            <a:avLst/>
          </a:prstGeom>
          <a:noFill/>
          <a:ln/>
        </p:spPr>
        <p:txBody>
          <a:bodyPr wrap="square" lIns="0" tIns="0" rIns="0" bIns="0" rtlCol="0" anchor="t"/>
          <a:lstStyle/>
          <a:p>
            <a:pPr marL="0" indent="0">
              <a:buNone/>
            </a:pPr>
            <a:r>
              <a:rPr lang="en-US" sz="1100" b="1" kern="0" spc="100" dirty="0">
                <a:solidFill>
                  <a:schemeClr val="accent1"/>
                </a:solidFill>
              </a:rPr>
              <a:t>LANGUAGES</a:t>
            </a:r>
            <a:endParaRPr lang="en-US" sz="1100" dirty="0"/>
          </a:p>
        </p:txBody>
      </p:sp>
      <p:sp>
        <p:nvSpPr>
          <p:cNvPr id="11" name="Text 8"/>
          <p:cNvSpPr txBox="1"/>
          <p:nvPr/>
        </p:nvSpPr>
        <p:spPr>
          <a:xfrm>
            <a:off x="2240280" y="2944368"/>
            <a:ext cx="3108960" cy="530352"/>
          </a:xfrm>
          <a:prstGeom prst="rect">
            <a:avLst/>
          </a:prstGeom>
          <a:noFill/>
          <a:ln/>
        </p:spPr>
        <p:txBody>
          <a:bodyPr wrap="square" lIns="0" tIns="0" rIns="0" bIns="0" rtlCol="0" anchor="t"/>
          <a:lstStyle/>
          <a:p>
            <a:pPr marL="0" indent="0">
              <a:buNone/>
            </a:pPr>
            <a:r>
              <a:rPr lang="en-US" sz="1400" dirty="0">
                <a:solidFill>
                  <a:schemeClr val="tx1"/>
                </a:solidFill>
              </a:rPr>
              <a:t>English &amp; Arabic</a:t>
            </a:r>
            <a:endParaRPr lang="en-US" sz="1400" dirty="0"/>
          </a:p>
        </p:txBody>
      </p:sp>
      <p:sp>
        <p:nvSpPr>
          <p:cNvPr id="12" name="Text 9"/>
          <p:cNvSpPr txBox="1"/>
          <p:nvPr/>
        </p:nvSpPr>
        <p:spPr>
          <a:xfrm>
            <a:off x="914400" y="3538728"/>
            <a:ext cx="1280160" cy="502920"/>
          </a:xfrm>
          <a:prstGeom prst="rect">
            <a:avLst/>
          </a:prstGeom>
          <a:noFill/>
          <a:ln/>
        </p:spPr>
        <p:txBody>
          <a:bodyPr wrap="square" lIns="0" tIns="0" rIns="0" bIns="0" rtlCol="0" anchor="t"/>
          <a:lstStyle/>
          <a:p>
            <a:pPr marL="0" indent="0">
              <a:buNone/>
            </a:pPr>
            <a:r>
              <a:rPr lang="en-US" sz="1100" b="1" kern="0" spc="100" dirty="0">
                <a:solidFill>
                  <a:schemeClr val="accent1"/>
                </a:solidFill>
              </a:rPr>
              <a:t>BUDGET</a:t>
            </a:r>
            <a:endParaRPr lang="en-US" sz="1100" dirty="0"/>
          </a:p>
        </p:txBody>
      </p:sp>
      <p:sp>
        <p:nvSpPr>
          <p:cNvPr id="13" name="Text 10"/>
          <p:cNvSpPr txBox="1"/>
          <p:nvPr/>
        </p:nvSpPr>
        <p:spPr>
          <a:xfrm>
            <a:off x="2240280" y="3511296"/>
            <a:ext cx="3108960" cy="530352"/>
          </a:xfrm>
          <a:prstGeom prst="rect">
            <a:avLst/>
          </a:prstGeom>
          <a:noFill/>
          <a:ln/>
        </p:spPr>
        <p:txBody>
          <a:bodyPr wrap="square" lIns="0" tIns="0" rIns="0" bIns="0" rtlCol="0" anchor="t"/>
          <a:lstStyle/>
          <a:p>
            <a:pPr marL="0" indent="0">
              <a:buNone/>
            </a:pPr>
            <a:r>
              <a:rPr lang="en-US" sz="1400" dirty="0">
                <a:solidFill>
                  <a:schemeClr val="tx1"/>
                </a:solidFill>
              </a:rPr>
              <a:t>1–2 books/month (student budget)</a:t>
            </a:r>
            <a:endParaRPr lang="en-US" sz="1400" dirty="0"/>
          </a:p>
        </p:txBody>
      </p:sp>
      <p:sp>
        <p:nvSpPr>
          <p:cNvPr id="14" name="Text 11"/>
          <p:cNvSpPr txBox="1"/>
          <p:nvPr/>
        </p:nvSpPr>
        <p:spPr>
          <a:xfrm>
            <a:off x="914400" y="4105656"/>
            <a:ext cx="1280160" cy="502920"/>
          </a:xfrm>
          <a:prstGeom prst="rect">
            <a:avLst/>
          </a:prstGeom>
          <a:noFill/>
          <a:ln/>
        </p:spPr>
        <p:txBody>
          <a:bodyPr wrap="square" lIns="0" tIns="0" rIns="0" bIns="0" rtlCol="0" anchor="t"/>
          <a:lstStyle/>
          <a:p>
            <a:pPr marL="0" indent="0">
              <a:buNone/>
            </a:pPr>
            <a:r>
              <a:rPr lang="en-US" sz="1100" b="1" kern="0" spc="100" dirty="0">
                <a:solidFill>
                  <a:schemeClr val="accent1"/>
                </a:solidFill>
              </a:rPr>
              <a:t>CONTEXT</a:t>
            </a:r>
            <a:endParaRPr lang="en-US" sz="1100" dirty="0"/>
          </a:p>
        </p:txBody>
      </p:sp>
      <p:sp>
        <p:nvSpPr>
          <p:cNvPr id="15" name="Text 12"/>
          <p:cNvSpPr txBox="1"/>
          <p:nvPr/>
        </p:nvSpPr>
        <p:spPr>
          <a:xfrm>
            <a:off x="2240280" y="4078224"/>
            <a:ext cx="3108960" cy="530352"/>
          </a:xfrm>
          <a:prstGeom prst="rect">
            <a:avLst/>
          </a:prstGeom>
          <a:noFill/>
          <a:ln/>
        </p:spPr>
        <p:txBody>
          <a:bodyPr wrap="square" lIns="0" tIns="0" rIns="0" bIns="0" rtlCol="0" anchor="t"/>
          <a:lstStyle/>
          <a:p>
            <a:pPr marL="0" indent="0">
              <a:buNone/>
            </a:pPr>
            <a:r>
              <a:rPr lang="en-US" sz="1400" dirty="0">
                <a:solidFill>
                  <a:schemeClr val="tx1"/>
                </a:solidFill>
              </a:rPr>
              <a:t>Phone-first; commute (metro) &amp; before sleep</a:t>
            </a:r>
            <a:endParaRPr lang="en-US" sz="1400" dirty="0"/>
          </a:p>
        </p:txBody>
      </p:sp>
      <p:sp>
        <p:nvSpPr>
          <p:cNvPr id="16" name="Text 13"/>
          <p:cNvSpPr txBox="1"/>
          <p:nvPr/>
        </p:nvSpPr>
        <p:spPr>
          <a:xfrm>
            <a:off x="914400" y="4672584"/>
            <a:ext cx="1280160" cy="502920"/>
          </a:xfrm>
          <a:prstGeom prst="rect">
            <a:avLst/>
          </a:prstGeom>
          <a:noFill/>
          <a:ln/>
        </p:spPr>
        <p:txBody>
          <a:bodyPr wrap="square" lIns="0" tIns="0" rIns="0" bIns="0" rtlCol="0" anchor="t"/>
          <a:lstStyle/>
          <a:p>
            <a:pPr marL="0" indent="0">
              <a:buNone/>
            </a:pPr>
            <a:r>
              <a:rPr lang="en-US" sz="1100" b="1" kern="0" spc="100" dirty="0">
                <a:solidFill>
                  <a:schemeClr val="accent1"/>
                </a:solidFill>
              </a:rPr>
              <a:t>TECH SKILLS</a:t>
            </a:r>
            <a:endParaRPr lang="en-US" sz="1100" dirty="0"/>
          </a:p>
        </p:txBody>
      </p:sp>
      <p:sp>
        <p:nvSpPr>
          <p:cNvPr id="17" name="Text 14"/>
          <p:cNvSpPr txBox="1"/>
          <p:nvPr/>
        </p:nvSpPr>
        <p:spPr>
          <a:xfrm>
            <a:off x="2240280" y="4645152"/>
            <a:ext cx="3108960" cy="530352"/>
          </a:xfrm>
          <a:prstGeom prst="rect">
            <a:avLst/>
          </a:prstGeom>
          <a:noFill/>
          <a:ln/>
        </p:spPr>
        <p:txBody>
          <a:bodyPr wrap="square" lIns="0" tIns="0" rIns="0" bIns="0" rtlCol="0" anchor="t"/>
          <a:lstStyle/>
          <a:p>
            <a:pPr marL="0" indent="0">
              <a:buNone/>
            </a:pPr>
            <a:r>
              <a:rPr lang="en-US" sz="1400" dirty="0">
                <a:solidFill>
                  <a:schemeClr val="tx1"/>
                </a:solidFill>
              </a:rPr>
              <a:t>High with phones/apps. Low patience for setup/sign-up walls.</a:t>
            </a:r>
            <a:endParaRPr lang="en-US" sz="1400" dirty="0"/>
          </a:p>
        </p:txBody>
      </p:sp>
      <p:sp>
        <p:nvSpPr>
          <p:cNvPr id="18" name="Quote card"/>
          <p:cNvSpPr/>
          <p:nvPr/>
        </p:nvSpPr>
        <p:spPr>
          <a:xfrm>
            <a:off x="868680" y="5303520"/>
            <a:ext cx="4480560" cy="868680"/>
          </a:xfrm>
          <a:prstGeom prst="roundRect">
            <a:avLst>
              <a:gd name="adj" fmla="val 12632"/>
            </a:avLst>
          </a:prstGeom>
          <a:solidFill>
            <a:schemeClr val="tx2"/>
          </a:solidFill>
          <a:ln/>
        </p:spPr>
        <p:txBody>
          <a:bodyPr/>
          <a:lstStyle/>
          <a:p>
            <a:endParaRPr lang="en-GB"/>
          </a:p>
        </p:txBody>
      </p:sp>
      <p:sp>
        <p:nvSpPr>
          <p:cNvPr id="19" name="Text 16"/>
          <p:cNvSpPr txBox="1"/>
          <p:nvPr/>
        </p:nvSpPr>
        <p:spPr>
          <a:xfrm>
            <a:off x="1005840" y="5303520"/>
            <a:ext cx="4206240" cy="868680"/>
          </a:xfrm>
          <a:prstGeom prst="rect">
            <a:avLst/>
          </a:prstGeom>
          <a:noFill/>
          <a:ln/>
        </p:spPr>
        <p:txBody>
          <a:bodyPr wrap="square" lIns="0" tIns="0" rIns="0" bIns="0" rtlCol="0" anchor="ctr"/>
          <a:lstStyle/>
          <a:p>
            <a:pPr marL="0" indent="0">
              <a:buNone/>
            </a:pPr>
            <a:r>
              <a:rPr lang="en-US" sz="1400" i="1" dirty="0">
                <a:solidFill>
                  <a:schemeClr val="tx1"/>
                </a:solidFill>
              </a:rPr>
              <a:t>“I just want to know: where’s the cheapest copy near me, and will I actually finish this one?”</a:t>
            </a:r>
            <a:endParaRPr lang="en-US" sz="1400" dirty="0"/>
          </a:p>
        </p:txBody>
      </p:sp>
      <p:sp>
        <p:nvSpPr>
          <p:cNvPr id="20" name="Goals card"/>
          <p:cNvSpPr/>
          <p:nvPr/>
        </p:nvSpPr>
        <p:spPr>
          <a:xfrm>
            <a:off x="5852160" y="1554480"/>
            <a:ext cx="5696712" cy="1965960"/>
          </a:xfrm>
          <a:prstGeom prst="roundRect">
            <a:avLst>
              <a:gd name="adj" fmla="val 5581"/>
            </a:avLst>
          </a:prstGeom>
          <a:solidFill>
            <a:schemeClr val="bg2"/>
          </a:solidFill>
          <a:ln w="9525">
            <a:solidFill>
              <a:schemeClr val="tx2"/>
            </a:solidFill>
            <a:prstDash val="solid"/>
          </a:ln>
        </p:spPr>
        <p:txBody>
          <a:bodyPr/>
          <a:lstStyle/>
          <a:p>
            <a:endParaRPr lang="en-GB"/>
          </a:p>
        </p:txBody>
      </p:sp>
      <p:sp>
        <p:nvSpPr>
          <p:cNvPr id="21" name="Text 18"/>
          <p:cNvSpPr txBox="1"/>
          <p:nvPr/>
        </p:nvSpPr>
        <p:spPr>
          <a:xfrm>
            <a:off x="6126480" y="1737360"/>
            <a:ext cx="2743200"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GOALS</a:t>
            </a:r>
            <a:endParaRPr lang="en-US" sz="1200" dirty="0"/>
          </a:p>
        </p:txBody>
      </p:sp>
      <p:sp>
        <p:nvSpPr>
          <p:cNvPr id="22" name="Goal number"/>
          <p:cNvSpPr/>
          <p:nvPr/>
        </p:nvSpPr>
        <p:spPr>
          <a:xfrm>
            <a:off x="6126480" y="2139696"/>
            <a:ext cx="310896" cy="310896"/>
          </a:xfrm>
          <a:prstGeom prst="ellipse">
            <a:avLst/>
          </a:prstGeom>
          <a:solidFill>
            <a:schemeClr val="accent4"/>
          </a:solidFill>
          <a:ln/>
        </p:spPr>
        <p:txBody>
          <a:bodyPr/>
          <a:lstStyle/>
          <a:p>
            <a:endParaRPr lang="en-GB"/>
          </a:p>
        </p:txBody>
      </p:sp>
      <p:sp>
        <p:nvSpPr>
          <p:cNvPr id="23" name="Text 20"/>
          <p:cNvSpPr txBox="1"/>
          <p:nvPr/>
        </p:nvSpPr>
        <p:spPr>
          <a:xfrm>
            <a:off x="6126480" y="2139696"/>
            <a:ext cx="310896" cy="310896"/>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4" name="Text 21"/>
          <p:cNvSpPr txBox="1"/>
          <p:nvPr/>
        </p:nvSpPr>
        <p:spPr>
          <a:xfrm>
            <a:off x="6629400" y="2103120"/>
            <a:ext cx="4690872" cy="384048"/>
          </a:xfrm>
          <a:prstGeom prst="rect">
            <a:avLst/>
          </a:prstGeom>
          <a:noFill/>
          <a:ln/>
        </p:spPr>
        <p:txBody>
          <a:bodyPr wrap="square" lIns="0" tIns="0" rIns="0" bIns="0" rtlCol="0" anchor="ctr"/>
          <a:lstStyle/>
          <a:p>
            <a:pPr marL="0" indent="0">
              <a:buNone/>
            </a:pPr>
            <a:r>
              <a:rPr lang="en-US" sz="1600" dirty="0">
                <a:solidFill>
                  <a:schemeClr val="tx1"/>
                </a:solidFill>
              </a:rPr>
              <a:t>Find a book at the lowest local price</a:t>
            </a:r>
            <a:endParaRPr lang="en-US" sz="1600" dirty="0"/>
          </a:p>
        </p:txBody>
      </p:sp>
      <p:sp>
        <p:nvSpPr>
          <p:cNvPr id="25" name="Goal number"/>
          <p:cNvSpPr/>
          <p:nvPr/>
        </p:nvSpPr>
        <p:spPr>
          <a:xfrm>
            <a:off x="6126480" y="2596896"/>
            <a:ext cx="310896" cy="310896"/>
          </a:xfrm>
          <a:prstGeom prst="ellipse">
            <a:avLst/>
          </a:prstGeom>
          <a:solidFill>
            <a:schemeClr val="accent4"/>
          </a:solidFill>
          <a:ln/>
        </p:spPr>
        <p:txBody>
          <a:bodyPr/>
          <a:lstStyle/>
          <a:p>
            <a:endParaRPr lang="en-GB"/>
          </a:p>
        </p:txBody>
      </p:sp>
      <p:sp>
        <p:nvSpPr>
          <p:cNvPr id="26" name="Text 23"/>
          <p:cNvSpPr txBox="1"/>
          <p:nvPr/>
        </p:nvSpPr>
        <p:spPr>
          <a:xfrm>
            <a:off x="6126480" y="2596896"/>
            <a:ext cx="310896" cy="310896"/>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7" name="Text 24"/>
          <p:cNvSpPr txBox="1"/>
          <p:nvPr/>
        </p:nvSpPr>
        <p:spPr>
          <a:xfrm>
            <a:off x="6629400" y="2560320"/>
            <a:ext cx="4690872" cy="384048"/>
          </a:xfrm>
          <a:prstGeom prst="rect">
            <a:avLst/>
          </a:prstGeom>
          <a:noFill/>
          <a:ln/>
        </p:spPr>
        <p:txBody>
          <a:bodyPr wrap="square" lIns="0" tIns="0" rIns="0" bIns="0" rtlCol="0" anchor="ctr"/>
          <a:lstStyle/>
          <a:p>
            <a:pPr marL="0" indent="0">
              <a:buNone/>
            </a:pPr>
            <a:r>
              <a:rPr lang="en-US" sz="1600" dirty="0">
                <a:solidFill>
                  <a:schemeClr val="tx1"/>
                </a:solidFill>
              </a:rPr>
              <a:t>Keep her reading habit going (streak)</a:t>
            </a:r>
            <a:endParaRPr lang="en-US" sz="1600" dirty="0"/>
          </a:p>
        </p:txBody>
      </p:sp>
      <p:sp>
        <p:nvSpPr>
          <p:cNvPr id="28" name="Goal number"/>
          <p:cNvSpPr/>
          <p:nvPr/>
        </p:nvSpPr>
        <p:spPr>
          <a:xfrm>
            <a:off x="6126480" y="3054096"/>
            <a:ext cx="310896" cy="310896"/>
          </a:xfrm>
          <a:prstGeom prst="ellipse">
            <a:avLst/>
          </a:prstGeom>
          <a:solidFill>
            <a:schemeClr val="accent4"/>
          </a:solidFill>
          <a:ln/>
        </p:spPr>
        <p:txBody>
          <a:bodyPr/>
          <a:lstStyle/>
          <a:p>
            <a:endParaRPr lang="en-GB"/>
          </a:p>
        </p:txBody>
      </p:sp>
      <p:sp>
        <p:nvSpPr>
          <p:cNvPr id="29" name="Text 26"/>
          <p:cNvSpPr txBox="1"/>
          <p:nvPr/>
        </p:nvSpPr>
        <p:spPr>
          <a:xfrm>
            <a:off x="6126480" y="3054096"/>
            <a:ext cx="310896" cy="310896"/>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0" name="Text 27"/>
          <p:cNvSpPr txBox="1"/>
          <p:nvPr/>
        </p:nvSpPr>
        <p:spPr>
          <a:xfrm>
            <a:off x="6629400" y="3017520"/>
            <a:ext cx="4690872" cy="384048"/>
          </a:xfrm>
          <a:prstGeom prst="rect">
            <a:avLst/>
          </a:prstGeom>
          <a:noFill/>
          <a:ln/>
        </p:spPr>
        <p:txBody>
          <a:bodyPr wrap="square" lIns="0" tIns="0" rIns="0" bIns="0" rtlCol="0" anchor="ctr"/>
          <a:lstStyle/>
          <a:p>
            <a:pPr marL="0" indent="0">
              <a:buNone/>
            </a:pPr>
            <a:r>
              <a:rPr lang="en-US" sz="1600" dirty="0">
                <a:solidFill>
                  <a:schemeClr val="tx1"/>
                </a:solidFill>
              </a:rPr>
              <a:t>Pick books she will actually finish</a:t>
            </a:r>
            <a:endParaRPr lang="en-US" sz="1600" dirty="0"/>
          </a:p>
        </p:txBody>
      </p:sp>
      <p:sp>
        <p:nvSpPr>
          <p:cNvPr id="31" name="Frustrations card"/>
          <p:cNvSpPr/>
          <p:nvPr/>
        </p:nvSpPr>
        <p:spPr>
          <a:xfrm>
            <a:off x="5852160" y="3657600"/>
            <a:ext cx="5696712" cy="1965960"/>
          </a:xfrm>
          <a:prstGeom prst="roundRect">
            <a:avLst>
              <a:gd name="adj" fmla="val 5581"/>
            </a:avLst>
          </a:prstGeom>
          <a:solidFill>
            <a:schemeClr val="bg2"/>
          </a:solidFill>
          <a:ln w="9525">
            <a:solidFill>
              <a:schemeClr val="tx2"/>
            </a:solidFill>
            <a:prstDash val="solid"/>
          </a:ln>
        </p:spPr>
        <p:txBody>
          <a:bodyPr/>
          <a:lstStyle/>
          <a:p>
            <a:endParaRPr lang="en-GB"/>
          </a:p>
        </p:txBody>
      </p:sp>
      <p:sp>
        <p:nvSpPr>
          <p:cNvPr id="32" name="Text 29"/>
          <p:cNvSpPr txBox="1"/>
          <p:nvPr/>
        </p:nvSpPr>
        <p:spPr>
          <a:xfrm>
            <a:off x="6126480" y="3840480"/>
            <a:ext cx="2743200" cy="228600"/>
          </a:xfrm>
          <a:prstGeom prst="rect">
            <a:avLst/>
          </a:prstGeom>
          <a:noFill/>
          <a:ln/>
        </p:spPr>
        <p:txBody>
          <a:bodyPr wrap="square" lIns="0" tIns="0" rIns="0" bIns="0" rtlCol="0" anchor="t"/>
          <a:lstStyle/>
          <a:p>
            <a:pPr marL="0" indent="0">
              <a:buNone/>
            </a:pPr>
            <a:r>
              <a:rPr lang="en-US" sz="1200" b="1" kern="0" spc="150" dirty="0">
                <a:solidFill>
                  <a:schemeClr val="accent3"/>
                </a:solidFill>
              </a:rPr>
              <a:t>FRUSTRATIONS</a:t>
            </a:r>
            <a:endParaRPr lang="en-US" sz="1200" dirty="0"/>
          </a:p>
        </p:txBody>
      </p:sp>
      <p:sp>
        <p:nvSpPr>
          <p:cNvPr id="33" name="Frustration number"/>
          <p:cNvSpPr/>
          <p:nvPr/>
        </p:nvSpPr>
        <p:spPr>
          <a:xfrm>
            <a:off x="6126480" y="4242816"/>
            <a:ext cx="310896" cy="310896"/>
          </a:xfrm>
          <a:prstGeom prst="ellipse">
            <a:avLst/>
          </a:prstGeom>
          <a:solidFill>
            <a:schemeClr val="accent3"/>
          </a:solidFill>
          <a:ln/>
        </p:spPr>
        <p:txBody>
          <a:bodyPr/>
          <a:lstStyle/>
          <a:p>
            <a:endParaRPr lang="en-GB"/>
          </a:p>
        </p:txBody>
      </p:sp>
      <p:sp>
        <p:nvSpPr>
          <p:cNvPr id="34" name="Text 31"/>
          <p:cNvSpPr txBox="1"/>
          <p:nvPr/>
        </p:nvSpPr>
        <p:spPr>
          <a:xfrm>
            <a:off x="6126480" y="4242816"/>
            <a:ext cx="310896" cy="310896"/>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35" name="Text 32"/>
          <p:cNvSpPr txBox="1"/>
          <p:nvPr/>
        </p:nvSpPr>
        <p:spPr>
          <a:xfrm>
            <a:off x="6629400" y="4206240"/>
            <a:ext cx="4690872" cy="384048"/>
          </a:xfrm>
          <a:prstGeom prst="rect">
            <a:avLst/>
          </a:prstGeom>
          <a:noFill/>
          <a:ln/>
        </p:spPr>
        <p:txBody>
          <a:bodyPr wrap="square" lIns="0" tIns="0" rIns="0" bIns="0" rtlCol="0" anchor="ctr"/>
          <a:lstStyle/>
          <a:p>
            <a:pPr marL="0" indent="0">
              <a:buNone/>
            </a:pPr>
            <a:r>
              <a:rPr lang="en-US" sz="1600" dirty="0">
                <a:solidFill>
                  <a:schemeClr val="tx1"/>
                </a:solidFill>
              </a:rPr>
              <a:t>Comparing prices across browser tabs</a:t>
            </a:r>
            <a:endParaRPr lang="en-US" sz="1600" dirty="0"/>
          </a:p>
        </p:txBody>
      </p:sp>
      <p:sp>
        <p:nvSpPr>
          <p:cNvPr id="36" name="Frustration number"/>
          <p:cNvSpPr/>
          <p:nvPr/>
        </p:nvSpPr>
        <p:spPr>
          <a:xfrm>
            <a:off x="6126480" y="4700016"/>
            <a:ext cx="310896" cy="310896"/>
          </a:xfrm>
          <a:prstGeom prst="ellipse">
            <a:avLst/>
          </a:prstGeom>
          <a:solidFill>
            <a:schemeClr val="accent3"/>
          </a:solidFill>
          <a:ln/>
        </p:spPr>
        <p:txBody>
          <a:bodyPr/>
          <a:lstStyle/>
          <a:p>
            <a:endParaRPr lang="en-GB"/>
          </a:p>
        </p:txBody>
      </p:sp>
      <p:sp>
        <p:nvSpPr>
          <p:cNvPr id="37" name="Text 34"/>
          <p:cNvSpPr txBox="1"/>
          <p:nvPr/>
        </p:nvSpPr>
        <p:spPr>
          <a:xfrm>
            <a:off x="6126480" y="4700016"/>
            <a:ext cx="310896" cy="310896"/>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38" name="Text 35"/>
          <p:cNvSpPr txBox="1"/>
          <p:nvPr/>
        </p:nvSpPr>
        <p:spPr>
          <a:xfrm>
            <a:off x="6629400" y="4663440"/>
            <a:ext cx="4690872" cy="384048"/>
          </a:xfrm>
          <a:prstGeom prst="rect">
            <a:avLst/>
          </a:prstGeom>
          <a:noFill/>
          <a:ln/>
        </p:spPr>
        <p:txBody>
          <a:bodyPr wrap="square" lIns="0" tIns="0" rIns="0" bIns="0" rtlCol="0" anchor="ctr"/>
          <a:lstStyle/>
          <a:p>
            <a:pPr marL="0" indent="0">
              <a:buNone/>
            </a:pPr>
            <a:r>
              <a:rPr lang="en-US" sz="1600" dirty="0">
                <a:solidFill>
                  <a:schemeClr val="tx1"/>
                </a:solidFill>
              </a:rPr>
              <a:t>Losing her place when switching devices</a:t>
            </a:r>
            <a:endParaRPr lang="en-US" sz="1600" dirty="0"/>
          </a:p>
        </p:txBody>
      </p:sp>
      <p:sp>
        <p:nvSpPr>
          <p:cNvPr id="39" name="Frustration number"/>
          <p:cNvSpPr/>
          <p:nvPr/>
        </p:nvSpPr>
        <p:spPr>
          <a:xfrm>
            <a:off x="6126480" y="5157216"/>
            <a:ext cx="310896" cy="310896"/>
          </a:xfrm>
          <a:prstGeom prst="ellipse">
            <a:avLst/>
          </a:prstGeom>
          <a:solidFill>
            <a:schemeClr val="accent3"/>
          </a:solidFill>
          <a:ln/>
        </p:spPr>
        <p:txBody>
          <a:bodyPr/>
          <a:lstStyle/>
          <a:p>
            <a:endParaRPr lang="en-GB"/>
          </a:p>
        </p:txBody>
      </p:sp>
      <p:sp>
        <p:nvSpPr>
          <p:cNvPr id="40" name="Text 37"/>
          <p:cNvSpPr txBox="1"/>
          <p:nvPr/>
        </p:nvSpPr>
        <p:spPr>
          <a:xfrm>
            <a:off x="6126480" y="5157216"/>
            <a:ext cx="310896" cy="310896"/>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41" name="Text 38"/>
          <p:cNvSpPr txBox="1"/>
          <p:nvPr/>
        </p:nvSpPr>
        <p:spPr>
          <a:xfrm>
            <a:off x="6629400" y="5120640"/>
            <a:ext cx="4690872" cy="384048"/>
          </a:xfrm>
          <a:prstGeom prst="rect">
            <a:avLst/>
          </a:prstGeom>
          <a:noFill/>
          <a:ln/>
        </p:spPr>
        <p:txBody>
          <a:bodyPr wrap="square" lIns="0" tIns="0" rIns="0" bIns="0" rtlCol="0" anchor="ctr"/>
          <a:lstStyle/>
          <a:p>
            <a:pPr marL="0" indent="0">
              <a:buNone/>
            </a:pPr>
            <a:r>
              <a:rPr lang="en-US" sz="1600" dirty="0">
                <a:solidFill>
                  <a:schemeClr val="tx1"/>
                </a:solidFill>
              </a:rPr>
              <a:t>Paying for books she abandons halfway</a:t>
            </a:r>
            <a:endParaRPr lang="en-US" sz="1600" dirty="0"/>
          </a:p>
        </p:txBody>
      </p:sp>
      <p:sp>
        <p:nvSpPr>
          <p:cNvPr id="42" name="Status badge"/>
          <p:cNvSpPr/>
          <p:nvPr/>
        </p:nvSpPr>
        <p:spPr>
          <a:xfrm>
            <a:off x="5852160" y="5760720"/>
            <a:ext cx="5696712" cy="548640"/>
          </a:xfrm>
          <a:prstGeom prst="roundRect">
            <a:avLst>
              <a:gd name="adj" fmla="val 20000"/>
            </a:avLst>
          </a:prstGeom>
          <a:solidFill>
            <a:schemeClr val="accent5">
              <a:alpha val="12000"/>
            </a:schemeClr>
          </a:solidFill>
          <a:ln w="12700">
            <a:solidFill>
              <a:schemeClr val="accent5"/>
            </a:solidFill>
            <a:prstDash val="solid"/>
          </a:ln>
        </p:spPr>
        <p:txBody>
          <a:bodyPr/>
          <a:lstStyle/>
          <a:p>
            <a:endParaRPr lang="en-GB"/>
          </a:p>
        </p:txBody>
      </p:sp>
      <p:sp>
        <p:nvSpPr>
          <p:cNvPr id="43" name="Status dot"/>
          <p:cNvSpPr/>
          <p:nvPr/>
        </p:nvSpPr>
        <p:spPr>
          <a:xfrm>
            <a:off x="6080760" y="5952744"/>
            <a:ext cx="164592" cy="164592"/>
          </a:xfrm>
          <a:prstGeom prst="ellipse">
            <a:avLst/>
          </a:prstGeom>
          <a:solidFill>
            <a:schemeClr val="accent5"/>
          </a:solidFill>
          <a:ln/>
        </p:spPr>
        <p:txBody>
          <a:bodyPr/>
          <a:lstStyle/>
          <a:p>
            <a:endParaRPr lang="en-GB"/>
          </a:p>
        </p:txBody>
      </p:sp>
      <p:sp>
        <p:nvSpPr>
          <p:cNvPr id="44" name="Text 41"/>
          <p:cNvSpPr txBox="1"/>
          <p:nvPr/>
        </p:nvSpPr>
        <p:spPr>
          <a:xfrm>
            <a:off x="6400800" y="5760720"/>
            <a:ext cx="4965192" cy="548640"/>
          </a:xfrm>
          <a:prstGeom prst="rect">
            <a:avLst/>
          </a:prstGeom>
          <a:noFill/>
          <a:ln/>
        </p:spPr>
        <p:txBody>
          <a:bodyPr wrap="square" lIns="0" tIns="0" rIns="0" bIns="0" rtlCol="0" anchor="ctr"/>
          <a:lstStyle/>
          <a:p>
            <a:pPr marL="0" indent="0">
              <a:buNone/>
            </a:pPr>
            <a:r>
              <a:rPr lang="en-US" sz="1300" b="1" dirty="0">
                <a:solidFill>
                  <a:schemeClr val="tx1"/>
                </a:solidFill>
              </a:rPr>
              <a:t>Proto-persona</a:t>
            </a:r>
            <a:r>
              <a:rPr lang="en-US" sz="1300" dirty="0">
                <a:solidFill>
                  <a:schemeClr val="tx1"/>
                </a:solidFill>
              </a:rPr>
              <a:t> — source: team experience + informal chats. Next: validate with 5+ interviews.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280160"/>
            <a:ext cx="4572000" cy="1463040"/>
          </a:xfrm>
          <a:prstGeom prst="rect">
            <a:avLst/>
          </a:prstGeom>
          <a:noFill/>
          <a:ln/>
        </p:spPr>
        <p:txBody>
          <a:bodyPr wrap="square" lIns="0" tIns="0" rIns="0" bIns="0" rtlCol="0" anchor="ctr"/>
          <a:lstStyle/>
          <a:p>
            <a:pPr marL="0" indent="0" algn="l">
              <a:buNone/>
            </a:pPr>
            <a:r>
              <a:rPr lang="en-US" sz="9600" b="1" dirty="0">
                <a:solidFill>
                  <a:schemeClr val="accent1"/>
                </a:solidFill>
              </a:rPr>
              <a:t>04</a:t>
            </a:r>
            <a:endParaRPr lang="en-US" sz="9600" dirty="0"/>
          </a:p>
        </p:txBody>
      </p:sp>
      <p:sp>
        <p:nvSpPr>
          <p:cNvPr id="3" name="Text 1"/>
          <p:cNvSpPr>
            <a:spLocks noGrp="1"/>
          </p:cNvSpPr>
          <p:nvPr>
            <p:ph type="title" idx="102" hasCustomPrompt="1"/>
          </p:nvPr>
        </p:nvSpPr>
        <p:spPr>
          <a:xfrm>
            <a:off x="822960" y="3108960"/>
            <a:ext cx="5852160" cy="2194560"/>
          </a:xfrm>
          <a:prstGeom prst="rect">
            <a:avLst/>
          </a:prstGeom>
          <a:noFill/>
          <a:ln/>
        </p:spPr>
        <p:txBody>
          <a:bodyPr wrap="square" lIns="0" tIns="0" rIns="0" bIns="0" rtlCol="0" anchor="t"/>
          <a:lstStyle/>
          <a:p>
            <a:pPr marL="0" indent="0" algn="l">
              <a:buNone/>
            </a:pPr>
            <a:r>
              <a:rPr lang="en-US" sz="4400" b="1" dirty="0">
                <a:solidFill>
                  <a:schemeClr val="tx1"/>
                </a:solidFill>
              </a:rPr>
              <a:t>User Stories &amp; Acceptance Criteria</a:t>
            </a:r>
            <a:endParaRPr lang="en-US" sz="4400" dirty="0"/>
          </a:p>
        </p:txBody>
      </p:sp>
      <p:sp>
        <p:nvSpPr>
          <p:cNvPr id="4" name="Text 1"/>
          <p:cNvSpPr>
            <a:spLocks noGrp="1"/>
          </p:cNvSpPr>
          <p:nvPr>
            <p:ph type="body" idx="103" hasCustomPrompt="1"/>
          </p:nvPr>
        </p:nvSpPr>
        <p:spPr>
          <a:xfrm>
            <a:off x="822960" y="5577840"/>
            <a:ext cx="5852160" cy="274320"/>
          </a:xfrm>
          <a:prstGeom prst="rect">
            <a:avLst/>
          </a:prstGeom>
          <a:noFill/>
          <a:ln/>
        </p:spPr>
        <p:txBody>
          <a:bodyPr wrap="square" lIns="0" tIns="0" rIns="0" bIns="0" rtlCol="0" anchor="ctr"/>
          <a:lstStyle/>
          <a:p>
            <a:pPr marL="0" indent="0" algn="l">
              <a:buNone/>
            </a:pPr>
            <a:r>
              <a:rPr lang="en-US" sz="1400" b="1" kern="0" spc="150" dirty="0">
                <a:solidFill>
                  <a:schemeClr val="accent2"/>
                </a:solidFill>
              </a:rPr>
              <a:t>PRESENTER  ·  ANAS HOSSAM  ·  ~8 MIN</a:t>
            </a:r>
            <a:endParaRPr lang="en-US" sz="1400" dirty="0"/>
          </a:p>
        </p:txBody>
      </p:sp>
      <p:sp>
        <p:nvSpPr>
          <p:cNvPr id="6" name="Text 3"/>
          <p:cNvSpPr txBox="1"/>
          <p:nvPr/>
        </p:nvSpPr>
        <p:spPr>
          <a:xfrm>
            <a:off x="7223760" y="1325880"/>
            <a:ext cx="4297680" cy="228600"/>
          </a:xfrm>
          <a:prstGeom prst="rect">
            <a:avLst/>
          </a:prstGeom>
          <a:noFill/>
          <a:ln/>
        </p:spPr>
        <p:txBody>
          <a:bodyPr wrap="square" lIns="0" tIns="0" rIns="0" bIns="0" rtlCol="0" anchor="t"/>
          <a:lstStyle/>
          <a:p>
            <a:pPr marL="0" indent="0">
              <a:buNone/>
            </a:pPr>
            <a:r>
              <a:rPr lang="en-US" sz="1200" b="1" kern="0" spc="150" dirty="0">
                <a:solidFill>
                  <a:schemeClr val="accent2"/>
                </a:solidFill>
              </a:rPr>
              <a:t>AGENDA</a:t>
            </a:r>
            <a:endParaRPr lang="en-US" sz="1200" dirty="0"/>
          </a:p>
        </p:txBody>
      </p:sp>
      <p:sp>
        <p:nvSpPr>
          <p:cNvPr id="7" name="Text 4"/>
          <p:cNvSpPr txBox="1"/>
          <p:nvPr/>
        </p:nvSpPr>
        <p:spPr>
          <a:xfrm>
            <a:off x="7406640" y="169164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01</a:t>
            </a:r>
            <a:endParaRPr lang="en-US" sz="1600" dirty="0"/>
          </a:p>
        </p:txBody>
      </p:sp>
      <p:sp>
        <p:nvSpPr>
          <p:cNvPr id="8" name="Text 5"/>
          <p:cNvSpPr txBox="1"/>
          <p:nvPr/>
        </p:nvSpPr>
        <p:spPr>
          <a:xfrm>
            <a:off x="7955280" y="169164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Why User-Centred Design?</a:t>
            </a:r>
            <a:endParaRPr lang="en-US" sz="1600" dirty="0"/>
          </a:p>
        </p:txBody>
      </p:sp>
      <p:sp>
        <p:nvSpPr>
          <p:cNvPr id="9" name="Text 6"/>
          <p:cNvSpPr txBox="1"/>
          <p:nvPr/>
        </p:nvSpPr>
        <p:spPr>
          <a:xfrm>
            <a:off x="7406640" y="233172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02</a:t>
            </a:r>
            <a:endParaRPr lang="en-US" sz="1600" dirty="0"/>
          </a:p>
        </p:txBody>
      </p:sp>
      <p:sp>
        <p:nvSpPr>
          <p:cNvPr id="10" name="Text 7"/>
          <p:cNvSpPr txBox="1"/>
          <p:nvPr/>
        </p:nvSpPr>
        <p:spPr>
          <a:xfrm>
            <a:off x="7955280" y="233172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Users, Stakeholders &amp; Research</a:t>
            </a:r>
            <a:endParaRPr lang="en-US" sz="1600" dirty="0"/>
          </a:p>
        </p:txBody>
      </p:sp>
      <p:sp>
        <p:nvSpPr>
          <p:cNvPr id="11" name="Text 8"/>
          <p:cNvSpPr txBox="1"/>
          <p:nvPr/>
        </p:nvSpPr>
        <p:spPr>
          <a:xfrm>
            <a:off x="7406640" y="297180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03</a:t>
            </a:r>
            <a:endParaRPr lang="en-US" sz="1600" dirty="0"/>
          </a:p>
        </p:txBody>
      </p:sp>
      <p:sp>
        <p:nvSpPr>
          <p:cNvPr id="12" name="Text 9"/>
          <p:cNvSpPr txBox="1"/>
          <p:nvPr/>
        </p:nvSpPr>
        <p:spPr>
          <a:xfrm>
            <a:off x="7955280" y="297180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Personas</a:t>
            </a:r>
            <a:endParaRPr lang="en-US" sz="1600" dirty="0"/>
          </a:p>
        </p:txBody>
      </p:sp>
      <p:sp>
        <p:nvSpPr>
          <p:cNvPr id="13" name="Current section"/>
          <p:cNvSpPr/>
          <p:nvPr/>
        </p:nvSpPr>
        <p:spPr>
          <a:xfrm>
            <a:off x="7223760" y="3557016"/>
            <a:ext cx="4325112" cy="548640"/>
          </a:xfrm>
          <a:prstGeom prst="roundRect">
            <a:avLst>
              <a:gd name="adj" fmla="val 20000"/>
            </a:avLst>
          </a:prstGeom>
          <a:solidFill>
            <a:schemeClr val="bg2"/>
          </a:solidFill>
          <a:ln w="15875">
            <a:solidFill>
              <a:schemeClr val="accent1"/>
            </a:solidFill>
            <a:prstDash val="solid"/>
          </a:ln>
        </p:spPr>
        <p:txBody>
          <a:bodyPr/>
          <a:lstStyle/>
          <a:p>
            <a:endParaRPr lang="en-GB"/>
          </a:p>
        </p:txBody>
      </p:sp>
      <p:sp>
        <p:nvSpPr>
          <p:cNvPr id="14" name="Text 11"/>
          <p:cNvSpPr txBox="1"/>
          <p:nvPr/>
        </p:nvSpPr>
        <p:spPr>
          <a:xfrm>
            <a:off x="7406640" y="3611880"/>
            <a:ext cx="457200" cy="438912"/>
          </a:xfrm>
          <a:prstGeom prst="rect">
            <a:avLst/>
          </a:prstGeom>
          <a:noFill/>
          <a:ln/>
        </p:spPr>
        <p:txBody>
          <a:bodyPr wrap="square" lIns="0" tIns="0" rIns="0" bIns="0" rtlCol="0" anchor="ctr"/>
          <a:lstStyle/>
          <a:p>
            <a:pPr marL="0" indent="0">
              <a:buNone/>
            </a:pPr>
            <a:r>
              <a:rPr lang="en-US" sz="1600" b="1" dirty="0">
                <a:solidFill>
                  <a:schemeClr val="accent1"/>
                </a:solidFill>
              </a:rPr>
              <a:t>04</a:t>
            </a:r>
            <a:endParaRPr lang="en-US" sz="1600" dirty="0"/>
          </a:p>
        </p:txBody>
      </p:sp>
      <p:sp>
        <p:nvSpPr>
          <p:cNvPr id="15" name="Text 12"/>
          <p:cNvSpPr txBox="1"/>
          <p:nvPr/>
        </p:nvSpPr>
        <p:spPr>
          <a:xfrm>
            <a:off x="7955280" y="3611880"/>
            <a:ext cx="3474720" cy="438912"/>
          </a:xfrm>
          <a:prstGeom prst="rect">
            <a:avLst/>
          </a:prstGeom>
          <a:noFill/>
          <a:ln/>
        </p:spPr>
        <p:txBody>
          <a:bodyPr wrap="square" lIns="0" tIns="0" rIns="0" bIns="0" rtlCol="0" anchor="ctr"/>
          <a:lstStyle/>
          <a:p>
            <a:pPr marL="0" indent="0">
              <a:buNone/>
            </a:pPr>
            <a:r>
              <a:rPr lang="en-US" sz="1600" b="1" dirty="0">
                <a:solidFill>
                  <a:schemeClr val="tx1"/>
                </a:solidFill>
              </a:rPr>
              <a:t>User Stories &amp; Acceptance Criteria</a:t>
            </a:r>
            <a:endParaRPr lang="en-US" sz="1600" dirty="0"/>
          </a:p>
        </p:txBody>
      </p:sp>
      <p:sp>
        <p:nvSpPr>
          <p:cNvPr id="16" name="Text 13"/>
          <p:cNvSpPr txBox="1"/>
          <p:nvPr/>
        </p:nvSpPr>
        <p:spPr>
          <a:xfrm>
            <a:off x="7406640" y="425196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05</a:t>
            </a:r>
            <a:endParaRPr lang="en-US" sz="1600" dirty="0"/>
          </a:p>
        </p:txBody>
      </p:sp>
      <p:sp>
        <p:nvSpPr>
          <p:cNvPr id="17" name="Text 14"/>
          <p:cNvSpPr txBox="1"/>
          <p:nvPr/>
        </p:nvSpPr>
        <p:spPr>
          <a:xfrm>
            <a:off x="7955280" y="425196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Problem Statement &amp; User Flow</a:t>
            </a:r>
            <a:endParaRPr lang="en-US" sz="1600" dirty="0"/>
          </a:p>
        </p:txBody>
      </p:sp>
      <p:sp>
        <p:nvSpPr>
          <p:cNvPr id="18" name="Text 15"/>
          <p:cNvSpPr txBox="1"/>
          <p:nvPr/>
        </p:nvSpPr>
        <p:spPr>
          <a:xfrm>
            <a:off x="7406640" y="489204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06</a:t>
            </a:r>
            <a:endParaRPr lang="en-US" sz="1600" dirty="0"/>
          </a:p>
        </p:txBody>
      </p:sp>
      <p:sp>
        <p:nvSpPr>
          <p:cNvPr id="19" name="Text 16"/>
          <p:cNvSpPr txBox="1"/>
          <p:nvPr/>
        </p:nvSpPr>
        <p:spPr>
          <a:xfrm>
            <a:off x="7955280" y="489204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Wireframes &amp; Usability Heuristics</a:t>
            </a:r>
            <a:endParaRPr lang="en-US" sz="1600" dirty="0"/>
          </a:p>
        </p:txBody>
      </p:sp>
      <p:sp>
        <p:nvSpPr>
          <p:cNvPr id="20" name="Text 17"/>
          <p:cNvSpPr txBox="1"/>
          <p:nvPr/>
        </p:nvSpPr>
        <p:spPr>
          <a:xfrm>
            <a:off x="7406640" y="553212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07</a:t>
            </a:r>
            <a:endParaRPr lang="en-US" sz="1600" dirty="0"/>
          </a:p>
        </p:txBody>
      </p:sp>
      <p:sp>
        <p:nvSpPr>
          <p:cNvPr id="21" name="Text 18"/>
          <p:cNvSpPr txBox="1"/>
          <p:nvPr/>
        </p:nvSpPr>
        <p:spPr>
          <a:xfrm>
            <a:off x="7955280" y="553212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Accessibility</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04 · USER STORIES &amp; ACCEPTANCE CRITERIA</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User Story Format &amp; INVEST Criteria</a:t>
            </a:r>
            <a:endParaRPr lang="en-US" sz="3200" dirty="0"/>
          </a:p>
        </p:txBody>
      </p:sp>
      <p:sp>
        <p:nvSpPr>
          <p:cNvPr id="5" name="Story format card"/>
          <p:cNvSpPr/>
          <p:nvPr/>
        </p:nvSpPr>
        <p:spPr>
          <a:xfrm>
            <a:off x="640080" y="1554480"/>
            <a:ext cx="10908792" cy="914400"/>
          </a:xfrm>
          <a:prstGeom prst="roundRect">
            <a:avLst>
              <a:gd name="adj" fmla="val 12000"/>
            </a:avLst>
          </a:prstGeom>
          <a:solidFill>
            <a:schemeClr val="tx2"/>
          </a:solidFill>
          <a:ln w="15875">
            <a:solidFill>
              <a:schemeClr val="accent1"/>
            </a:solidFill>
            <a:prstDash val="solid"/>
          </a:ln>
        </p:spPr>
        <p:txBody>
          <a:bodyPr/>
          <a:lstStyle/>
          <a:p>
            <a:endParaRPr lang="en-GB"/>
          </a:p>
        </p:txBody>
      </p:sp>
      <p:sp>
        <p:nvSpPr>
          <p:cNvPr id="6" name="Text 3"/>
          <p:cNvSpPr txBox="1"/>
          <p:nvPr/>
        </p:nvSpPr>
        <p:spPr>
          <a:xfrm>
            <a:off x="640080" y="1554480"/>
            <a:ext cx="10908792" cy="914400"/>
          </a:xfrm>
          <a:prstGeom prst="rect">
            <a:avLst/>
          </a:prstGeom>
          <a:noFill/>
          <a:ln/>
        </p:spPr>
        <p:txBody>
          <a:bodyPr wrap="square" lIns="0" tIns="0" rIns="0" bIns="0" rtlCol="0" anchor="ctr"/>
          <a:lstStyle/>
          <a:p>
            <a:pPr marL="0" indent="0" algn="ctr">
              <a:buNone/>
            </a:pPr>
            <a:r>
              <a:rPr lang="en-US" sz="2400" b="1" dirty="0">
                <a:solidFill>
                  <a:schemeClr val="accent1"/>
                </a:solidFill>
                <a:latin typeface="Courier New" pitchFamily="34" charset="0"/>
                <a:ea typeface="Courier New" pitchFamily="34" charset="-122"/>
                <a:cs typeface="Courier New" pitchFamily="34" charset="-120"/>
              </a:rPr>
              <a:t>As a &lt;role&gt;, I want &lt;goal&gt;, so that &lt;benefit&gt;.</a:t>
            </a:r>
            <a:endParaRPr lang="en-US" sz="2400" dirty="0"/>
          </a:p>
        </p:txBody>
      </p:sp>
      <p:sp>
        <p:nvSpPr>
          <p:cNvPr id="7" name="INVEST Independent"/>
          <p:cNvSpPr/>
          <p:nvPr/>
        </p:nvSpPr>
        <p:spPr>
          <a:xfrm>
            <a:off x="640080" y="2788920"/>
            <a:ext cx="3520440" cy="1554480"/>
          </a:xfrm>
          <a:prstGeom prst="roundRect">
            <a:avLst>
              <a:gd name="adj" fmla="val 7059"/>
            </a:avLst>
          </a:prstGeom>
          <a:solidFill>
            <a:schemeClr val="bg2"/>
          </a:solidFill>
          <a:ln w="9525">
            <a:solidFill>
              <a:schemeClr val="tx2"/>
            </a:solidFill>
            <a:prstDash val="solid"/>
          </a:ln>
        </p:spPr>
        <p:txBody>
          <a:bodyPr/>
          <a:lstStyle/>
          <a:p>
            <a:endParaRPr lang="en-GB"/>
          </a:p>
        </p:txBody>
      </p:sp>
      <p:sp>
        <p:nvSpPr>
          <p:cNvPr id="8" name="Text 5"/>
          <p:cNvSpPr txBox="1"/>
          <p:nvPr/>
        </p:nvSpPr>
        <p:spPr>
          <a:xfrm>
            <a:off x="868680" y="2788920"/>
            <a:ext cx="822960" cy="1554480"/>
          </a:xfrm>
          <a:prstGeom prst="rect">
            <a:avLst/>
          </a:prstGeom>
          <a:noFill/>
          <a:ln/>
        </p:spPr>
        <p:txBody>
          <a:bodyPr wrap="square" lIns="0" tIns="0" rIns="0" bIns="0" rtlCol="0" anchor="ctr"/>
          <a:lstStyle/>
          <a:p>
            <a:pPr marL="0" indent="0">
              <a:buNone/>
            </a:pPr>
            <a:r>
              <a:rPr lang="en-US" sz="4400" b="1" dirty="0">
                <a:solidFill>
                  <a:schemeClr val="accent1"/>
                </a:solidFill>
              </a:rPr>
              <a:t>I</a:t>
            </a:r>
            <a:endParaRPr lang="en-US" sz="4400" dirty="0"/>
          </a:p>
        </p:txBody>
      </p:sp>
      <p:sp>
        <p:nvSpPr>
          <p:cNvPr id="9" name="Text 6"/>
          <p:cNvSpPr txBox="1"/>
          <p:nvPr/>
        </p:nvSpPr>
        <p:spPr>
          <a:xfrm>
            <a:off x="1737360" y="3154680"/>
            <a:ext cx="2240280" cy="365760"/>
          </a:xfrm>
          <a:prstGeom prst="rect">
            <a:avLst/>
          </a:prstGeom>
          <a:noFill/>
          <a:ln/>
        </p:spPr>
        <p:txBody>
          <a:bodyPr wrap="square" lIns="0" tIns="0" rIns="0" bIns="0" rtlCol="0" anchor="t"/>
          <a:lstStyle/>
          <a:p>
            <a:pPr marL="0" indent="0">
              <a:buNone/>
            </a:pPr>
            <a:r>
              <a:rPr lang="en-US" sz="2000" b="1" dirty="0">
                <a:solidFill>
                  <a:schemeClr val="tx1"/>
                </a:solidFill>
              </a:rPr>
              <a:t>Independent</a:t>
            </a:r>
            <a:endParaRPr lang="en-US" sz="2000" dirty="0"/>
          </a:p>
        </p:txBody>
      </p:sp>
      <p:sp>
        <p:nvSpPr>
          <p:cNvPr id="10" name="Text 7"/>
          <p:cNvSpPr txBox="1"/>
          <p:nvPr/>
        </p:nvSpPr>
        <p:spPr>
          <a:xfrm>
            <a:off x="1737360" y="3566160"/>
            <a:ext cx="2240280" cy="640080"/>
          </a:xfrm>
          <a:prstGeom prst="rect">
            <a:avLst/>
          </a:prstGeom>
          <a:noFill/>
          <a:ln/>
        </p:spPr>
        <p:txBody>
          <a:bodyPr wrap="square" lIns="0" tIns="0" rIns="0" bIns="0" rtlCol="0" anchor="t"/>
          <a:lstStyle/>
          <a:p>
            <a:pPr marL="0" indent="0">
              <a:buNone/>
            </a:pPr>
            <a:r>
              <a:rPr lang="en-US" sz="1400" dirty="0">
                <a:solidFill>
                  <a:schemeClr val="accent2"/>
                </a:solidFill>
              </a:rPr>
              <a:t>Minimal dependencies</a:t>
            </a:r>
            <a:endParaRPr lang="en-US" sz="1400" dirty="0"/>
          </a:p>
        </p:txBody>
      </p:sp>
      <p:sp>
        <p:nvSpPr>
          <p:cNvPr id="11" name="INVEST Negotiable"/>
          <p:cNvSpPr/>
          <p:nvPr/>
        </p:nvSpPr>
        <p:spPr>
          <a:xfrm>
            <a:off x="4334256" y="2788920"/>
            <a:ext cx="3520440" cy="1554480"/>
          </a:xfrm>
          <a:prstGeom prst="roundRect">
            <a:avLst>
              <a:gd name="adj" fmla="val 7059"/>
            </a:avLst>
          </a:prstGeom>
          <a:solidFill>
            <a:schemeClr val="bg2"/>
          </a:solidFill>
          <a:ln w="9525">
            <a:solidFill>
              <a:schemeClr val="tx2"/>
            </a:solidFill>
            <a:prstDash val="solid"/>
          </a:ln>
        </p:spPr>
        <p:txBody>
          <a:bodyPr/>
          <a:lstStyle/>
          <a:p>
            <a:endParaRPr lang="en-GB"/>
          </a:p>
        </p:txBody>
      </p:sp>
      <p:sp>
        <p:nvSpPr>
          <p:cNvPr id="12" name="Text 9"/>
          <p:cNvSpPr txBox="1"/>
          <p:nvPr/>
        </p:nvSpPr>
        <p:spPr>
          <a:xfrm>
            <a:off x="4562856" y="2788920"/>
            <a:ext cx="822960" cy="1554480"/>
          </a:xfrm>
          <a:prstGeom prst="rect">
            <a:avLst/>
          </a:prstGeom>
          <a:noFill/>
          <a:ln/>
        </p:spPr>
        <p:txBody>
          <a:bodyPr wrap="square" lIns="0" tIns="0" rIns="0" bIns="0" rtlCol="0" anchor="ctr"/>
          <a:lstStyle/>
          <a:p>
            <a:pPr marL="0" indent="0">
              <a:buNone/>
            </a:pPr>
            <a:r>
              <a:rPr lang="en-US" sz="4400" b="1" dirty="0">
                <a:solidFill>
                  <a:schemeClr val="accent1"/>
                </a:solidFill>
              </a:rPr>
              <a:t>N</a:t>
            </a:r>
            <a:endParaRPr lang="en-US" sz="4400" dirty="0"/>
          </a:p>
        </p:txBody>
      </p:sp>
      <p:sp>
        <p:nvSpPr>
          <p:cNvPr id="13" name="Text 10"/>
          <p:cNvSpPr txBox="1"/>
          <p:nvPr/>
        </p:nvSpPr>
        <p:spPr>
          <a:xfrm>
            <a:off x="5431536" y="3154680"/>
            <a:ext cx="2240280" cy="365760"/>
          </a:xfrm>
          <a:prstGeom prst="rect">
            <a:avLst/>
          </a:prstGeom>
          <a:noFill/>
          <a:ln/>
        </p:spPr>
        <p:txBody>
          <a:bodyPr wrap="square" lIns="0" tIns="0" rIns="0" bIns="0" rtlCol="0" anchor="t"/>
          <a:lstStyle/>
          <a:p>
            <a:pPr marL="0" indent="0">
              <a:buNone/>
            </a:pPr>
            <a:r>
              <a:rPr lang="en-US" sz="2000" b="1" dirty="0">
                <a:solidFill>
                  <a:schemeClr val="tx1"/>
                </a:solidFill>
              </a:rPr>
              <a:t>Negotiable</a:t>
            </a:r>
            <a:endParaRPr lang="en-US" sz="2000" dirty="0"/>
          </a:p>
        </p:txBody>
      </p:sp>
      <p:sp>
        <p:nvSpPr>
          <p:cNvPr id="14" name="Text 11"/>
          <p:cNvSpPr txBox="1"/>
          <p:nvPr/>
        </p:nvSpPr>
        <p:spPr>
          <a:xfrm>
            <a:off x="5431536" y="3566160"/>
            <a:ext cx="2240280" cy="640080"/>
          </a:xfrm>
          <a:prstGeom prst="rect">
            <a:avLst/>
          </a:prstGeom>
          <a:noFill/>
          <a:ln/>
        </p:spPr>
        <p:txBody>
          <a:bodyPr wrap="square" lIns="0" tIns="0" rIns="0" bIns="0" rtlCol="0" anchor="t"/>
          <a:lstStyle/>
          <a:p>
            <a:pPr marL="0" indent="0">
              <a:buNone/>
            </a:pPr>
            <a:r>
              <a:rPr lang="en-US" sz="1400" dirty="0">
                <a:solidFill>
                  <a:schemeClr val="accent2"/>
                </a:solidFill>
              </a:rPr>
              <a:t>Details co-created, not a contract</a:t>
            </a:r>
            <a:endParaRPr lang="en-US" sz="1400" dirty="0"/>
          </a:p>
        </p:txBody>
      </p:sp>
      <p:sp>
        <p:nvSpPr>
          <p:cNvPr id="15" name="INVEST Valuable"/>
          <p:cNvSpPr/>
          <p:nvPr/>
        </p:nvSpPr>
        <p:spPr>
          <a:xfrm>
            <a:off x="8028432" y="2788920"/>
            <a:ext cx="3520440" cy="1554480"/>
          </a:xfrm>
          <a:prstGeom prst="roundRect">
            <a:avLst>
              <a:gd name="adj" fmla="val 7059"/>
            </a:avLst>
          </a:prstGeom>
          <a:solidFill>
            <a:schemeClr val="bg2"/>
          </a:solidFill>
          <a:ln w="9525">
            <a:solidFill>
              <a:schemeClr val="tx2"/>
            </a:solidFill>
            <a:prstDash val="solid"/>
          </a:ln>
        </p:spPr>
        <p:txBody>
          <a:bodyPr/>
          <a:lstStyle/>
          <a:p>
            <a:endParaRPr lang="en-GB"/>
          </a:p>
        </p:txBody>
      </p:sp>
      <p:sp>
        <p:nvSpPr>
          <p:cNvPr id="16" name="Text 13"/>
          <p:cNvSpPr txBox="1"/>
          <p:nvPr/>
        </p:nvSpPr>
        <p:spPr>
          <a:xfrm>
            <a:off x="8257032" y="2788920"/>
            <a:ext cx="822960" cy="1554480"/>
          </a:xfrm>
          <a:prstGeom prst="rect">
            <a:avLst/>
          </a:prstGeom>
          <a:noFill/>
          <a:ln/>
        </p:spPr>
        <p:txBody>
          <a:bodyPr wrap="square" lIns="0" tIns="0" rIns="0" bIns="0" rtlCol="0" anchor="ctr"/>
          <a:lstStyle/>
          <a:p>
            <a:pPr marL="0" indent="0">
              <a:buNone/>
            </a:pPr>
            <a:r>
              <a:rPr lang="en-US" sz="4400" b="1" dirty="0">
                <a:solidFill>
                  <a:schemeClr val="accent1"/>
                </a:solidFill>
              </a:rPr>
              <a:t>V</a:t>
            </a:r>
            <a:endParaRPr lang="en-US" sz="4400" dirty="0"/>
          </a:p>
        </p:txBody>
      </p:sp>
      <p:sp>
        <p:nvSpPr>
          <p:cNvPr id="17" name="Text 14"/>
          <p:cNvSpPr txBox="1"/>
          <p:nvPr/>
        </p:nvSpPr>
        <p:spPr>
          <a:xfrm>
            <a:off x="9125712" y="3154680"/>
            <a:ext cx="2240280" cy="365760"/>
          </a:xfrm>
          <a:prstGeom prst="rect">
            <a:avLst/>
          </a:prstGeom>
          <a:noFill/>
          <a:ln/>
        </p:spPr>
        <p:txBody>
          <a:bodyPr wrap="square" lIns="0" tIns="0" rIns="0" bIns="0" rtlCol="0" anchor="t"/>
          <a:lstStyle/>
          <a:p>
            <a:pPr marL="0" indent="0">
              <a:buNone/>
            </a:pPr>
            <a:r>
              <a:rPr lang="en-US" sz="2000" b="1" dirty="0">
                <a:solidFill>
                  <a:schemeClr val="tx1"/>
                </a:solidFill>
              </a:rPr>
              <a:t>Valuable</a:t>
            </a:r>
            <a:endParaRPr lang="en-US" sz="2000" dirty="0"/>
          </a:p>
        </p:txBody>
      </p:sp>
      <p:sp>
        <p:nvSpPr>
          <p:cNvPr id="18" name="Text 15"/>
          <p:cNvSpPr txBox="1"/>
          <p:nvPr/>
        </p:nvSpPr>
        <p:spPr>
          <a:xfrm>
            <a:off x="9125712" y="3566160"/>
            <a:ext cx="2240280" cy="640080"/>
          </a:xfrm>
          <a:prstGeom prst="rect">
            <a:avLst/>
          </a:prstGeom>
          <a:noFill/>
          <a:ln/>
        </p:spPr>
        <p:txBody>
          <a:bodyPr wrap="square" lIns="0" tIns="0" rIns="0" bIns="0" rtlCol="0" anchor="t"/>
          <a:lstStyle/>
          <a:p>
            <a:pPr marL="0" indent="0">
              <a:buNone/>
            </a:pPr>
            <a:r>
              <a:rPr lang="en-US" sz="1400" dirty="0">
                <a:solidFill>
                  <a:schemeClr val="accent2"/>
                </a:solidFill>
              </a:rPr>
              <a:t>Delivers value to user or stakeholder</a:t>
            </a:r>
            <a:endParaRPr lang="en-US" sz="1400" dirty="0"/>
          </a:p>
        </p:txBody>
      </p:sp>
      <p:sp>
        <p:nvSpPr>
          <p:cNvPr id="19" name="INVEST Estimable"/>
          <p:cNvSpPr/>
          <p:nvPr/>
        </p:nvSpPr>
        <p:spPr>
          <a:xfrm>
            <a:off x="640080" y="4526280"/>
            <a:ext cx="3520440" cy="1554480"/>
          </a:xfrm>
          <a:prstGeom prst="roundRect">
            <a:avLst>
              <a:gd name="adj" fmla="val 7059"/>
            </a:avLst>
          </a:prstGeom>
          <a:solidFill>
            <a:schemeClr val="bg2"/>
          </a:solidFill>
          <a:ln w="9525">
            <a:solidFill>
              <a:schemeClr val="tx2"/>
            </a:solidFill>
            <a:prstDash val="solid"/>
          </a:ln>
        </p:spPr>
        <p:txBody>
          <a:bodyPr/>
          <a:lstStyle/>
          <a:p>
            <a:endParaRPr lang="en-GB"/>
          </a:p>
        </p:txBody>
      </p:sp>
      <p:sp>
        <p:nvSpPr>
          <p:cNvPr id="20" name="Text 17"/>
          <p:cNvSpPr txBox="1"/>
          <p:nvPr/>
        </p:nvSpPr>
        <p:spPr>
          <a:xfrm>
            <a:off x="868680" y="4526280"/>
            <a:ext cx="822960" cy="1554480"/>
          </a:xfrm>
          <a:prstGeom prst="rect">
            <a:avLst/>
          </a:prstGeom>
          <a:noFill/>
          <a:ln/>
        </p:spPr>
        <p:txBody>
          <a:bodyPr wrap="square" lIns="0" tIns="0" rIns="0" bIns="0" rtlCol="0" anchor="ctr"/>
          <a:lstStyle/>
          <a:p>
            <a:pPr marL="0" indent="0">
              <a:buNone/>
            </a:pPr>
            <a:r>
              <a:rPr lang="en-US" sz="4400" b="1" dirty="0">
                <a:solidFill>
                  <a:schemeClr val="accent1"/>
                </a:solidFill>
              </a:rPr>
              <a:t>E</a:t>
            </a:r>
            <a:endParaRPr lang="en-US" sz="4400" dirty="0"/>
          </a:p>
        </p:txBody>
      </p:sp>
      <p:sp>
        <p:nvSpPr>
          <p:cNvPr id="21" name="Text 18"/>
          <p:cNvSpPr txBox="1"/>
          <p:nvPr/>
        </p:nvSpPr>
        <p:spPr>
          <a:xfrm>
            <a:off x="1737360" y="4892040"/>
            <a:ext cx="2240280" cy="365760"/>
          </a:xfrm>
          <a:prstGeom prst="rect">
            <a:avLst/>
          </a:prstGeom>
          <a:noFill/>
          <a:ln/>
        </p:spPr>
        <p:txBody>
          <a:bodyPr wrap="square" lIns="0" tIns="0" rIns="0" bIns="0" rtlCol="0" anchor="t"/>
          <a:lstStyle/>
          <a:p>
            <a:pPr marL="0" indent="0">
              <a:buNone/>
            </a:pPr>
            <a:r>
              <a:rPr lang="en-US" sz="2000" b="1" dirty="0">
                <a:solidFill>
                  <a:schemeClr val="tx1"/>
                </a:solidFill>
              </a:rPr>
              <a:t>Estimable</a:t>
            </a:r>
            <a:endParaRPr lang="en-US" sz="2000" dirty="0"/>
          </a:p>
        </p:txBody>
      </p:sp>
      <p:sp>
        <p:nvSpPr>
          <p:cNvPr id="22" name="Text 19"/>
          <p:cNvSpPr txBox="1"/>
          <p:nvPr/>
        </p:nvSpPr>
        <p:spPr>
          <a:xfrm>
            <a:off x="1737360" y="5303520"/>
            <a:ext cx="2240280" cy="640080"/>
          </a:xfrm>
          <a:prstGeom prst="rect">
            <a:avLst/>
          </a:prstGeom>
          <a:noFill/>
          <a:ln/>
        </p:spPr>
        <p:txBody>
          <a:bodyPr wrap="square" lIns="0" tIns="0" rIns="0" bIns="0" rtlCol="0" anchor="t"/>
          <a:lstStyle/>
          <a:p>
            <a:pPr marL="0" indent="0">
              <a:buNone/>
            </a:pPr>
            <a:r>
              <a:rPr lang="en-US" sz="1400" dirty="0">
                <a:solidFill>
                  <a:schemeClr val="accent2"/>
                </a:solidFill>
              </a:rPr>
              <a:t>Team can size it</a:t>
            </a:r>
            <a:endParaRPr lang="en-US" sz="1400" dirty="0"/>
          </a:p>
        </p:txBody>
      </p:sp>
      <p:sp>
        <p:nvSpPr>
          <p:cNvPr id="23" name="INVEST Small"/>
          <p:cNvSpPr/>
          <p:nvPr/>
        </p:nvSpPr>
        <p:spPr>
          <a:xfrm>
            <a:off x="4334256" y="4526280"/>
            <a:ext cx="3520440" cy="1554480"/>
          </a:xfrm>
          <a:prstGeom prst="roundRect">
            <a:avLst>
              <a:gd name="adj" fmla="val 7059"/>
            </a:avLst>
          </a:prstGeom>
          <a:solidFill>
            <a:schemeClr val="bg2"/>
          </a:solidFill>
          <a:ln w="9525">
            <a:solidFill>
              <a:schemeClr val="tx2"/>
            </a:solidFill>
            <a:prstDash val="solid"/>
          </a:ln>
        </p:spPr>
        <p:txBody>
          <a:bodyPr/>
          <a:lstStyle/>
          <a:p>
            <a:endParaRPr lang="en-GB"/>
          </a:p>
        </p:txBody>
      </p:sp>
      <p:sp>
        <p:nvSpPr>
          <p:cNvPr id="24" name="Text 21"/>
          <p:cNvSpPr txBox="1"/>
          <p:nvPr/>
        </p:nvSpPr>
        <p:spPr>
          <a:xfrm>
            <a:off x="4562856" y="4526280"/>
            <a:ext cx="822960" cy="1554480"/>
          </a:xfrm>
          <a:prstGeom prst="rect">
            <a:avLst/>
          </a:prstGeom>
          <a:noFill/>
          <a:ln/>
        </p:spPr>
        <p:txBody>
          <a:bodyPr wrap="square" lIns="0" tIns="0" rIns="0" bIns="0" rtlCol="0" anchor="ctr"/>
          <a:lstStyle/>
          <a:p>
            <a:pPr marL="0" indent="0">
              <a:buNone/>
            </a:pPr>
            <a:r>
              <a:rPr lang="en-US" sz="4400" b="1" dirty="0">
                <a:solidFill>
                  <a:schemeClr val="accent1"/>
                </a:solidFill>
              </a:rPr>
              <a:t>S</a:t>
            </a:r>
            <a:endParaRPr lang="en-US" sz="4400" dirty="0"/>
          </a:p>
        </p:txBody>
      </p:sp>
      <p:sp>
        <p:nvSpPr>
          <p:cNvPr id="25" name="Text 22"/>
          <p:cNvSpPr txBox="1"/>
          <p:nvPr/>
        </p:nvSpPr>
        <p:spPr>
          <a:xfrm>
            <a:off x="5431536" y="4892040"/>
            <a:ext cx="2240280" cy="365760"/>
          </a:xfrm>
          <a:prstGeom prst="rect">
            <a:avLst/>
          </a:prstGeom>
          <a:noFill/>
          <a:ln/>
        </p:spPr>
        <p:txBody>
          <a:bodyPr wrap="square" lIns="0" tIns="0" rIns="0" bIns="0" rtlCol="0" anchor="t"/>
          <a:lstStyle/>
          <a:p>
            <a:pPr marL="0" indent="0">
              <a:buNone/>
            </a:pPr>
            <a:r>
              <a:rPr lang="en-US" sz="2000" b="1" dirty="0">
                <a:solidFill>
                  <a:schemeClr val="tx1"/>
                </a:solidFill>
              </a:rPr>
              <a:t>Small</a:t>
            </a:r>
            <a:endParaRPr lang="en-US" sz="2000" dirty="0"/>
          </a:p>
        </p:txBody>
      </p:sp>
      <p:sp>
        <p:nvSpPr>
          <p:cNvPr id="26" name="Text 23"/>
          <p:cNvSpPr txBox="1"/>
          <p:nvPr/>
        </p:nvSpPr>
        <p:spPr>
          <a:xfrm>
            <a:off x="5431536" y="5303520"/>
            <a:ext cx="2240280" cy="640080"/>
          </a:xfrm>
          <a:prstGeom prst="rect">
            <a:avLst/>
          </a:prstGeom>
          <a:noFill/>
          <a:ln/>
        </p:spPr>
        <p:txBody>
          <a:bodyPr wrap="square" lIns="0" tIns="0" rIns="0" bIns="0" rtlCol="0" anchor="t"/>
          <a:lstStyle/>
          <a:p>
            <a:pPr marL="0" indent="0">
              <a:buNone/>
            </a:pPr>
            <a:r>
              <a:rPr lang="en-US" sz="1400" dirty="0">
                <a:solidFill>
                  <a:schemeClr val="accent2"/>
                </a:solidFill>
              </a:rPr>
              <a:t>Fits in one sprint</a:t>
            </a:r>
            <a:endParaRPr lang="en-US" sz="1400" dirty="0"/>
          </a:p>
        </p:txBody>
      </p:sp>
      <p:sp>
        <p:nvSpPr>
          <p:cNvPr id="27" name="INVEST Testable"/>
          <p:cNvSpPr/>
          <p:nvPr/>
        </p:nvSpPr>
        <p:spPr>
          <a:xfrm>
            <a:off x="8028432" y="4526280"/>
            <a:ext cx="3520440" cy="1554480"/>
          </a:xfrm>
          <a:prstGeom prst="roundRect">
            <a:avLst>
              <a:gd name="adj" fmla="val 7059"/>
            </a:avLst>
          </a:prstGeom>
          <a:solidFill>
            <a:schemeClr val="bg2"/>
          </a:solidFill>
          <a:ln w="9525">
            <a:solidFill>
              <a:schemeClr val="tx2"/>
            </a:solidFill>
            <a:prstDash val="solid"/>
          </a:ln>
        </p:spPr>
        <p:txBody>
          <a:bodyPr/>
          <a:lstStyle/>
          <a:p>
            <a:endParaRPr lang="en-GB"/>
          </a:p>
        </p:txBody>
      </p:sp>
      <p:sp>
        <p:nvSpPr>
          <p:cNvPr id="28" name="Text 25"/>
          <p:cNvSpPr txBox="1"/>
          <p:nvPr/>
        </p:nvSpPr>
        <p:spPr>
          <a:xfrm>
            <a:off x="8257032" y="4526280"/>
            <a:ext cx="822960" cy="1554480"/>
          </a:xfrm>
          <a:prstGeom prst="rect">
            <a:avLst/>
          </a:prstGeom>
          <a:noFill/>
          <a:ln/>
        </p:spPr>
        <p:txBody>
          <a:bodyPr wrap="square" lIns="0" tIns="0" rIns="0" bIns="0" rtlCol="0" anchor="ctr"/>
          <a:lstStyle/>
          <a:p>
            <a:pPr marL="0" indent="0">
              <a:buNone/>
            </a:pPr>
            <a:r>
              <a:rPr lang="en-US" sz="4400" b="1" dirty="0">
                <a:solidFill>
                  <a:schemeClr val="accent1"/>
                </a:solidFill>
              </a:rPr>
              <a:t>T</a:t>
            </a:r>
            <a:endParaRPr lang="en-US" sz="4400" dirty="0"/>
          </a:p>
        </p:txBody>
      </p:sp>
      <p:sp>
        <p:nvSpPr>
          <p:cNvPr id="29" name="Text 26"/>
          <p:cNvSpPr txBox="1"/>
          <p:nvPr/>
        </p:nvSpPr>
        <p:spPr>
          <a:xfrm>
            <a:off x="9125712" y="4892040"/>
            <a:ext cx="2240280" cy="365760"/>
          </a:xfrm>
          <a:prstGeom prst="rect">
            <a:avLst/>
          </a:prstGeom>
          <a:noFill/>
          <a:ln/>
        </p:spPr>
        <p:txBody>
          <a:bodyPr wrap="square" lIns="0" tIns="0" rIns="0" bIns="0" rtlCol="0" anchor="t"/>
          <a:lstStyle/>
          <a:p>
            <a:pPr marL="0" indent="0">
              <a:buNone/>
            </a:pPr>
            <a:r>
              <a:rPr lang="en-US" sz="2000" b="1" dirty="0">
                <a:solidFill>
                  <a:schemeClr val="tx1"/>
                </a:solidFill>
              </a:rPr>
              <a:t>Testable</a:t>
            </a:r>
            <a:endParaRPr lang="en-US" sz="2000" dirty="0"/>
          </a:p>
        </p:txBody>
      </p:sp>
      <p:sp>
        <p:nvSpPr>
          <p:cNvPr id="30" name="Text 27"/>
          <p:cNvSpPr txBox="1"/>
          <p:nvPr/>
        </p:nvSpPr>
        <p:spPr>
          <a:xfrm>
            <a:off x="9125712" y="5303520"/>
            <a:ext cx="2240280" cy="640080"/>
          </a:xfrm>
          <a:prstGeom prst="rect">
            <a:avLst/>
          </a:prstGeom>
          <a:noFill/>
          <a:ln/>
        </p:spPr>
        <p:txBody>
          <a:bodyPr wrap="square" lIns="0" tIns="0" rIns="0" bIns="0" rtlCol="0" anchor="t"/>
          <a:lstStyle/>
          <a:p>
            <a:pPr marL="0" indent="0">
              <a:buNone/>
            </a:pPr>
            <a:r>
              <a:rPr lang="en-US" sz="1400" dirty="0">
                <a:solidFill>
                  <a:schemeClr val="accent2"/>
                </a:solidFill>
              </a:rPr>
              <a:t>Clear pass/fail via acceptance criteria</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04 · USER STORIES &amp; ACCEPTANCE CRITERIA</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Story 1: Compare Prices (Local First)</a:t>
            </a:r>
            <a:endParaRPr lang="en-US" sz="3200" dirty="0"/>
          </a:p>
        </p:txBody>
      </p:sp>
      <p:sp>
        <p:nvSpPr>
          <p:cNvPr id="5" name="Code block"/>
          <p:cNvSpPr/>
          <p:nvPr/>
        </p:nvSpPr>
        <p:spPr>
          <a:xfrm>
            <a:off x="640080" y="1508760"/>
            <a:ext cx="7589520" cy="4800600"/>
          </a:xfrm>
          <a:prstGeom prst="roundRect">
            <a:avLst>
              <a:gd name="adj" fmla="val 2286"/>
            </a:avLst>
          </a:prstGeom>
          <a:solidFill>
            <a:schemeClr val="bg2"/>
          </a:solidFill>
          <a:ln w="9525">
            <a:solidFill>
              <a:schemeClr val="tx2"/>
            </a:solidFill>
            <a:prstDash val="solid"/>
          </a:ln>
        </p:spPr>
        <p:txBody>
          <a:bodyPr/>
          <a:lstStyle/>
          <a:p>
            <a:endParaRPr lang="en-GB"/>
          </a:p>
        </p:txBody>
      </p:sp>
      <p:sp>
        <p:nvSpPr>
          <p:cNvPr id="6" name="Text 3"/>
          <p:cNvSpPr txBox="1"/>
          <p:nvPr/>
        </p:nvSpPr>
        <p:spPr>
          <a:xfrm>
            <a:off x="914400" y="1691640"/>
            <a:ext cx="7040880" cy="4480560"/>
          </a:xfrm>
          <a:prstGeom prst="rect">
            <a:avLst/>
          </a:prstGeom>
          <a:noFill/>
          <a:ln/>
        </p:spPr>
        <p:txBody>
          <a:bodyPr wrap="square" lIns="0" tIns="0" rIns="0" bIns="0" rtlCol="0" anchor="t"/>
          <a:lstStyle/>
          <a:p>
            <a:pPr marL="0" indent="0">
              <a:lnSpc>
                <a:spcPct val="105000"/>
              </a:lnSpc>
              <a:buNone/>
            </a:pPr>
            <a:r>
              <a:rPr lang="en-US" sz="1400" b="1" dirty="0">
                <a:solidFill>
                  <a:schemeClr val="tx1"/>
                </a:solidFill>
                <a:latin typeface="Courier New" pitchFamily="34" charset="0"/>
                <a:ea typeface="Courier New" pitchFamily="34" charset="-122"/>
                <a:cs typeface="Courier New" pitchFamily="34" charset="-120"/>
              </a:rPr>
              <a:t>As a</a:t>
            </a:r>
            <a:r>
              <a:rPr lang="en-US" sz="1400" dirty="0">
                <a:solidFill>
                  <a:schemeClr val="accent1"/>
                </a:solidFill>
                <a:latin typeface="Courier New" pitchFamily="34" charset="0"/>
                <a:ea typeface="Courier New" pitchFamily="34" charset="-122"/>
                <a:cs typeface="Courier New" pitchFamily="34" charset="-120"/>
              </a:rPr>
              <a:t> reader, </a:t>
            </a:r>
            <a:r>
              <a:rPr lang="en-US" sz="1400" b="1" dirty="0">
                <a:solidFill>
                  <a:schemeClr val="tx1"/>
                </a:solidFill>
                <a:latin typeface="Courier New" pitchFamily="34" charset="0"/>
                <a:ea typeface="Courier New" pitchFamily="34" charset="-122"/>
                <a:cs typeface="Courier New" pitchFamily="34" charset="-120"/>
              </a:rPr>
              <a:t>I want</a:t>
            </a:r>
            <a:r>
              <a:rPr lang="en-US" sz="1400" dirty="0">
                <a:solidFill>
                  <a:schemeClr val="accent1"/>
                </a:solidFill>
                <a:latin typeface="Courier New" pitchFamily="34" charset="0"/>
                <a:ea typeface="Courier New" pitchFamily="34" charset="-122"/>
                <a:cs typeface="Courier New" pitchFamily="34" charset="-120"/>
              </a:rPr>
              <a:t> to search a title and see local sellers</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first sorted by price, </a:t>
            </a:r>
            <a:r>
              <a:rPr lang="en-US" sz="1400" b="1" dirty="0">
                <a:solidFill>
                  <a:schemeClr val="tx1"/>
                </a:solidFill>
                <a:latin typeface="Courier New" pitchFamily="34" charset="0"/>
                <a:ea typeface="Courier New" pitchFamily="34" charset="-122"/>
                <a:cs typeface="Courier New" pitchFamily="34" charset="-120"/>
              </a:rPr>
              <a:t>so that</a:t>
            </a:r>
            <a:r>
              <a:rPr lang="en-US" sz="1400" dirty="0">
                <a:solidFill>
                  <a:schemeClr val="accent1"/>
                </a:solidFill>
                <a:latin typeface="Courier New" pitchFamily="34" charset="0"/>
                <a:ea typeface="Courier New" pitchFamily="34" charset="-122"/>
                <a:cs typeface="Courier New" pitchFamily="34" charset="-120"/>
              </a:rPr>
              <a:t> I can buy it cheaply and quickly.</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endParaRPr lang="en-US" sz="1400" dirty="0"/>
          </a:p>
          <a:p>
            <a:pPr marL="0" indent="0">
              <a:lnSpc>
                <a:spcPct val="105000"/>
              </a:lnSpc>
              <a:buNone/>
            </a:pPr>
            <a:r>
              <a:rPr lang="en-US" sz="1400" b="1" dirty="0">
                <a:solidFill>
                  <a:schemeClr val="tx1"/>
                </a:solidFill>
                <a:latin typeface="Courier New" pitchFamily="34" charset="0"/>
                <a:ea typeface="Courier New" pitchFamily="34" charset="-122"/>
                <a:cs typeface="Courier New" pitchFamily="34" charset="-120"/>
              </a:rPr>
              <a:t>Acceptance Criteria (Given / When / Then):</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1. </a:t>
            </a:r>
            <a:r>
              <a:rPr lang="en-US" sz="1400" b="1" dirty="0">
                <a:solidFill>
                  <a:schemeClr val="tx1"/>
                </a:solidFill>
                <a:latin typeface="Courier New" pitchFamily="34" charset="0"/>
                <a:ea typeface="Courier New" pitchFamily="34" charset="-122"/>
                <a:cs typeface="Courier New" pitchFamily="34" charset="-120"/>
              </a:rPr>
              <a:t>Given</a:t>
            </a:r>
            <a:r>
              <a:rPr lang="en-US" sz="1400" dirty="0">
                <a:solidFill>
                  <a:schemeClr val="accent1"/>
                </a:solidFill>
                <a:latin typeface="Courier New" pitchFamily="34" charset="0"/>
                <a:ea typeface="Courier New" pitchFamily="34" charset="-122"/>
                <a:cs typeface="Courier New" pitchFamily="34" charset="-120"/>
              </a:rPr>
              <a:t> I am in country X and search “Crime and Punishment”</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When</a:t>
            </a:r>
            <a:r>
              <a:rPr lang="en-US" sz="1400" dirty="0">
                <a:solidFill>
                  <a:schemeClr val="accent1"/>
                </a:solidFill>
                <a:latin typeface="Courier New" pitchFamily="34" charset="0"/>
                <a:ea typeface="Courier New" pitchFamily="34" charset="-122"/>
                <a:cs typeface="Courier New" pitchFamily="34" charset="-120"/>
              </a:rPr>
              <a:t> results load</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Then</a:t>
            </a:r>
            <a:r>
              <a:rPr lang="en-US" sz="1400" dirty="0">
                <a:solidFill>
                  <a:schemeClr val="accent1"/>
                </a:solidFill>
                <a:latin typeface="Courier New" pitchFamily="34" charset="0"/>
                <a:ea typeface="Courier New" pitchFamily="34" charset="-122"/>
                <a:cs typeface="Courier New" pitchFamily="34" charset="-120"/>
              </a:rPr>
              <a:t> local sellers appear first, sorted by price ascending,</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each showing price, delivery time, and seller name.</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2. </a:t>
            </a:r>
            <a:r>
              <a:rPr lang="en-US" sz="1400" b="1" dirty="0">
                <a:solidFill>
                  <a:schemeClr val="tx1"/>
                </a:solidFill>
                <a:latin typeface="Courier New" pitchFamily="34" charset="0"/>
                <a:ea typeface="Courier New" pitchFamily="34" charset="-122"/>
                <a:cs typeface="Courier New" pitchFamily="34" charset="-120"/>
              </a:rPr>
              <a:t>Given</a:t>
            </a:r>
            <a:r>
              <a:rPr lang="en-US" sz="1400" dirty="0">
                <a:solidFill>
                  <a:schemeClr val="accent1"/>
                </a:solidFill>
                <a:latin typeface="Courier New" pitchFamily="34" charset="0"/>
                <a:ea typeface="Courier New" pitchFamily="34" charset="-122"/>
                <a:cs typeface="Courier New" pitchFamily="34" charset="-120"/>
              </a:rPr>
              <a:t> no local seller has the book</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When</a:t>
            </a:r>
            <a:r>
              <a:rPr lang="en-US" sz="1400" dirty="0">
                <a:solidFill>
                  <a:schemeClr val="accent1"/>
                </a:solidFill>
                <a:latin typeface="Courier New" pitchFamily="34" charset="0"/>
                <a:ea typeface="Courier New" pitchFamily="34" charset="-122"/>
                <a:cs typeface="Courier New" pitchFamily="34" charset="-120"/>
              </a:rPr>
              <a:t> results load</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Then</a:t>
            </a:r>
            <a:r>
              <a:rPr lang="en-US" sz="1400" dirty="0">
                <a:solidFill>
                  <a:schemeClr val="accent1"/>
                </a:solidFill>
                <a:latin typeface="Courier New" pitchFamily="34" charset="0"/>
                <a:ea typeface="Courier New" pitchFamily="34" charset="-122"/>
                <a:cs typeface="Courier New" pitchFamily="34" charset="-120"/>
              </a:rPr>
              <a:t> overseas sellers appear with an “Overseas” label,</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delivery estimate, and total cost (price + shipping).</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3. </a:t>
            </a:r>
            <a:r>
              <a:rPr lang="en-US" sz="1400" b="1" dirty="0">
                <a:solidFill>
                  <a:schemeClr val="tx1"/>
                </a:solidFill>
                <a:latin typeface="Courier New" pitchFamily="34" charset="0"/>
                <a:ea typeface="Courier New" pitchFamily="34" charset="-122"/>
                <a:cs typeface="Courier New" pitchFamily="34" charset="-120"/>
              </a:rPr>
              <a:t>Given</a:t>
            </a:r>
            <a:r>
              <a:rPr lang="en-US" sz="1400" dirty="0">
                <a:solidFill>
                  <a:schemeClr val="accent1"/>
                </a:solidFill>
                <a:latin typeface="Courier New" pitchFamily="34" charset="0"/>
                <a:ea typeface="Courier New" pitchFamily="34" charset="-122"/>
                <a:cs typeface="Courier New" pitchFamily="34" charset="-120"/>
              </a:rPr>
              <a:t> the search fails (network/API error)</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When</a:t>
            </a:r>
            <a:r>
              <a:rPr lang="en-US" sz="1400" dirty="0">
                <a:solidFill>
                  <a:schemeClr val="accent1"/>
                </a:solidFill>
                <a:latin typeface="Courier New" pitchFamily="34" charset="0"/>
                <a:ea typeface="Courier New" pitchFamily="34" charset="-122"/>
                <a:cs typeface="Courier New" pitchFamily="34" charset="-120"/>
              </a:rPr>
              <a:t> the error occurs</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Then</a:t>
            </a:r>
            <a:r>
              <a:rPr lang="en-US" sz="1400" dirty="0">
                <a:solidFill>
                  <a:schemeClr val="accent1"/>
                </a:solidFill>
                <a:latin typeface="Courier New" pitchFamily="34" charset="0"/>
                <a:ea typeface="Courier New" pitchFamily="34" charset="-122"/>
                <a:cs typeface="Courier New" pitchFamily="34" charset="-120"/>
              </a:rPr>
              <a:t> a clear message appears:</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“Couldn’t reach sellers. Check connection or try again.”</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with a retry button.</a:t>
            </a:r>
            <a:endParaRPr lang="en-US" sz="1400" dirty="0"/>
          </a:p>
        </p:txBody>
      </p:sp>
      <p:sp>
        <p:nvSpPr>
          <p:cNvPr id="7" name="INVEST check card"/>
          <p:cNvSpPr/>
          <p:nvPr/>
        </p:nvSpPr>
        <p:spPr>
          <a:xfrm>
            <a:off x="8412480" y="1508760"/>
            <a:ext cx="3136392" cy="4800600"/>
          </a:xfrm>
          <a:prstGeom prst="roundRect">
            <a:avLst>
              <a:gd name="adj" fmla="val 3499"/>
            </a:avLst>
          </a:prstGeom>
          <a:solidFill>
            <a:schemeClr val="bg2"/>
          </a:solidFill>
          <a:ln w="9525">
            <a:solidFill>
              <a:schemeClr val="tx2"/>
            </a:solidFill>
            <a:prstDash val="solid"/>
          </a:ln>
        </p:spPr>
        <p:txBody>
          <a:bodyPr/>
          <a:lstStyle/>
          <a:p>
            <a:endParaRPr lang="en-GB"/>
          </a:p>
        </p:txBody>
      </p:sp>
      <p:sp>
        <p:nvSpPr>
          <p:cNvPr id="8" name="Text 5"/>
          <p:cNvSpPr txBox="1"/>
          <p:nvPr/>
        </p:nvSpPr>
        <p:spPr>
          <a:xfrm>
            <a:off x="8641080" y="1691640"/>
            <a:ext cx="2679192"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INVEST CHECK</a:t>
            </a:r>
            <a:endParaRPr lang="en-US" sz="1200" dirty="0"/>
          </a:p>
        </p:txBody>
      </p:sp>
      <p:sp>
        <p:nvSpPr>
          <p:cNvPr id="9" name="Letter"/>
          <p:cNvSpPr/>
          <p:nvPr/>
        </p:nvSpPr>
        <p:spPr>
          <a:xfrm>
            <a:off x="8641080" y="2157984"/>
            <a:ext cx="384048" cy="384048"/>
          </a:xfrm>
          <a:prstGeom prst="ellipse">
            <a:avLst/>
          </a:prstGeom>
          <a:solidFill>
            <a:schemeClr val="accent1"/>
          </a:solidFill>
          <a:ln/>
        </p:spPr>
        <p:txBody>
          <a:bodyPr/>
          <a:lstStyle/>
          <a:p>
            <a:endParaRPr lang="en-GB"/>
          </a:p>
        </p:txBody>
      </p:sp>
      <p:sp>
        <p:nvSpPr>
          <p:cNvPr id="10" name="Text 7"/>
          <p:cNvSpPr txBox="1"/>
          <p:nvPr/>
        </p:nvSpPr>
        <p:spPr>
          <a:xfrm>
            <a:off x="8641080" y="2157984"/>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I</a:t>
            </a:r>
            <a:endParaRPr lang="en-US" sz="1600" dirty="0"/>
          </a:p>
        </p:txBody>
      </p:sp>
      <p:sp>
        <p:nvSpPr>
          <p:cNvPr id="11" name="Text 8"/>
          <p:cNvSpPr txBox="1"/>
          <p:nvPr/>
        </p:nvSpPr>
        <p:spPr>
          <a:xfrm>
            <a:off x="9189720" y="2121408"/>
            <a:ext cx="1645920" cy="274320"/>
          </a:xfrm>
          <a:prstGeom prst="rect">
            <a:avLst/>
          </a:prstGeom>
          <a:noFill/>
          <a:ln/>
        </p:spPr>
        <p:txBody>
          <a:bodyPr wrap="square" lIns="0" tIns="0" rIns="0" bIns="0" rtlCol="0" anchor="t"/>
          <a:lstStyle/>
          <a:p>
            <a:pPr marL="0" indent="0">
              <a:buNone/>
            </a:pPr>
            <a:r>
              <a:rPr lang="en-US" sz="1400" b="1" dirty="0">
                <a:solidFill>
                  <a:schemeClr val="tx1"/>
                </a:solidFill>
              </a:rPr>
              <a:t>Independent</a:t>
            </a:r>
            <a:endParaRPr lang="en-US" sz="1400" dirty="0"/>
          </a:p>
        </p:txBody>
      </p:sp>
      <p:sp>
        <p:nvSpPr>
          <p:cNvPr id="12" name="Text 9"/>
          <p:cNvSpPr txBox="1"/>
          <p:nvPr/>
        </p:nvSpPr>
        <p:spPr>
          <a:xfrm>
            <a:off x="10954512" y="2139696"/>
            <a:ext cx="365760" cy="411480"/>
          </a:xfrm>
          <a:prstGeom prst="rect">
            <a:avLst/>
          </a:prstGeom>
          <a:noFill/>
          <a:ln/>
        </p:spPr>
        <p:txBody>
          <a:bodyPr wrap="square" lIns="0" tIns="0" rIns="0" bIns="0" rtlCol="0" anchor="ctr"/>
          <a:lstStyle/>
          <a:p>
            <a:pPr marL="0" indent="0" algn="ctr">
              <a:buNone/>
            </a:pPr>
            <a:r>
              <a:rPr lang="en-US" sz="2200" b="1" dirty="0">
                <a:solidFill>
                  <a:srgbClr val="44CC44"/>
                </a:solidFill>
              </a:rPr>
              <a:t>✓</a:t>
            </a:r>
            <a:endParaRPr lang="en-US" sz="2200" dirty="0"/>
          </a:p>
        </p:txBody>
      </p:sp>
      <p:sp>
        <p:nvSpPr>
          <p:cNvPr id="13" name="Letter"/>
          <p:cNvSpPr/>
          <p:nvPr/>
        </p:nvSpPr>
        <p:spPr>
          <a:xfrm>
            <a:off x="8641080" y="2834640"/>
            <a:ext cx="384048" cy="384048"/>
          </a:xfrm>
          <a:prstGeom prst="ellipse">
            <a:avLst/>
          </a:prstGeom>
          <a:solidFill>
            <a:schemeClr val="accent1"/>
          </a:solidFill>
          <a:ln/>
        </p:spPr>
        <p:txBody>
          <a:bodyPr/>
          <a:lstStyle/>
          <a:p>
            <a:endParaRPr lang="en-GB"/>
          </a:p>
        </p:txBody>
      </p:sp>
      <p:sp>
        <p:nvSpPr>
          <p:cNvPr id="14" name="Text 11"/>
          <p:cNvSpPr txBox="1"/>
          <p:nvPr/>
        </p:nvSpPr>
        <p:spPr>
          <a:xfrm>
            <a:off x="8641080" y="2834640"/>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N</a:t>
            </a:r>
            <a:endParaRPr lang="en-US" sz="1600" dirty="0"/>
          </a:p>
        </p:txBody>
      </p:sp>
      <p:sp>
        <p:nvSpPr>
          <p:cNvPr id="15" name="Text 12"/>
          <p:cNvSpPr txBox="1"/>
          <p:nvPr/>
        </p:nvSpPr>
        <p:spPr>
          <a:xfrm>
            <a:off x="9189720" y="2798064"/>
            <a:ext cx="1645920" cy="274320"/>
          </a:xfrm>
          <a:prstGeom prst="rect">
            <a:avLst/>
          </a:prstGeom>
          <a:noFill/>
          <a:ln/>
        </p:spPr>
        <p:txBody>
          <a:bodyPr wrap="square" lIns="0" tIns="0" rIns="0" bIns="0" rtlCol="0" anchor="t"/>
          <a:lstStyle/>
          <a:p>
            <a:pPr marL="0" indent="0">
              <a:buNone/>
            </a:pPr>
            <a:r>
              <a:rPr lang="en-US" sz="1400" b="1" dirty="0">
                <a:solidFill>
                  <a:schemeClr val="tx1"/>
                </a:solidFill>
              </a:rPr>
              <a:t>Negotiable</a:t>
            </a:r>
            <a:endParaRPr lang="en-US" sz="1400" dirty="0"/>
          </a:p>
        </p:txBody>
      </p:sp>
      <p:sp>
        <p:nvSpPr>
          <p:cNvPr id="16" name="Text 13"/>
          <p:cNvSpPr txBox="1"/>
          <p:nvPr/>
        </p:nvSpPr>
        <p:spPr>
          <a:xfrm>
            <a:off x="10954512" y="2816352"/>
            <a:ext cx="365760" cy="411480"/>
          </a:xfrm>
          <a:prstGeom prst="rect">
            <a:avLst/>
          </a:prstGeom>
          <a:noFill/>
          <a:ln/>
        </p:spPr>
        <p:txBody>
          <a:bodyPr wrap="square" lIns="0" tIns="0" rIns="0" bIns="0" rtlCol="0" anchor="ctr"/>
          <a:lstStyle/>
          <a:p>
            <a:pPr marL="0" indent="0" algn="ctr">
              <a:buNone/>
            </a:pPr>
            <a:r>
              <a:rPr lang="en-US" sz="2200" b="1" dirty="0">
                <a:solidFill>
                  <a:srgbClr val="44CC44"/>
                </a:solidFill>
              </a:rPr>
              <a:t>✓</a:t>
            </a:r>
            <a:endParaRPr lang="en-US" sz="2200" dirty="0"/>
          </a:p>
        </p:txBody>
      </p:sp>
      <p:sp>
        <p:nvSpPr>
          <p:cNvPr id="17" name="Letter"/>
          <p:cNvSpPr/>
          <p:nvPr/>
        </p:nvSpPr>
        <p:spPr>
          <a:xfrm>
            <a:off x="8641080" y="3511296"/>
            <a:ext cx="384048" cy="384048"/>
          </a:xfrm>
          <a:prstGeom prst="ellipse">
            <a:avLst/>
          </a:prstGeom>
          <a:solidFill>
            <a:schemeClr val="accent1"/>
          </a:solidFill>
          <a:ln/>
        </p:spPr>
        <p:txBody>
          <a:bodyPr/>
          <a:lstStyle/>
          <a:p>
            <a:endParaRPr lang="en-GB"/>
          </a:p>
        </p:txBody>
      </p:sp>
      <p:sp>
        <p:nvSpPr>
          <p:cNvPr id="18" name="Text 15"/>
          <p:cNvSpPr txBox="1"/>
          <p:nvPr/>
        </p:nvSpPr>
        <p:spPr>
          <a:xfrm>
            <a:off x="8641080" y="3511296"/>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V</a:t>
            </a:r>
            <a:endParaRPr lang="en-US" sz="1600" dirty="0"/>
          </a:p>
        </p:txBody>
      </p:sp>
      <p:sp>
        <p:nvSpPr>
          <p:cNvPr id="19" name="Text 16"/>
          <p:cNvSpPr txBox="1"/>
          <p:nvPr/>
        </p:nvSpPr>
        <p:spPr>
          <a:xfrm>
            <a:off x="9189720" y="3474720"/>
            <a:ext cx="1645920" cy="274320"/>
          </a:xfrm>
          <a:prstGeom prst="rect">
            <a:avLst/>
          </a:prstGeom>
          <a:noFill/>
          <a:ln/>
        </p:spPr>
        <p:txBody>
          <a:bodyPr wrap="square" lIns="0" tIns="0" rIns="0" bIns="0" rtlCol="0" anchor="t"/>
          <a:lstStyle/>
          <a:p>
            <a:pPr marL="0" indent="0">
              <a:buNone/>
            </a:pPr>
            <a:r>
              <a:rPr lang="en-US" sz="1400" b="1" dirty="0">
                <a:solidFill>
                  <a:schemeClr val="tx1"/>
                </a:solidFill>
              </a:rPr>
              <a:t>Valuable</a:t>
            </a:r>
            <a:endParaRPr lang="en-US" sz="1400" dirty="0"/>
          </a:p>
        </p:txBody>
      </p:sp>
      <p:sp>
        <p:nvSpPr>
          <p:cNvPr id="20" name="Text 17"/>
          <p:cNvSpPr txBox="1"/>
          <p:nvPr/>
        </p:nvSpPr>
        <p:spPr>
          <a:xfrm>
            <a:off x="10954512" y="3493008"/>
            <a:ext cx="365760" cy="411480"/>
          </a:xfrm>
          <a:prstGeom prst="rect">
            <a:avLst/>
          </a:prstGeom>
          <a:noFill/>
          <a:ln/>
        </p:spPr>
        <p:txBody>
          <a:bodyPr wrap="square" lIns="0" tIns="0" rIns="0" bIns="0" rtlCol="0" anchor="ctr"/>
          <a:lstStyle/>
          <a:p>
            <a:pPr marL="0" indent="0" algn="ctr">
              <a:buNone/>
            </a:pPr>
            <a:r>
              <a:rPr lang="en-US" sz="2200" b="1" dirty="0">
                <a:solidFill>
                  <a:srgbClr val="44CC44"/>
                </a:solidFill>
              </a:rPr>
              <a:t>✓</a:t>
            </a:r>
            <a:endParaRPr lang="en-US" sz="2200" dirty="0"/>
          </a:p>
        </p:txBody>
      </p:sp>
      <p:sp>
        <p:nvSpPr>
          <p:cNvPr id="21" name="Letter"/>
          <p:cNvSpPr/>
          <p:nvPr/>
        </p:nvSpPr>
        <p:spPr>
          <a:xfrm>
            <a:off x="8641080" y="4187952"/>
            <a:ext cx="384048" cy="384048"/>
          </a:xfrm>
          <a:prstGeom prst="ellipse">
            <a:avLst/>
          </a:prstGeom>
          <a:solidFill>
            <a:schemeClr val="accent1"/>
          </a:solidFill>
          <a:ln/>
        </p:spPr>
        <p:txBody>
          <a:bodyPr/>
          <a:lstStyle/>
          <a:p>
            <a:endParaRPr lang="en-GB"/>
          </a:p>
        </p:txBody>
      </p:sp>
      <p:sp>
        <p:nvSpPr>
          <p:cNvPr id="22" name="Text 19"/>
          <p:cNvSpPr txBox="1"/>
          <p:nvPr/>
        </p:nvSpPr>
        <p:spPr>
          <a:xfrm>
            <a:off x="8641080" y="4187952"/>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E</a:t>
            </a:r>
            <a:endParaRPr lang="en-US" sz="1600" dirty="0"/>
          </a:p>
        </p:txBody>
      </p:sp>
      <p:sp>
        <p:nvSpPr>
          <p:cNvPr id="23" name="Text 20"/>
          <p:cNvSpPr txBox="1"/>
          <p:nvPr/>
        </p:nvSpPr>
        <p:spPr>
          <a:xfrm>
            <a:off x="9189720" y="4151376"/>
            <a:ext cx="1645920" cy="274320"/>
          </a:xfrm>
          <a:prstGeom prst="rect">
            <a:avLst/>
          </a:prstGeom>
          <a:noFill/>
          <a:ln/>
        </p:spPr>
        <p:txBody>
          <a:bodyPr wrap="square" lIns="0" tIns="0" rIns="0" bIns="0" rtlCol="0" anchor="t"/>
          <a:lstStyle/>
          <a:p>
            <a:pPr marL="0" indent="0">
              <a:buNone/>
            </a:pPr>
            <a:r>
              <a:rPr lang="en-US" sz="1400" b="1" dirty="0">
                <a:solidFill>
                  <a:schemeClr val="tx1"/>
                </a:solidFill>
              </a:rPr>
              <a:t>Estimable</a:t>
            </a:r>
            <a:endParaRPr lang="en-US" sz="1400" dirty="0"/>
          </a:p>
        </p:txBody>
      </p:sp>
      <p:sp>
        <p:nvSpPr>
          <p:cNvPr id="24" name="Text 21"/>
          <p:cNvSpPr txBox="1"/>
          <p:nvPr/>
        </p:nvSpPr>
        <p:spPr>
          <a:xfrm>
            <a:off x="9189720" y="4407408"/>
            <a:ext cx="2011680" cy="274320"/>
          </a:xfrm>
          <a:prstGeom prst="rect">
            <a:avLst/>
          </a:prstGeom>
          <a:noFill/>
          <a:ln/>
        </p:spPr>
        <p:txBody>
          <a:bodyPr wrap="square" lIns="0" tIns="0" rIns="0" bIns="0" rtlCol="0" anchor="t"/>
          <a:lstStyle/>
          <a:p>
            <a:pPr marL="0" indent="0">
              <a:buNone/>
            </a:pPr>
            <a:r>
              <a:rPr lang="en-US" sz="1200" dirty="0">
                <a:solidFill>
                  <a:schemeClr val="accent2"/>
                </a:solidFill>
              </a:rPr>
              <a:t>Country scope needed</a:t>
            </a:r>
            <a:endParaRPr lang="en-US" sz="1200" dirty="0"/>
          </a:p>
        </p:txBody>
      </p:sp>
      <p:sp>
        <p:nvSpPr>
          <p:cNvPr id="25" name="Text 22"/>
          <p:cNvSpPr txBox="1"/>
          <p:nvPr/>
        </p:nvSpPr>
        <p:spPr>
          <a:xfrm>
            <a:off x="10954512" y="4169664"/>
            <a:ext cx="365760" cy="411480"/>
          </a:xfrm>
          <a:prstGeom prst="rect">
            <a:avLst/>
          </a:prstGeom>
          <a:noFill/>
          <a:ln/>
        </p:spPr>
        <p:txBody>
          <a:bodyPr wrap="square" lIns="0" tIns="0" rIns="0" bIns="0" rtlCol="0" anchor="ctr"/>
          <a:lstStyle/>
          <a:p>
            <a:pPr marL="0" indent="0" algn="ctr">
              <a:buNone/>
            </a:pPr>
            <a:r>
              <a:rPr lang="en-US" sz="2200" b="1" dirty="0">
                <a:solidFill>
                  <a:srgbClr val="CCAA44"/>
                </a:solidFill>
              </a:rPr>
              <a:t>⚠</a:t>
            </a:r>
            <a:endParaRPr lang="en-US" sz="2200" dirty="0"/>
          </a:p>
        </p:txBody>
      </p:sp>
      <p:sp>
        <p:nvSpPr>
          <p:cNvPr id="26" name="Letter"/>
          <p:cNvSpPr/>
          <p:nvPr/>
        </p:nvSpPr>
        <p:spPr>
          <a:xfrm>
            <a:off x="8641080" y="4864608"/>
            <a:ext cx="384048" cy="384048"/>
          </a:xfrm>
          <a:prstGeom prst="ellipse">
            <a:avLst/>
          </a:prstGeom>
          <a:solidFill>
            <a:schemeClr val="accent1"/>
          </a:solidFill>
          <a:ln/>
        </p:spPr>
        <p:txBody>
          <a:bodyPr/>
          <a:lstStyle/>
          <a:p>
            <a:endParaRPr lang="en-GB"/>
          </a:p>
        </p:txBody>
      </p:sp>
      <p:sp>
        <p:nvSpPr>
          <p:cNvPr id="27" name="Text 24"/>
          <p:cNvSpPr txBox="1"/>
          <p:nvPr/>
        </p:nvSpPr>
        <p:spPr>
          <a:xfrm>
            <a:off x="8641080" y="4864608"/>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S</a:t>
            </a:r>
            <a:endParaRPr lang="en-US" sz="1600" dirty="0"/>
          </a:p>
        </p:txBody>
      </p:sp>
      <p:sp>
        <p:nvSpPr>
          <p:cNvPr id="28" name="Text 25"/>
          <p:cNvSpPr txBox="1"/>
          <p:nvPr/>
        </p:nvSpPr>
        <p:spPr>
          <a:xfrm>
            <a:off x="9189720" y="4828032"/>
            <a:ext cx="1645920" cy="274320"/>
          </a:xfrm>
          <a:prstGeom prst="rect">
            <a:avLst/>
          </a:prstGeom>
          <a:noFill/>
          <a:ln/>
        </p:spPr>
        <p:txBody>
          <a:bodyPr wrap="square" lIns="0" tIns="0" rIns="0" bIns="0" rtlCol="0" anchor="t"/>
          <a:lstStyle/>
          <a:p>
            <a:pPr marL="0" indent="0">
              <a:buNone/>
            </a:pPr>
            <a:r>
              <a:rPr lang="en-US" sz="1400" b="1" dirty="0">
                <a:solidFill>
                  <a:schemeClr val="tx1"/>
                </a:solidFill>
              </a:rPr>
              <a:t>Small</a:t>
            </a:r>
            <a:endParaRPr lang="en-US" sz="1400" dirty="0"/>
          </a:p>
        </p:txBody>
      </p:sp>
      <p:sp>
        <p:nvSpPr>
          <p:cNvPr id="29" name="Text 26"/>
          <p:cNvSpPr txBox="1"/>
          <p:nvPr/>
        </p:nvSpPr>
        <p:spPr>
          <a:xfrm>
            <a:off x="9189720" y="5084064"/>
            <a:ext cx="2011680" cy="274320"/>
          </a:xfrm>
          <a:prstGeom prst="rect">
            <a:avLst/>
          </a:prstGeom>
          <a:noFill/>
          <a:ln/>
        </p:spPr>
        <p:txBody>
          <a:bodyPr wrap="square" lIns="0" tIns="0" rIns="0" bIns="0" rtlCol="0" anchor="t"/>
          <a:lstStyle/>
          <a:p>
            <a:pPr marL="0" indent="0">
              <a:buNone/>
            </a:pPr>
            <a:r>
              <a:rPr lang="en-US" sz="1200" dirty="0">
                <a:solidFill>
                  <a:schemeClr val="accent2"/>
                </a:solidFill>
              </a:rPr>
              <a:t>One country per sprint</a:t>
            </a:r>
            <a:endParaRPr lang="en-US" sz="1200" dirty="0"/>
          </a:p>
        </p:txBody>
      </p:sp>
      <p:sp>
        <p:nvSpPr>
          <p:cNvPr id="30" name="Text 27"/>
          <p:cNvSpPr txBox="1"/>
          <p:nvPr/>
        </p:nvSpPr>
        <p:spPr>
          <a:xfrm>
            <a:off x="10954512" y="4846320"/>
            <a:ext cx="365760" cy="411480"/>
          </a:xfrm>
          <a:prstGeom prst="rect">
            <a:avLst/>
          </a:prstGeom>
          <a:noFill/>
          <a:ln/>
        </p:spPr>
        <p:txBody>
          <a:bodyPr wrap="square" lIns="0" tIns="0" rIns="0" bIns="0" rtlCol="0" anchor="ctr"/>
          <a:lstStyle/>
          <a:p>
            <a:pPr marL="0" indent="0" algn="ctr">
              <a:buNone/>
            </a:pPr>
            <a:r>
              <a:rPr lang="en-US" sz="2200" b="1" dirty="0">
                <a:solidFill>
                  <a:srgbClr val="CCAA44"/>
                </a:solidFill>
              </a:rPr>
              <a:t>⚠</a:t>
            </a:r>
            <a:endParaRPr lang="en-US" sz="2200" dirty="0"/>
          </a:p>
        </p:txBody>
      </p:sp>
      <p:sp>
        <p:nvSpPr>
          <p:cNvPr id="31" name="Letter"/>
          <p:cNvSpPr/>
          <p:nvPr/>
        </p:nvSpPr>
        <p:spPr>
          <a:xfrm>
            <a:off x="8641080" y="5541264"/>
            <a:ext cx="384048" cy="384048"/>
          </a:xfrm>
          <a:prstGeom prst="ellipse">
            <a:avLst/>
          </a:prstGeom>
          <a:solidFill>
            <a:schemeClr val="accent1"/>
          </a:solidFill>
          <a:ln/>
        </p:spPr>
        <p:txBody>
          <a:bodyPr/>
          <a:lstStyle/>
          <a:p>
            <a:endParaRPr lang="en-GB"/>
          </a:p>
        </p:txBody>
      </p:sp>
      <p:sp>
        <p:nvSpPr>
          <p:cNvPr id="32" name="Text 29"/>
          <p:cNvSpPr txBox="1"/>
          <p:nvPr/>
        </p:nvSpPr>
        <p:spPr>
          <a:xfrm>
            <a:off x="8641080" y="5541264"/>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T</a:t>
            </a:r>
            <a:endParaRPr lang="en-US" sz="1600" dirty="0"/>
          </a:p>
        </p:txBody>
      </p:sp>
      <p:sp>
        <p:nvSpPr>
          <p:cNvPr id="33" name="Text 30"/>
          <p:cNvSpPr txBox="1"/>
          <p:nvPr/>
        </p:nvSpPr>
        <p:spPr>
          <a:xfrm>
            <a:off x="9189720" y="5504688"/>
            <a:ext cx="1645920" cy="274320"/>
          </a:xfrm>
          <a:prstGeom prst="rect">
            <a:avLst/>
          </a:prstGeom>
          <a:noFill/>
          <a:ln/>
        </p:spPr>
        <p:txBody>
          <a:bodyPr wrap="square" lIns="0" tIns="0" rIns="0" bIns="0" rtlCol="0" anchor="t"/>
          <a:lstStyle/>
          <a:p>
            <a:pPr marL="0" indent="0">
              <a:buNone/>
            </a:pPr>
            <a:r>
              <a:rPr lang="en-US" sz="1400" b="1" dirty="0">
                <a:solidFill>
                  <a:schemeClr val="tx1"/>
                </a:solidFill>
              </a:rPr>
              <a:t>Testable</a:t>
            </a:r>
            <a:endParaRPr lang="en-US" sz="1400" dirty="0"/>
          </a:p>
        </p:txBody>
      </p:sp>
      <p:sp>
        <p:nvSpPr>
          <p:cNvPr id="34" name="Text 31"/>
          <p:cNvSpPr txBox="1"/>
          <p:nvPr/>
        </p:nvSpPr>
        <p:spPr>
          <a:xfrm>
            <a:off x="10954512" y="5522976"/>
            <a:ext cx="365760" cy="411480"/>
          </a:xfrm>
          <a:prstGeom prst="rect">
            <a:avLst/>
          </a:prstGeom>
          <a:noFill/>
          <a:ln/>
        </p:spPr>
        <p:txBody>
          <a:bodyPr wrap="square" lIns="0" tIns="0" rIns="0" bIns="0" rtlCol="0" anchor="ctr"/>
          <a:lstStyle/>
          <a:p>
            <a:pPr marL="0" indent="0" algn="ctr">
              <a:buNone/>
            </a:pPr>
            <a:r>
              <a:rPr lang="en-US" sz="2200" b="1" dirty="0">
                <a:solidFill>
                  <a:srgbClr val="44CC44"/>
                </a:solidFill>
              </a:rPr>
              <a:t>✓</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04 · USER STORIES &amp; ACCEPTANCE CRITERIA</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Story 2: Synced Reading Progress</a:t>
            </a:r>
            <a:endParaRPr lang="en-US" sz="3200" dirty="0"/>
          </a:p>
        </p:txBody>
      </p:sp>
      <p:sp>
        <p:nvSpPr>
          <p:cNvPr id="5" name="Code block"/>
          <p:cNvSpPr/>
          <p:nvPr/>
        </p:nvSpPr>
        <p:spPr>
          <a:xfrm>
            <a:off x="640080" y="1508760"/>
            <a:ext cx="7589520" cy="4800600"/>
          </a:xfrm>
          <a:prstGeom prst="roundRect">
            <a:avLst>
              <a:gd name="adj" fmla="val 2286"/>
            </a:avLst>
          </a:prstGeom>
          <a:solidFill>
            <a:schemeClr val="bg2"/>
          </a:solidFill>
          <a:ln w="9525">
            <a:solidFill>
              <a:schemeClr val="tx2"/>
            </a:solidFill>
            <a:prstDash val="solid"/>
          </a:ln>
        </p:spPr>
        <p:txBody>
          <a:bodyPr/>
          <a:lstStyle/>
          <a:p>
            <a:endParaRPr lang="en-GB"/>
          </a:p>
        </p:txBody>
      </p:sp>
      <p:sp>
        <p:nvSpPr>
          <p:cNvPr id="6" name="Text 3"/>
          <p:cNvSpPr txBox="1"/>
          <p:nvPr/>
        </p:nvSpPr>
        <p:spPr>
          <a:xfrm>
            <a:off x="914400" y="1691640"/>
            <a:ext cx="7040880" cy="4480560"/>
          </a:xfrm>
          <a:prstGeom prst="rect">
            <a:avLst/>
          </a:prstGeom>
          <a:noFill/>
          <a:ln/>
        </p:spPr>
        <p:txBody>
          <a:bodyPr wrap="square" lIns="0" tIns="0" rIns="0" bIns="0" rtlCol="0" anchor="t"/>
          <a:lstStyle/>
          <a:p>
            <a:pPr marL="0" indent="0">
              <a:lnSpc>
                <a:spcPct val="105000"/>
              </a:lnSpc>
              <a:buNone/>
            </a:pPr>
            <a:r>
              <a:rPr lang="en-US" sz="1400" b="1" dirty="0">
                <a:solidFill>
                  <a:schemeClr val="tx1"/>
                </a:solidFill>
                <a:latin typeface="Courier New" pitchFamily="34" charset="0"/>
                <a:ea typeface="Courier New" pitchFamily="34" charset="-122"/>
                <a:cs typeface="Courier New" pitchFamily="34" charset="-120"/>
              </a:rPr>
              <a:t>As a</a:t>
            </a:r>
            <a:r>
              <a:rPr lang="en-US" sz="1400" dirty="0">
                <a:solidFill>
                  <a:schemeClr val="accent1"/>
                </a:solidFill>
                <a:latin typeface="Courier New" pitchFamily="34" charset="0"/>
                <a:ea typeface="Courier New" pitchFamily="34" charset="-122"/>
                <a:cs typeface="Courier New" pitchFamily="34" charset="-120"/>
              </a:rPr>
              <a:t> reader, </a:t>
            </a:r>
            <a:r>
              <a:rPr lang="en-US" sz="1400" b="1" dirty="0">
                <a:solidFill>
                  <a:schemeClr val="tx1"/>
                </a:solidFill>
                <a:latin typeface="Courier New" pitchFamily="34" charset="0"/>
                <a:ea typeface="Courier New" pitchFamily="34" charset="-122"/>
                <a:cs typeface="Courier New" pitchFamily="34" charset="-120"/>
              </a:rPr>
              <a:t>I want</a:t>
            </a:r>
            <a:r>
              <a:rPr lang="en-US" sz="1400" dirty="0">
                <a:solidFill>
                  <a:schemeClr val="accent1"/>
                </a:solidFill>
                <a:latin typeface="Courier New" pitchFamily="34" charset="0"/>
                <a:ea typeface="Courier New" pitchFamily="34" charset="-122"/>
                <a:cs typeface="Courier New" pitchFamily="34" charset="-120"/>
              </a:rPr>
              <a:t> my progress synced across devices,</a:t>
            </a:r>
            <a:endParaRPr lang="en-US" sz="1400" dirty="0"/>
          </a:p>
          <a:p>
            <a:pPr marL="0" indent="0">
              <a:lnSpc>
                <a:spcPct val="105000"/>
              </a:lnSpc>
              <a:buNone/>
            </a:pPr>
            <a:r>
              <a:rPr lang="en-US" sz="1400" b="1" dirty="0">
                <a:solidFill>
                  <a:schemeClr val="tx1"/>
                </a:solidFill>
                <a:latin typeface="Courier New" pitchFamily="34" charset="0"/>
                <a:ea typeface="Courier New" pitchFamily="34" charset="-122"/>
                <a:cs typeface="Courier New" pitchFamily="34" charset="-120"/>
              </a:rPr>
              <a:t>so that</a:t>
            </a:r>
            <a:r>
              <a:rPr lang="en-US" sz="1400" dirty="0">
                <a:solidFill>
                  <a:schemeClr val="accent1"/>
                </a:solidFill>
                <a:latin typeface="Courier New" pitchFamily="34" charset="0"/>
                <a:ea typeface="Courier New" pitchFamily="34" charset="-122"/>
                <a:cs typeface="Courier New" pitchFamily="34" charset="-120"/>
              </a:rPr>
              <a:t> I can continue where I stopped on any device.</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endParaRPr lang="en-US" sz="1400" dirty="0"/>
          </a:p>
          <a:p>
            <a:pPr marL="0" indent="0">
              <a:lnSpc>
                <a:spcPct val="105000"/>
              </a:lnSpc>
              <a:buNone/>
            </a:pPr>
            <a:r>
              <a:rPr lang="en-US" sz="1400" b="1" dirty="0">
                <a:solidFill>
                  <a:schemeClr val="tx1"/>
                </a:solidFill>
                <a:latin typeface="Courier New" pitchFamily="34" charset="0"/>
                <a:ea typeface="Courier New" pitchFamily="34" charset="-122"/>
                <a:cs typeface="Courier New" pitchFamily="34" charset="-120"/>
              </a:rPr>
              <a:t>Acceptance Criteria (Given / When / Then):</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1. </a:t>
            </a:r>
            <a:r>
              <a:rPr lang="en-US" sz="1400" b="1" dirty="0">
                <a:solidFill>
                  <a:schemeClr val="tx1"/>
                </a:solidFill>
                <a:latin typeface="Courier New" pitchFamily="34" charset="0"/>
                <a:ea typeface="Courier New" pitchFamily="34" charset="-122"/>
                <a:cs typeface="Courier New" pitchFamily="34" charset="-120"/>
              </a:rPr>
              <a:t>Given</a:t>
            </a:r>
            <a:r>
              <a:rPr lang="en-US" sz="1400" dirty="0">
                <a:solidFill>
                  <a:schemeClr val="accent1"/>
                </a:solidFill>
                <a:latin typeface="Courier New" pitchFamily="34" charset="0"/>
                <a:ea typeface="Courier New" pitchFamily="34" charset="-122"/>
                <a:cs typeface="Courier New" pitchFamily="34" charset="-120"/>
              </a:rPr>
              <a:t> I read to page 100 on my phone</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When</a:t>
            </a:r>
            <a:r>
              <a:rPr lang="en-US" sz="1400" dirty="0">
                <a:solidFill>
                  <a:schemeClr val="accent1"/>
                </a:solidFill>
                <a:latin typeface="Courier New" pitchFamily="34" charset="0"/>
                <a:ea typeface="Courier New" pitchFamily="34" charset="-122"/>
                <a:cs typeface="Courier New" pitchFamily="34" charset="-120"/>
              </a:rPr>
              <a:t> I open the app on a tablet</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Then</a:t>
            </a:r>
            <a:r>
              <a:rPr lang="en-US" sz="1400" dirty="0">
                <a:solidFill>
                  <a:schemeClr val="accent1"/>
                </a:solidFill>
                <a:latin typeface="Courier New" pitchFamily="34" charset="0"/>
                <a:ea typeface="Courier New" pitchFamily="34" charset="-122"/>
                <a:cs typeface="Courier New" pitchFamily="34" charset="-120"/>
              </a:rPr>
              <a:t> it shows page 100 within 5 seconds</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(with “Synced ✓” indicator).</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2. </a:t>
            </a:r>
            <a:r>
              <a:rPr lang="en-US" sz="1400" b="1" dirty="0">
                <a:solidFill>
                  <a:schemeClr val="tx1"/>
                </a:solidFill>
                <a:latin typeface="Courier New" pitchFamily="34" charset="0"/>
                <a:ea typeface="Courier New" pitchFamily="34" charset="-122"/>
                <a:cs typeface="Courier New" pitchFamily="34" charset="-120"/>
              </a:rPr>
              <a:t>Given</a:t>
            </a:r>
            <a:r>
              <a:rPr lang="en-US" sz="1400" dirty="0">
                <a:solidFill>
                  <a:schemeClr val="accent1"/>
                </a:solidFill>
                <a:latin typeface="Courier New" pitchFamily="34" charset="0"/>
                <a:ea typeface="Courier New" pitchFamily="34" charset="-122"/>
                <a:cs typeface="Courier New" pitchFamily="34" charset="-120"/>
              </a:rPr>
              <a:t> I am offline</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When</a:t>
            </a:r>
            <a:r>
              <a:rPr lang="en-US" sz="1400" dirty="0">
                <a:solidFill>
                  <a:schemeClr val="accent1"/>
                </a:solidFill>
                <a:latin typeface="Courier New" pitchFamily="34" charset="0"/>
                <a:ea typeface="Courier New" pitchFamily="34" charset="-122"/>
                <a:cs typeface="Courier New" pitchFamily="34" charset="-120"/>
              </a:rPr>
              <a:t> I read 20 pages</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Then</a:t>
            </a:r>
            <a:r>
              <a:rPr lang="en-US" sz="1400" dirty="0">
                <a:solidFill>
                  <a:schemeClr val="accent1"/>
                </a:solidFill>
                <a:latin typeface="Courier New" pitchFamily="34" charset="0"/>
                <a:ea typeface="Courier New" pitchFamily="34" charset="-122"/>
                <a:cs typeface="Courier New" pitchFamily="34" charset="-120"/>
              </a:rPr>
              <a:t> progress is saved locally and synced</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automatically on reconnect.</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3. </a:t>
            </a:r>
            <a:r>
              <a:rPr lang="en-US" sz="1400" b="1" dirty="0">
                <a:solidFill>
                  <a:schemeClr val="tx1"/>
                </a:solidFill>
                <a:latin typeface="Courier New" pitchFamily="34" charset="0"/>
                <a:ea typeface="Courier New" pitchFamily="34" charset="-122"/>
                <a:cs typeface="Courier New" pitchFamily="34" charset="-120"/>
              </a:rPr>
              <a:t>Given</a:t>
            </a:r>
            <a:r>
              <a:rPr lang="en-US" sz="1400" dirty="0">
                <a:solidFill>
                  <a:schemeClr val="accent1"/>
                </a:solidFill>
                <a:latin typeface="Courier New" pitchFamily="34" charset="0"/>
                <a:ea typeface="Courier New" pitchFamily="34" charset="-122"/>
                <a:cs typeface="Courier New" pitchFamily="34" charset="-120"/>
              </a:rPr>
              <a:t> I read on two devices offline</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When</a:t>
            </a:r>
            <a:r>
              <a:rPr lang="en-US" sz="1400" dirty="0">
                <a:solidFill>
                  <a:schemeClr val="accent1"/>
                </a:solidFill>
                <a:latin typeface="Courier New" pitchFamily="34" charset="0"/>
                <a:ea typeface="Courier New" pitchFamily="34" charset="-122"/>
                <a:cs typeface="Courier New" pitchFamily="34" charset="-120"/>
              </a:rPr>
              <a:t> both reconnect</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Then</a:t>
            </a:r>
            <a:r>
              <a:rPr lang="en-US" sz="1400" dirty="0">
                <a:solidFill>
                  <a:schemeClr val="accent1"/>
                </a:solidFill>
                <a:latin typeface="Courier New" pitchFamily="34" charset="0"/>
                <a:ea typeface="Courier New" pitchFamily="34" charset="-122"/>
                <a:cs typeface="Courier New" pitchFamily="34" charset="-120"/>
              </a:rPr>
              <a:t> the later timestamp wins (last-write-wins)</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and a toast confirms “Progress merged from [device]”.</a:t>
            </a:r>
            <a:endParaRPr lang="en-US" sz="1400" dirty="0"/>
          </a:p>
        </p:txBody>
      </p:sp>
      <p:sp>
        <p:nvSpPr>
          <p:cNvPr id="7" name="INVEST check card"/>
          <p:cNvSpPr/>
          <p:nvPr/>
        </p:nvSpPr>
        <p:spPr>
          <a:xfrm>
            <a:off x="8412480" y="1508760"/>
            <a:ext cx="3136392" cy="4800600"/>
          </a:xfrm>
          <a:prstGeom prst="roundRect">
            <a:avLst>
              <a:gd name="adj" fmla="val 3499"/>
            </a:avLst>
          </a:prstGeom>
          <a:solidFill>
            <a:schemeClr val="bg2"/>
          </a:solidFill>
          <a:ln w="9525">
            <a:solidFill>
              <a:schemeClr val="tx2"/>
            </a:solidFill>
            <a:prstDash val="solid"/>
          </a:ln>
        </p:spPr>
        <p:txBody>
          <a:bodyPr/>
          <a:lstStyle/>
          <a:p>
            <a:endParaRPr lang="en-GB"/>
          </a:p>
        </p:txBody>
      </p:sp>
      <p:sp>
        <p:nvSpPr>
          <p:cNvPr id="8" name="Text 5"/>
          <p:cNvSpPr txBox="1"/>
          <p:nvPr/>
        </p:nvSpPr>
        <p:spPr>
          <a:xfrm>
            <a:off x="8641080" y="1691640"/>
            <a:ext cx="2679192"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INVEST CHECK</a:t>
            </a:r>
            <a:endParaRPr lang="en-US" sz="1200" dirty="0"/>
          </a:p>
        </p:txBody>
      </p:sp>
      <p:sp>
        <p:nvSpPr>
          <p:cNvPr id="9" name="Letter"/>
          <p:cNvSpPr/>
          <p:nvPr/>
        </p:nvSpPr>
        <p:spPr>
          <a:xfrm>
            <a:off x="8641080" y="2157984"/>
            <a:ext cx="384048" cy="384048"/>
          </a:xfrm>
          <a:prstGeom prst="ellipse">
            <a:avLst/>
          </a:prstGeom>
          <a:solidFill>
            <a:schemeClr val="accent1"/>
          </a:solidFill>
          <a:ln/>
        </p:spPr>
        <p:txBody>
          <a:bodyPr/>
          <a:lstStyle/>
          <a:p>
            <a:endParaRPr lang="en-GB"/>
          </a:p>
        </p:txBody>
      </p:sp>
      <p:sp>
        <p:nvSpPr>
          <p:cNvPr id="10" name="Text 7"/>
          <p:cNvSpPr txBox="1"/>
          <p:nvPr/>
        </p:nvSpPr>
        <p:spPr>
          <a:xfrm>
            <a:off x="8641080" y="2157984"/>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I</a:t>
            </a:r>
            <a:endParaRPr lang="en-US" sz="1600" dirty="0"/>
          </a:p>
        </p:txBody>
      </p:sp>
      <p:sp>
        <p:nvSpPr>
          <p:cNvPr id="11" name="Text 8"/>
          <p:cNvSpPr txBox="1"/>
          <p:nvPr/>
        </p:nvSpPr>
        <p:spPr>
          <a:xfrm>
            <a:off x="9189720" y="2121408"/>
            <a:ext cx="1645920" cy="274320"/>
          </a:xfrm>
          <a:prstGeom prst="rect">
            <a:avLst/>
          </a:prstGeom>
          <a:noFill/>
          <a:ln/>
        </p:spPr>
        <p:txBody>
          <a:bodyPr wrap="square" lIns="0" tIns="0" rIns="0" bIns="0" rtlCol="0" anchor="t"/>
          <a:lstStyle/>
          <a:p>
            <a:pPr marL="0" indent="0">
              <a:buNone/>
            </a:pPr>
            <a:r>
              <a:rPr lang="en-US" sz="1400" b="1" dirty="0">
                <a:solidFill>
                  <a:schemeClr val="tx1"/>
                </a:solidFill>
              </a:rPr>
              <a:t>Independent</a:t>
            </a:r>
            <a:endParaRPr lang="en-US" sz="1400" dirty="0"/>
          </a:p>
        </p:txBody>
      </p:sp>
      <p:sp>
        <p:nvSpPr>
          <p:cNvPr id="12" name="Text 9"/>
          <p:cNvSpPr txBox="1"/>
          <p:nvPr/>
        </p:nvSpPr>
        <p:spPr>
          <a:xfrm>
            <a:off x="10954512" y="2139696"/>
            <a:ext cx="365760" cy="411480"/>
          </a:xfrm>
          <a:prstGeom prst="rect">
            <a:avLst/>
          </a:prstGeom>
          <a:noFill/>
          <a:ln/>
        </p:spPr>
        <p:txBody>
          <a:bodyPr wrap="square" lIns="0" tIns="0" rIns="0" bIns="0" rtlCol="0" anchor="ctr"/>
          <a:lstStyle/>
          <a:p>
            <a:pPr marL="0" indent="0" algn="ctr">
              <a:buNone/>
            </a:pPr>
            <a:r>
              <a:rPr lang="en-US" sz="2200" b="1" dirty="0">
                <a:solidFill>
                  <a:srgbClr val="44CC44"/>
                </a:solidFill>
              </a:rPr>
              <a:t>✓</a:t>
            </a:r>
            <a:endParaRPr lang="en-US" sz="2200" dirty="0"/>
          </a:p>
        </p:txBody>
      </p:sp>
      <p:sp>
        <p:nvSpPr>
          <p:cNvPr id="13" name="Letter"/>
          <p:cNvSpPr/>
          <p:nvPr/>
        </p:nvSpPr>
        <p:spPr>
          <a:xfrm>
            <a:off x="8641080" y="2834640"/>
            <a:ext cx="384048" cy="384048"/>
          </a:xfrm>
          <a:prstGeom prst="ellipse">
            <a:avLst/>
          </a:prstGeom>
          <a:solidFill>
            <a:schemeClr val="accent1"/>
          </a:solidFill>
          <a:ln/>
        </p:spPr>
        <p:txBody>
          <a:bodyPr/>
          <a:lstStyle/>
          <a:p>
            <a:endParaRPr lang="en-GB"/>
          </a:p>
        </p:txBody>
      </p:sp>
      <p:sp>
        <p:nvSpPr>
          <p:cNvPr id="14" name="Text 11"/>
          <p:cNvSpPr txBox="1"/>
          <p:nvPr/>
        </p:nvSpPr>
        <p:spPr>
          <a:xfrm>
            <a:off x="8641080" y="2834640"/>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N</a:t>
            </a:r>
            <a:endParaRPr lang="en-US" sz="1600" dirty="0"/>
          </a:p>
        </p:txBody>
      </p:sp>
      <p:sp>
        <p:nvSpPr>
          <p:cNvPr id="15" name="Text 12"/>
          <p:cNvSpPr txBox="1"/>
          <p:nvPr/>
        </p:nvSpPr>
        <p:spPr>
          <a:xfrm>
            <a:off x="9189720" y="2798064"/>
            <a:ext cx="1645920" cy="274320"/>
          </a:xfrm>
          <a:prstGeom prst="rect">
            <a:avLst/>
          </a:prstGeom>
          <a:noFill/>
          <a:ln/>
        </p:spPr>
        <p:txBody>
          <a:bodyPr wrap="square" lIns="0" tIns="0" rIns="0" bIns="0" rtlCol="0" anchor="t"/>
          <a:lstStyle/>
          <a:p>
            <a:pPr marL="0" indent="0">
              <a:buNone/>
            </a:pPr>
            <a:r>
              <a:rPr lang="en-US" sz="1400" b="1" dirty="0">
                <a:solidFill>
                  <a:schemeClr val="tx1"/>
                </a:solidFill>
              </a:rPr>
              <a:t>Negotiable</a:t>
            </a:r>
            <a:endParaRPr lang="en-US" sz="1400" dirty="0"/>
          </a:p>
        </p:txBody>
      </p:sp>
      <p:sp>
        <p:nvSpPr>
          <p:cNvPr id="16" name="Text 13"/>
          <p:cNvSpPr txBox="1"/>
          <p:nvPr/>
        </p:nvSpPr>
        <p:spPr>
          <a:xfrm>
            <a:off x="10954512" y="2816352"/>
            <a:ext cx="365760" cy="411480"/>
          </a:xfrm>
          <a:prstGeom prst="rect">
            <a:avLst/>
          </a:prstGeom>
          <a:noFill/>
          <a:ln/>
        </p:spPr>
        <p:txBody>
          <a:bodyPr wrap="square" lIns="0" tIns="0" rIns="0" bIns="0" rtlCol="0" anchor="ctr"/>
          <a:lstStyle/>
          <a:p>
            <a:pPr marL="0" indent="0" algn="ctr">
              <a:buNone/>
            </a:pPr>
            <a:r>
              <a:rPr lang="en-US" sz="2200" b="1" dirty="0">
                <a:solidFill>
                  <a:srgbClr val="44CC44"/>
                </a:solidFill>
              </a:rPr>
              <a:t>✓</a:t>
            </a:r>
            <a:endParaRPr lang="en-US" sz="2200" dirty="0"/>
          </a:p>
        </p:txBody>
      </p:sp>
      <p:sp>
        <p:nvSpPr>
          <p:cNvPr id="17" name="Letter"/>
          <p:cNvSpPr/>
          <p:nvPr/>
        </p:nvSpPr>
        <p:spPr>
          <a:xfrm>
            <a:off x="8641080" y="3511296"/>
            <a:ext cx="384048" cy="384048"/>
          </a:xfrm>
          <a:prstGeom prst="ellipse">
            <a:avLst/>
          </a:prstGeom>
          <a:solidFill>
            <a:schemeClr val="accent1"/>
          </a:solidFill>
          <a:ln/>
        </p:spPr>
        <p:txBody>
          <a:bodyPr/>
          <a:lstStyle/>
          <a:p>
            <a:endParaRPr lang="en-GB"/>
          </a:p>
        </p:txBody>
      </p:sp>
      <p:sp>
        <p:nvSpPr>
          <p:cNvPr id="18" name="Text 15"/>
          <p:cNvSpPr txBox="1"/>
          <p:nvPr/>
        </p:nvSpPr>
        <p:spPr>
          <a:xfrm>
            <a:off x="8641080" y="3511296"/>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V</a:t>
            </a:r>
            <a:endParaRPr lang="en-US" sz="1600" dirty="0"/>
          </a:p>
        </p:txBody>
      </p:sp>
      <p:sp>
        <p:nvSpPr>
          <p:cNvPr id="19" name="Text 16"/>
          <p:cNvSpPr txBox="1"/>
          <p:nvPr/>
        </p:nvSpPr>
        <p:spPr>
          <a:xfrm>
            <a:off x="9189720" y="3474720"/>
            <a:ext cx="1645920" cy="274320"/>
          </a:xfrm>
          <a:prstGeom prst="rect">
            <a:avLst/>
          </a:prstGeom>
          <a:noFill/>
          <a:ln/>
        </p:spPr>
        <p:txBody>
          <a:bodyPr wrap="square" lIns="0" tIns="0" rIns="0" bIns="0" rtlCol="0" anchor="t"/>
          <a:lstStyle/>
          <a:p>
            <a:pPr marL="0" indent="0">
              <a:buNone/>
            </a:pPr>
            <a:r>
              <a:rPr lang="en-US" sz="1400" b="1" dirty="0">
                <a:solidFill>
                  <a:schemeClr val="tx1"/>
                </a:solidFill>
              </a:rPr>
              <a:t>Valuable</a:t>
            </a:r>
            <a:endParaRPr lang="en-US" sz="1400" dirty="0"/>
          </a:p>
        </p:txBody>
      </p:sp>
      <p:sp>
        <p:nvSpPr>
          <p:cNvPr id="20" name="Text 17"/>
          <p:cNvSpPr txBox="1"/>
          <p:nvPr/>
        </p:nvSpPr>
        <p:spPr>
          <a:xfrm>
            <a:off x="10954512" y="3493008"/>
            <a:ext cx="365760" cy="411480"/>
          </a:xfrm>
          <a:prstGeom prst="rect">
            <a:avLst/>
          </a:prstGeom>
          <a:noFill/>
          <a:ln/>
        </p:spPr>
        <p:txBody>
          <a:bodyPr wrap="square" lIns="0" tIns="0" rIns="0" bIns="0" rtlCol="0" anchor="ctr"/>
          <a:lstStyle/>
          <a:p>
            <a:pPr marL="0" indent="0" algn="ctr">
              <a:buNone/>
            </a:pPr>
            <a:r>
              <a:rPr lang="en-US" sz="2200" b="1" dirty="0">
                <a:solidFill>
                  <a:srgbClr val="44CC44"/>
                </a:solidFill>
              </a:rPr>
              <a:t>✓</a:t>
            </a:r>
            <a:endParaRPr lang="en-US" sz="2200" dirty="0"/>
          </a:p>
        </p:txBody>
      </p:sp>
      <p:sp>
        <p:nvSpPr>
          <p:cNvPr id="21" name="Letter"/>
          <p:cNvSpPr/>
          <p:nvPr/>
        </p:nvSpPr>
        <p:spPr>
          <a:xfrm>
            <a:off x="8641080" y="4187952"/>
            <a:ext cx="384048" cy="384048"/>
          </a:xfrm>
          <a:prstGeom prst="ellipse">
            <a:avLst/>
          </a:prstGeom>
          <a:solidFill>
            <a:schemeClr val="accent1"/>
          </a:solidFill>
          <a:ln/>
        </p:spPr>
        <p:txBody>
          <a:bodyPr/>
          <a:lstStyle/>
          <a:p>
            <a:endParaRPr lang="en-GB"/>
          </a:p>
        </p:txBody>
      </p:sp>
      <p:sp>
        <p:nvSpPr>
          <p:cNvPr id="22" name="Text 19"/>
          <p:cNvSpPr txBox="1"/>
          <p:nvPr/>
        </p:nvSpPr>
        <p:spPr>
          <a:xfrm>
            <a:off x="8641080" y="4187952"/>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E</a:t>
            </a:r>
            <a:endParaRPr lang="en-US" sz="1600" dirty="0"/>
          </a:p>
        </p:txBody>
      </p:sp>
      <p:sp>
        <p:nvSpPr>
          <p:cNvPr id="23" name="Text 20"/>
          <p:cNvSpPr txBox="1"/>
          <p:nvPr/>
        </p:nvSpPr>
        <p:spPr>
          <a:xfrm>
            <a:off x="9189720" y="4151376"/>
            <a:ext cx="1645920" cy="274320"/>
          </a:xfrm>
          <a:prstGeom prst="rect">
            <a:avLst/>
          </a:prstGeom>
          <a:noFill/>
          <a:ln/>
        </p:spPr>
        <p:txBody>
          <a:bodyPr wrap="square" lIns="0" tIns="0" rIns="0" bIns="0" rtlCol="0" anchor="t"/>
          <a:lstStyle/>
          <a:p>
            <a:pPr marL="0" indent="0">
              <a:buNone/>
            </a:pPr>
            <a:r>
              <a:rPr lang="en-US" sz="1400" b="1" dirty="0">
                <a:solidFill>
                  <a:schemeClr val="tx1"/>
                </a:solidFill>
              </a:rPr>
              <a:t>Estimable</a:t>
            </a:r>
            <a:endParaRPr lang="en-US" sz="1400" dirty="0"/>
          </a:p>
        </p:txBody>
      </p:sp>
      <p:sp>
        <p:nvSpPr>
          <p:cNvPr id="24" name="Text 21"/>
          <p:cNvSpPr txBox="1"/>
          <p:nvPr/>
        </p:nvSpPr>
        <p:spPr>
          <a:xfrm>
            <a:off x="9189720" y="4407408"/>
            <a:ext cx="2011680" cy="274320"/>
          </a:xfrm>
          <a:prstGeom prst="rect">
            <a:avLst/>
          </a:prstGeom>
          <a:noFill/>
          <a:ln/>
        </p:spPr>
        <p:txBody>
          <a:bodyPr wrap="square" lIns="0" tIns="0" rIns="0" bIns="0" rtlCol="0" anchor="t"/>
          <a:lstStyle/>
          <a:p>
            <a:pPr marL="0" indent="0">
              <a:buNone/>
            </a:pPr>
            <a:r>
              <a:rPr lang="en-US" sz="1200" dirty="0">
                <a:solidFill>
                  <a:schemeClr val="accent2"/>
                </a:solidFill>
              </a:rPr>
              <a:t>Sync conflict rule needed</a:t>
            </a:r>
            <a:endParaRPr lang="en-US" sz="1200" dirty="0"/>
          </a:p>
        </p:txBody>
      </p:sp>
      <p:sp>
        <p:nvSpPr>
          <p:cNvPr id="25" name="Text 22"/>
          <p:cNvSpPr txBox="1"/>
          <p:nvPr/>
        </p:nvSpPr>
        <p:spPr>
          <a:xfrm>
            <a:off x="10954512" y="4169664"/>
            <a:ext cx="365760" cy="411480"/>
          </a:xfrm>
          <a:prstGeom prst="rect">
            <a:avLst/>
          </a:prstGeom>
          <a:noFill/>
          <a:ln/>
        </p:spPr>
        <p:txBody>
          <a:bodyPr wrap="square" lIns="0" tIns="0" rIns="0" bIns="0" rtlCol="0" anchor="ctr"/>
          <a:lstStyle/>
          <a:p>
            <a:pPr marL="0" indent="0" algn="ctr">
              <a:buNone/>
            </a:pPr>
            <a:r>
              <a:rPr lang="en-US" sz="2200" b="1" dirty="0">
                <a:solidFill>
                  <a:srgbClr val="CCAA44"/>
                </a:solidFill>
              </a:rPr>
              <a:t>⚠</a:t>
            </a:r>
            <a:endParaRPr lang="en-US" sz="2200" dirty="0"/>
          </a:p>
        </p:txBody>
      </p:sp>
      <p:sp>
        <p:nvSpPr>
          <p:cNvPr id="26" name="Letter"/>
          <p:cNvSpPr/>
          <p:nvPr/>
        </p:nvSpPr>
        <p:spPr>
          <a:xfrm>
            <a:off x="8641080" y="4864608"/>
            <a:ext cx="384048" cy="384048"/>
          </a:xfrm>
          <a:prstGeom prst="ellipse">
            <a:avLst/>
          </a:prstGeom>
          <a:solidFill>
            <a:schemeClr val="accent1"/>
          </a:solidFill>
          <a:ln/>
        </p:spPr>
        <p:txBody>
          <a:bodyPr/>
          <a:lstStyle/>
          <a:p>
            <a:endParaRPr lang="en-GB"/>
          </a:p>
        </p:txBody>
      </p:sp>
      <p:sp>
        <p:nvSpPr>
          <p:cNvPr id="27" name="Text 24"/>
          <p:cNvSpPr txBox="1"/>
          <p:nvPr/>
        </p:nvSpPr>
        <p:spPr>
          <a:xfrm>
            <a:off x="8641080" y="4864608"/>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S</a:t>
            </a:r>
            <a:endParaRPr lang="en-US" sz="1600" dirty="0"/>
          </a:p>
        </p:txBody>
      </p:sp>
      <p:sp>
        <p:nvSpPr>
          <p:cNvPr id="28" name="Text 25"/>
          <p:cNvSpPr txBox="1"/>
          <p:nvPr/>
        </p:nvSpPr>
        <p:spPr>
          <a:xfrm>
            <a:off x="9189720" y="4828032"/>
            <a:ext cx="1645920" cy="274320"/>
          </a:xfrm>
          <a:prstGeom prst="rect">
            <a:avLst/>
          </a:prstGeom>
          <a:noFill/>
          <a:ln/>
        </p:spPr>
        <p:txBody>
          <a:bodyPr wrap="square" lIns="0" tIns="0" rIns="0" bIns="0" rtlCol="0" anchor="t"/>
          <a:lstStyle/>
          <a:p>
            <a:pPr marL="0" indent="0">
              <a:buNone/>
            </a:pPr>
            <a:r>
              <a:rPr lang="en-US" sz="1400" b="1" dirty="0">
                <a:solidFill>
                  <a:schemeClr val="tx1"/>
                </a:solidFill>
              </a:rPr>
              <a:t>Small</a:t>
            </a:r>
            <a:endParaRPr lang="en-US" sz="1400" dirty="0"/>
          </a:p>
        </p:txBody>
      </p:sp>
      <p:sp>
        <p:nvSpPr>
          <p:cNvPr id="29" name="Text 26"/>
          <p:cNvSpPr txBox="1"/>
          <p:nvPr/>
        </p:nvSpPr>
        <p:spPr>
          <a:xfrm>
            <a:off x="10954512" y="4846320"/>
            <a:ext cx="365760" cy="411480"/>
          </a:xfrm>
          <a:prstGeom prst="rect">
            <a:avLst/>
          </a:prstGeom>
          <a:noFill/>
          <a:ln/>
        </p:spPr>
        <p:txBody>
          <a:bodyPr wrap="square" lIns="0" tIns="0" rIns="0" bIns="0" rtlCol="0" anchor="ctr"/>
          <a:lstStyle/>
          <a:p>
            <a:pPr marL="0" indent="0" algn="ctr">
              <a:buNone/>
            </a:pPr>
            <a:r>
              <a:rPr lang="en-US" sz="2200" b="1" dirty="0">
                <a:solidFill>
                  <a:srgbClr val="44CC44"/>
                </a:solidFill>
              </a:rPr>
              <a:t>✓</a:t>
            </a:r>
            <a:endParaRPr lang="en-US" sz="2200" dirty="0"/>
          </a:p>
        </p:txBody>
      </p:sp>
      <p:sp>
        <p:nvSpPr>
          <p:cNvPr id="30" name="Letter"/>
          <p:cNvSpPr/>
          <p:nvPr/>
        </p:nvSpPr>
        <p:spPr>
          <a:xfrm>
            <a:off x="8641080" y="5541264"/>
            <a:ext cx="384048" cy="384048"/>
          </a:xfrm>
          <a:prstGeom prst="ellipse">
            <a:avLst/>
          </a:prstGeom>
          <a:solidFill>
            <a:schemeClr val="accent1"/>
          </a:solidFill>
          <a:ln/>
        </p:spPr>
        <p:txBody>
          <a:bodyPr/>
          <a:lstStyle/>
          <a:p>
            <a:endParaRPr lang="en-GB"/>
          </a:p>
        </p:txBody>
      </p:sp>
      <p:sp>
        <p:nvSpPr>
          <p:cNvPr id="31" name="Text 28"/>
          <p:cNvSpPr txBox="1"/>
          <p:nvPr/>
        </p:nvSpPr>
        <p:spPr>
          <a:xfrm>
            <a:off x="8641080" y="5541264"/>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T</a:t>
            </a:r>
            <a:endParaRPr lang="en-US" sz="1600" dirty="0"/>
          </a:p>
        </p:txBody>
      </p:sp>
      <p:sp>
        <p:nvSpPr>
          <p:cNvPr id="32" name="Text 29"/>
          <p:cNvSpPr txBox="1"/>
          <p:nvPr/>
        </p:nvSpPr>
        <p:spPr>
          <a:xfrm>
            <a:off x="9189720" y="5504688"/>
            <a:ext cx="1645920" cy="274320"/>
          </a:xfrm>
          <a:prstGeom prst="rect">
            <a:avLst/>
          </a:prstGeom>
          <a:noFill/>
          <a:ln/>
        </p:spPr>
        <p:txBody>
          <a:bodyPr wrap="square" lIns="0" tIns="0" rIns="0" bIns="0" rtlCol="0" anchor="t"/>
          <a:lstStyle/>
          <a:p>
            <a:pPr marL="0" indent="0">
              <a:buNone/>
            </a:pPr>
            <a:r>
              <a:rPr lang="en-US" sz="1400" b="1" dirty="0">
                <a:solidFill>
                  <a:schemeClr val="tx1"/>
                </a:solidFill>
              </a:rPr>
              <a:t>Testable</a:t>
            </a:r>
            <a:endParaRPr lang="en-US" sz="1400" dirty="0"/>
          </a:p>
        </p:txBody>
      </p:sp>
      <p:sp>
        <p:nvSpPr>
          <p:cNvPr id="33" name="Text 30"/>
          <p:cNvSpPr txBox="1"/>
          <p:nvPr/>
        </p:nvSpPr>
        <p:spPr>
          <a:xfrm>
            <a:off x="10954512" y="5522976"/>
            <a:ext cx="365760" cy="411480"/>
          </a:xfrm>
          <a:prstGeom prst="rect">
            <a:avLst/>
          </a:prstGeom>
          <a:noFill/>
          <a:ln/>
        </p:spPr>
        <p:txBody>
          <a:bodyPr wrap="square" lIns="0" tIns="0" rIns="0" bIns="0" rtlCol="0" anchor="ctr"/>
          <a:lstStyle/>
          <a:p>
            <a:pPr marL="0" indent="0" algn="ctr">
              <a:buNone/>
            </a:pPr>
            <a:r>
              <a:rPr lang="en-US" sz="2200" b="1" dirty="0">
                <a:solidFill>
                  <a:srgbClr val="44CC44"/>
                </a:solidFill>
              </a:rPr>
              <a:t>✓</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04 · USER STORIES &amp; ACCEPTANCE CRITERIA</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Story 3: Drop-Risk Warning</a:t>
            </a:r>
            <a:endParaRPr lang="en-US" sz="3200" dirty="0"/>
          </a:p>
        </p:txBody>
      </p:sp>
      <p:sp>
        <p:nvSpPr>
          <p:cNvPr id="5" name="Code block"/>
          <p:cNvSpPr/>
          <p:nvPr/>
        </p:nvSpPr>
        <p:spPr>
          <a:xfrm>
            <a:off x="640080" y="1508760"/>
            <a:ext cx="7589520" cy="4800600"/>
          </a:xfrm>
          <a:prstGeom prst="roundRect">
            <a:avLst>
              <a:gd name="adj" fmla="val 2286"/>
            </a:avLst>
          </a:prstGeom>
          <a:solidFill>
            <a:schemeClr val="bg2"/>
          </a:solidFill>
          <a:ln w="9525">
            <a:solidFill>
              <a:schemeClr val="tx2"/>
            </a:solidFill>
            <a:prstDash val="solid"/>
          </a:ln>
        </p:spPr>
        <p:txBody>
          <a:bodyPr/>
          <a:lstStyle/>
          <a:p>
            <a:endParaRPr lang="en-GB"/>
          </a:p>
        </p:txBody>
      </p:sp>
      <p:sp>
        <p:nvSpPr>
          <p:cNvPr id="6" name="Text 3"/>
          <p:cNvSpPr txBox="1"/>
          <p:nvPr/>
        </p:nvSpPr>
        <p:spPr>
          <a:xfrm>
            <a:off x="914400" y="1545336"/>
            <a:ext cx="7040880" cy="4480560"/>
          </a:xfrm>
          <a:prstGeom prst="rect">
            <a:avLst/>
          </a:prstGeom>
          <a:noFill/>
          <a:ln/>
        </p:spPr>
        <p:txBody>
          <a:bodyPr wrap="square" lIns="0" tIns="0" rIns="0" bIns="0" rtlCol="0" anchor="t"/>
          <a:lstStyle/>
          <a:p>
            <a:pPr marL="0" indent="0">
              <a:lnSpc>
                <a:spcPct val="105000"/>
              </a:lnSpc>
              <a:buNone/>
            </a:pPr>
            <a:r>
              <a:rPr lang="en-US" sz="1400" b="1" dirty="0">
                <a:solidFill>
                  <a:schemeClr val="tx1"/>
                </a:solidFill>
                <a:latin typeface="Courier New" pitchFamily="34" charset="0"/>
                <a:ea typeface="Courier New" pitchFamily="34" charset="-122"/>
                <a:cs typeface="Courier New" pitchFamily="34" charset="-120"/>
              </a:rPr>
              <a:t>As a</a:t>
            </a:r>
            <a:r>
              <a:rPr lang="en-US" sz="1400" dirty="0">
                <a:solidFill>
                  <a:schemeClr val="accent1"/>
                </a:solidFill>
                <a:latin typeface="Courier New" pitchFamily="34" charset="0"/>
                <a:ea typeface="Courier New" pitchFamily="34" charset="-122"/>
                <a:cs typeface="Courier New" pitchFamily="34" charset="-120"/>
              </a:rPr>
              <a:t> reader, </a:t>
            </a:r>
            <a:r>
              <a:rPr lang="en-US" sz="1400" b="1" dirty="0">
                <a:solidFill>
                  <a:schemeClr val="tx1"/>
                </a:solidFill>
                <a:latin typeface="Courier New" pitchFamily="34" charset="0"/>
                <a:ea typeface="Courier New" pitchFamily="34" charset="-122"/>
                <a:cs typeface="Courier New" pitchFamily="34" charset="-120"/>
              </a:rPr>
              <a:t>I want</a:t>
            </a:r>
            <a:r>
              <a:rPr lang="en-US" sz="1400" dirty="0">
                <a:solidFill>
                  <a:schemeClr val="accent1"/>
                </a:solidFill>
                <a:latin typeface="Courier New" pitchFamily="34" charset="0"/>
                <a:ea typeface="Courier New" pitchFamily="34" charset="-122"/>
                <a:cs typeface="Courier New" pitchFamily="34" charset="-120"/>
              </a:rPr>
              <a:t> a warning when a book is likely to be dropped,</a:t>
            </a:r>
            <a:endParaRPr lang="en-US" sz="1400" dirty="0"/>
          </a:p>
          <a:p>
            <a:pPr marL="0" indent="0">
              <a:lnSpc>
                <a:spcPct val="105000"/>
              </a:lnSpc>
              <a:buNone/>
            </a:pPr>
            <a:r>
              <a:rPr lang="en-US" sz="1400" b="1" dirty="0">
                <a:solidFill>
                  <a:schemeClr val="tx1"/>
                </a:solidFill>
                <a:latin typeface="Courier New" pitchFamily="34" charset="0"/>
                <a:ea typeface="Courier New" pitchFamily="34" charset="-122"/>
                <a:cs typeface="Courier New" pitchFamily="34" charset="-120"/>
              </a:rPr>
              <a:t>so that</a:t>
            </a:r>
            <a:r>
              <a:rPr lang="en-US" sz="1400" dirty="0">
                <a:solidFill>
                  <a:schemeClr val="accent1"/>
                </a:solidFill>
                <a:latin typeface="Courier New" pitchFamily="34" charset="0"/>
                <a:ea typeface="Courier New" pitchFamily="34" charset="-122"/>
                <a:cs typeface="Courier New" pitchFamily="34" charset="-120"/>
              </a:rPr>
              <a:t> I do not waste money on it.</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endParaRPr lang="en-US" sz="1400" dirty="0"/>
          </a:p>
          <a:p>
            <a:pPr marL="0" indent="0">
              <a:lnSpc>
                <a:spcPct val="105000"/>
              </a:lnSpc>
              <a:buNone/>
            </a:pPr>
            <a:r>
              <a:rPr lang="en-US" sz="1400" b="1" dirty="0">
                <a:solidFill>
                  <a:schemeClr val="tx1"/>
                </a:solidFill>
                <a:latin typeface="Courier New" pitchFamily="34" charset="0"/>
                <a:ea typeface="Courier New" pitchFamily="34" charset="-122"/>
                <a:cs typeface="Courier New" pitchFamily="34" charset="-120"/>
              </a:rPr>
              <a:t>Acceptance Criteria (Given / When / Then):</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1. </a:t>
            </a:r>
            <a:r>
              <a:rPr lang="en-US" sz="1400" b="1" dirty="0">
                <a:solidFill>
                  <a:schemeClr val="tx1"/>
                </a:solidFill>
                <a:latin typeface="Courier New" pitchFamily="34" charset="0"/>
                <a:ea typeface="Courier New" pitchFamily="34" charset="-122"/>
                <a:cs typeface="Courier New" pitchFamily="34" charset="-120"/>
              </a:rPr>
              <a:t>Given</a:t>
            </a:r>
            <a:r>
              <a:rPr lang="en-US" sz="1400" dirty="0">
                <a:solidFill>
                  <a:schemeClr val="accent1"/>
                </a:solidFill>
                <a:latin typeface="Courier New" pitchFamily="34" charset="0"/>
                <a:ea typeface="Courier New" pitchFamily="34" charset="-122"/>
                <a:cs typeface="Courier New" pitchFamily="34" charset="-120"/>
              </a:rPr>
              <a:t> I have 5+ books in my history</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When</a:t>
            </a:r>
            <a:r>
              <a:rPr lang="en-US" sz="1400" dirty="0">
                <a:solidFill>
                  <a:schemeClr val="accent1"/>
                </a:solidFill>
                <a:latin typeface="Courier New" pitchFamily="34" charset="0"/>
                <a:ea typeface="Courier New" pitchFamily="34" charset="-122"/>
                <a:cs typeface="Courier New" pitchFamily="34" charset="-120"/>
              </a:rPr>
              <a:t> I open a book’s detail page</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Then</a:t>
            </a:r>
            <a:r>
              <a:rPr lang="en-US" sz="1400" dirty="0">
                <a:solidFill>
                  <a:schemeClr val="accent1"/>
                </a:solidFill>
                <a:latin typeface="Courier New" pitchFamily="34" charset="0"/>
                <a:ea typeface="Courier New" pitchFamily="34" charset="-122"/>
                <a:cs typeface="Courier New" pitchFamily="34" charset="-120"/>
              </a:rPr>
              <a:t> I see a drop-risk level (Low / Medium / High)</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with a one-line reason</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(e.g., “You dropped 3 of 4 long, dense books”).</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2. </a:t>
            </a:r>
            <a:r>
              <a:rPr lang="en-US" sz="1400" b="1" dirty="0">
                <a:solidFill>
                  <a:schemeClr val="tx1"/>
                </a:solidFill>
                <a:latin typeface="Courier New" pitchFamily="34" charset="0"/>
                <a:ea typeface="Courier New" pitchFamily="34" charset="-122"/>
                <a:cs typeface="Courier New" pitchFamily="34" charset="-120"/>
              </a:rPr>
              <a:t>Given</a:t>
            </a:r>
            <a:r>
              <a:rPr lang="en-US" sz="1400" dirty="0">
                <a:solidFill>
                  <a:schemeClr val="accent1"/>
                </a:solidFill>
                <a:latin typeface="Courier New" pitchFamily="34" charset="0"/>
                <a:ea typeface="Courier New" pitchFamily="34" charset="-122"/>
                <a:cs typeface="Courier New" pitchFamily="34" charset="-120"/>
              </a:rPr>
              <a:t> fewer than 5 books in history</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When</a:t>
            </a:r>
            <a:r>
              <a:rPr lang="en-US" sz="1400" dirty="0">
                <a:solidFill>
                  <a:schemeClr val="accent1"/>
                </a:solidFill>
                <a:latin typeface="Courier New" pitchFamily="34" charset="0"/>
                <a:ea typeface="Courier New" pitchFamily="34" charset="-122"/>
                <a:cs typeface="Courier New" pitchFamily="34" charset="-120"/>
              </a:rPr>
              <a:t> I open a book’s detail page</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Then</a:t>
            </a:r>
            <a:r>
              <a:rPr lang="en-US" sz="1400" dirty="0">
                <a:solidFill>
                  <a:schemeClr val="accent1"/>
                </a:solidFill>
                <a:latin typeface="Courier New" pitchFamily="34" charset="0"/>
                <a:ea typeface="Courier New" pitchFamily="34" charset="-122"/>
                <a:cs typeface="Courier New" pitchFamily="34" charset="-120"/>
              </a:rPr>
              <a:t> I see “Not enough history yet — add more</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books to see drop risk.”</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3. </a:t>
            </a:r>
            <a:r>
              <a:rPr lang="en-US" sz="1400" b="1" dirty="0">
                <a:solidFill>
                  <a:schemeClr val="tx1"/>
                </a:solidFill>
                <a:latin typeface="Courier New" pitchFamily="34" charset="0"/>
                <a:ea typeface="Courier New" pitchFamily="34" charset="-122"/>
                <a:cs typeface="Courier New" pitchFamily="34" charset="-120"/>
              </a:rPr>
              <a:t>Given</a:t>
            </a:r>
            <a:r>
              <a:rPr lang="en-US" sz="1400" dirty="0">
                <a:solidFill>
                  <a:schemeClr val="accent1"/>
                </a:solidFill>
                <a:latin typeface="Courier New" pitchFamily="34" charset="0"/>
                <a:ea typeface="Courier New" pitchFamily="34" charset="-122"/>
                <a:cs typeface="Courier New" pitchFamily="34" charset="-120"/>
              </a:rPr>
              <a:t> the drop risk is High</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When</a:t>
            </a:r>
            <a:r>
              <a:rPr lang="en-US" sz="1400" dirty="0">
                <a:solidFill>
                  <a:schemeClr val="accent1"/>
                </a:solidFill>
                <a:latin typeface="Courier New" pitchFamily="34" charset="0"/>
                <a:ea typeface="Courier New" pitchFamily="34" charset="-122"/>
                <a:cs typeface="Courier New" pitchFamily="34" charset="-120"/>
              </a:rPr>
              <a:t> I tap “Add to library”</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a:t>
            </a:r>
            <a:r>
              <a:rPr lang="en-US" sz="1400" b="1" dirty="0">
                <a:solidFill>
                  <a:schemeClr val="tx1"/>
                </a:solidFill>
                <a:latin typeface="Courier New" pitchFamily="34" charset="0"/>
                <a:ea typeface="Courier New" pitchFamily="34" charset="-122"/>
                <a:cs typeface="Courier New" pitchFamily="34" charset="-120"/>
              </a:rPr>
              <a:t>Then</a:t>
            </a:r>
            <a:r>
              <a:rPr lang="en-US" sz="1400" dirty="0">
                <a:solidFill>
                  <a:schemeClr val="accent1"/>
                </a:solidFill>
                <a:latin typeface="Courier New" pitchFamily="34" charset="0"/>
                <a:ea typeface="Courier New" pitchFamily="34" charset="-122"/>
                <a:cs typeface="Courier New" pitchFamily="34" charset="-120"/>
              </a:rPr>
              <a:t> a confirmation modal appears:</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“This book has a high drop risk for you. Add anyway?”</a:t>
            </a:r>
            <a:endParaRPr lang="en-US" sz="1400" dirty="0"/>
          </a:p>
          <a:p>
            <a:pPr marL="0" indent="0">
              <a:lnSpc>
                <a:spcPct val="105000"/>
              </a:lnSpc>
              <a:buNone/>
            </a:pPr>
            <a:r>
              <a:rPr lang="en-US" sz="1400" dirty="0">
                <a:solidFill>
                  <a:schemeClr val="accent1"/>
                </a:solidFill>
                <a:latin typeface="Courier New" pitchFamily="34" charset="0"/>
                <a:ea typeface="Courier New" pitchFamily="34" charset="-122"/>
                <a:cs typeface="Courier New" pitchFamily="34" charset="-120"/>
              </a:rPr>
              <a:t>   [Cancel] [Add anyway]</a:t>
            </a:r>
            <a:endParaRPr lang="en-US" sz="1400" dirty="0"/>
          </a:p>
        </p:txBody>
      </p:sp>
      <p:sp>
        <p:nvSpPr>
          <p:cNvPr id="7" name="INVEST check card"/>
          <p:cNvSpPr/>
          <p:nvPr/>
        </p:nvSpPr>
        <p:spPr>
          <a:xfrm>
            <a:off x="8412480" y="1508760"/>
            <a:ext cx="3136392" cy="4800600"/>
          </a:xfrm>
          <a:prstGeom prst="roundRect">
            <a:avLst>
              <a:gd name="adj" fmla="val 3499"/>
            </a:avLst>
          </a:prstGeom>
          <a:solidFill>
            <a:schemeClr val="bg2"/>
          </a:solidFill>
          <a:ln w="9525">
            <a:solidFill>
              <a:schemeClr val="tx2"/>
            </a:solidFill>
            <a:prstDash val="solid"/>
          </a:ln>
        </p:spPr>
        <p:txBody>
          <a:bodyPr/>
          <a:lstStyle/>
          <a:p>
            <a:endParaRPr lang="en-GB"/>
          </a:p>
        </p:txBody>
      </p:sp>
      <p:sp>
        <p:nvSpPr>
          <p:cNvPr id="8" name="Text 5"/>
          <p:cNvSpPr txBox="1"/>
          <p:nvPr/>
        </p:nvSpPr>
        <p:spPr>
          <a:xfrm>
            <a:off x="8641080" y="1691640"/>
            <a:ext cx="2679192"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INVEST CHECK</a:t>
            </a:r>
            <a:endParaRPr lang="en-US" sz="1200" dirty="0"/>
          </a:p>
        </p:txBody>
      </p:sp>
      <p:sp>
        <p:nvSpPr>
          <p:cNvPr id="9" name="Letter"/>
          <p:cNvSpPr/>
          <p:nvPr/>
        </p:nvSpPr>
        <p:spPr>
          <a:xfrm>
            <a:off x="8641080" y="2157984"/>
            <a:ext cx="384048" cy="384048"/>
          </a:xfrm>
          <a:prstGeom prst="ellipse">
            <a:avLst/>
          </a:prstGeom>
          <a:solidFill>
            <a:schemeClr val="accent1"/>
          </a:solidFill>
          <a:ln/>
        </p:spPr>
        <p:txBody>
          <a:bodyPr/>
          <a:lstStyle/>
          <a:p>
            <a:endParaRPr lang="en-GB"/>
          </a:p>
        </p:txBody>
      </p:sp>
      <p:sp>
        <p:nvSpPr>
          <p:cNvPr id="10" name="Text 7"/>
          <p:cNvSpPr txBox="1"/>
          <p:nvPr/>
        </p:nvSpPr>
        <p:spPr>
          <a:xfrm>
            <a:off x="8641080" y="2157984"/>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I</a:t>
            </a:r>
            <a:endParaRPr lang="en-US" sz="1600" dirty="0"/>
          </a:p>
        </p:txBody>
      </p:sp>
      <p:sp>
        <p:nvSpPr>
          <p:cNvPr id="11" name="Text 8"/>
          <p:cNvSpPr txBox="1"/>
          <p:nvPr/>
        </p:nvSpPr>
        <p:spPr>
          <a:xfrm>
            <a:off x="9189720" y="2121408"/>
            <a:ext cx="1645920" cy="274320"/>
          </a:xfrm>
          <a:prstGeom prst="rect">
            <a:avLst/>
          </a:prstGeom>
          <a:noFill/>
          <a:ln/>
        </p:spPr>
        <p:txBody>
          <a:bodyPr wrap="square" lIns="0" tIns="0" rIns="0" bIns="0" rtlCol="0" anchor="t"/>
          <a:lstStyle/>
          <a:p>
            <a:pPr marL="0" indent="0">
              <a:buNone/>
            </a:pPr>
            <a:r>
              <a:rPr lang="en-US" sz="1400" b="1" dirty="0">
                <a:solidFill>
                  <a:schemeClr val="tx1"/>
                </a:solidFill>
              </a:rPr>
              <a:t>Independent</a:t>
            </a:r>
            <a:endParaRPr lang="en-US" sz="1400" dirty="0"/>
          </a:p>
        </p:txBody>
      </p:sp>
      <p:sp>
        <p:nvSpPr>
          <p:cNvPr id="12" name="Text 9"/>
          <p:cNvSpPr txBox="1"/>
          <p:nvPr/>
        </p:nvSpPr>
        <p:spPr>
          <a:xfrm>
            <a:off x="9189720" y="2377440"/>
            <a:ext cx="2011680" cy="274320"/>
          </a:xfrm>
          <a:prstGeom prst="rect">
            <a:avLst/>
          </a:prstGeom>
          <a:noFill/>
          <a:ln/>
        </p:spPr>
        <p:txBody>
          <a:bodyPr wrap="square" lIns="0" tIns="0" rIns="0" bIns="0" rtlCol="0" anchor="t"/>
          <a:lstStyle/>
          <a:p>
            <a:pPr marL="0" indent="0">
              <a:buNone/>
            </a:pPr>
            <a:r>
              <a:rPr lang="en-US" sz="1200" dirty="0">
                <a:solidFill>
                  <a:schemeClr val="accent2"/>
                </a:solidFill>
              </a:rPr>
              <a:t>Depends on Story 2</a:t>
            </a:r>
            <a:endParaRPr lang="en-US" sz="1200" dirty="0"/>
          </a:p>
        </p:txBody>
      </p:sp>
      <p:sp>
        <p:nvSpPr>
          <p:cNvPr id="13" name="Text 10"/>
          <p:cNvSpPr txBox="1"/>
          <p:nvPr/>
        </p:nvSpPr>
        <p:spPr>
          <a:xfrm>
            <a:off x="10954512" y="2139696"/>
            <a:ext cx="365760" cy="411480"/>
          </a:xfrm>
          <a:prstGeom prst="rect">
            <a:avLst/>
          </a:prstGeom>
          <a:noFill/>
          <a:ln/>
        </p:spPr>
        <p:txBody>
          <a:bodyPr wrap="square" lIns="0" tIns="0" rIns="0" bIns="0" rtlCol="0" anchor="ctr"/>
          <a:lstStyle/>
          <a:p>
            <a:pPr marL="0" indent="0" algn="ctr">
              <a:buNone/>
            </a:pPr>
            <a:r>
              <a:rPr lang="en-US" sz="2200" b="1" dirty="0">
                <a:solidFill>
                  <a:srgbClr val="CC4444"/>
                </a:solidFill>
              </a:rPr>
              <a:t>✕</a:t>
            </a:r>
            <a:endParaRPr lang="en-US" sz="2200" dirty="0"/>
          </a:p>
        </p:txBody>
      </p:sp>
      <p:sp>
        <p:nvSpPr>
          <p:cNvPr id="14" name="Letter"/>
          <p:cNvSpPr/>
          <p:nvPr/>
        </p:nvSpPr>
        <p:spPr>
          <a:xfrm>
            <a:off x="8641080" y="2834640"/>
            <a:ext cx="384048" cy="384048"/>
          </a:xfrm>
          <a:prstGeom prst="ellipse">
            <a:avLst/>
          </a:prstGeom>
          <a:solidFill>
            <a:schemeClr val="accent1"/>
          </a:solidFill>
          <a:ln/>
        </p:spPr>
        <p:txBody>
          <a:bodyPr/>
          <a:lstStyle/>
          <a:p>
            <a:endParaRPr lang="en-GB"/>
          </a:p>
        </p:txBody>
      </p:sp>
      <p:sp>
        <p:nvSpPr>
          <p:cNvPr id="15" name="Text 12"/>
          <p:cNvSpPr txBox="1"/>
          <p:nvPr/>
        </p:nvSpPr>
        <p:spPr>
          <a:xfrm>
            <a:off x="8641080" y="2834640"/>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N</a:t>
            </a:r>
            <a:endParaRPr lang="en-US" sz="1600" dirty="0"/>
          </a:p>
        </p:txBody>
      </p:sp>
      <p:sp>
        <p:nvSpPr>
          <p:cNvPr id="16" name="Text 13"/>
          <p:cNvSpPr txBox="1"/>
          <p:nvPr/>
        </p:nvSpPr>
        <p:spPr>
          <a:xfrm>
            <a:off x="9189720" y="2798064"/>
            <a:ext cx="1645920" cy="274320"/>
          </a:xfrm>
          <a:prstGeom prst="rect">
            <a:avLst/>
          </a:prstGeom>
          <a:noFill/>
          <a:ln/>
        </p:spPr>
        <p:txBody>
          <a:bodyPr wrap="square" lIns="0" tIns="0" rIns="0" bIns="0" rtlCol="0" anchor="t"/>
          <a:lstStyle/>
          <a:p>
            <a:pPr marL="0" indent="0">
              <a:buNone/>
            </a:pPr>
            <a:r>
              <a:rPr lang="en-US" sz="1400" b="1" dirty="0">
                <a:solidFill>
                  <a:schemeClr val="tx1"/>
                </a:solidFill>
              </a:rPr>
              <a:t>Negotiable</a:t>
            </a:r>
            <a:endParaRPr lang="en-US" sz="1400" dirty="0"/>
          </a:p>
        </p:txBody>
      </p:sp>
      <p:sp>
        <p:nvSpPr>
          <p:cNvPr id="17" name="Text 14"/>
          <p:cNvSpPr txBox="1"/>
          <p:nvPr/>
        </p:nvSpPr>
        <p:spPr>
          <a:xfrm>
            <a:off x="10954512" y="2816352"/>
            <a:ext cx="365760" cy="411480"/>
          </a:xfrm>
          <a:prstGeom prst="rect">
            <a:avLst/>
          </a:prstGeom>
          <a:noFill/>
          <a:ln/>
        </p:spPr>
        <p:txBody>
          <a:bodyPr wrap="square" lIns="0" tIns="0" rIns="0" bIns="0" rtlCol="0" anchor="ctr"/>
          <a:lstStyle/>
          <a:p>
            <a:pPr marL="0" indent="0" algn="ctr">
              <a:buNone/>
            </a:pPr>
            <a:r>
              <a:rPr lang="en-US" sz="2200" b="1" dirty="0">
                <a:solidFill>
                  <a:srgbClr val="44CC44"/>
                </a:solidFill>
              </a:rPr>
              <a:t>✓</a:t>
            </a:r>
            <a:endParaRPr lang="en-US" sz="2200" dirty="0"/>
          </a:p>
        </p:txBody>
      </p:sp>
      <p:sp>
        <p:nvSpPr>
          <p:cNvPr id="18" name="Letter"/>
          <p:cNvSpPr/>
          <p:nvPr/>
        </p:nvSpPr>
        <p:spPr>
          <a:xfrm>
            <a:off x="8641080" y="3511296"/>
            <a:ext cx="384048" cy="384048"/>
          </a:xfrm>
          <a:prstGeom prst="ellipse">
            <a:avLst/>
          </a:prstGeom>
          <a:solidFill>
            <a:schemeClr val="accent1"/>
          </a:solidFill>
          <a:ln/>
        </p:spPr>
        <p:txBody>
          <a:bodyPr/>
          <a:lstStyle/>
          <a:p>
            <a:endParaRPr lang="en-GB"/>
          </a:p>
        </p:txBody>
      </p:sp>
      <p:sp>
        <p:nvSpPr>
          <p:cNvPr id="19" name="Text 16"/>
          <p:cNvSpPr txBox="1"/>
          <p:nvPr/>
        </p:nvSpPr>
        <p:spPr>
          <a:xfrm>
            <a:off x="8641080" y="3511296"/>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V</a:t>
            </a:r>
            <a:endParaRPr lang="en-US" sz="1600" dirty="0"/>
          </a:p>
        </p:txBody>
      </p:sp>
      <p:sp>
        <p:nvSpPr>
          <p:cNvPr id="20" name="Text 17"/>
          <p:cNvSpPr txBox="1"/>
          <p:nvPr/>
        </p:nvSpPr>
        <p:spPr>
          <a:xfrm>
            <a:off x="9189720" y="3474720"/>
            <a:ext cx="1645920" cy="274320"/>
          </a:xfrm>
          <a:prstGeom prst="rect">
            <a:avLst/>
          </a:prstGeom>
          <a:noFill/>
          <a:ln/>
        </p:spPr>
        <p:txBody>
          <a:bodyPr wrap="square" lIns="0" tIns="0" rIns="0" bIns="0" rtlCol="0" anchor="t"/>
          <a:lstStyle/>
          <a:p>
            <a:pPr marL="0" indent="0">
              <a:buNone/>
            </a:pPr>
            <a:r>
              <a:rPr lang="en-US" sz="1400" b="1" dirty="0">
                <a:solidFill>
                  <a:schemeClr val="tx1"/>
                </a:solidFill>
              </a:rPr>
              <a:t>Valuable</a:t>
            </a:r>
            <a:endParaRPr lang="en-US" sz="1400" dirty="0"/>
          </a:p>
        </p:txBody>
      </p:sp>
      <p:sp>
        <p:nvSpPr>
          <p:cNvPr id="21" name="Text 18"/>
          <p:cNvSpPr txBox="1"/>
          <p:nvPr/>
        </p:nvSpPr>
        <p:spPr>
          <a:xfrm>
            <a:off x="10954512" y="3493008"/>
            <a:ext cx="365760" cy="411480"/>
          </a:xfrm>
          <a:prstGeom prst="rect">
            <a:avLst/>
          </a:prstGeom>
          <a:noFill/>
          <a:ln/>
        </p:spPr>
        <p:txBody>
          <a:bodyPr wrap="square" lIns="0" tIns="0" rIns="0" bIns="0" rtlCol="0" anchor="ctr"/>
          <a:lstStyle/>
          <a:p>
            <a:pPr marL="0" indent="0" algn="ctr">
              <a:buNone/>
            </a:pPr>
            <a:r>
              <a:rPr lang="en-US" sz="2200" b="1" dirty="0">
                <a:solidFill>
                  <a:srgbClr val="44CC44"/>
                </a:solidFill>
              </a:rPr>
              <a:t>✓</a:t>
            </a:r>
            <a:endParaRPr lang="en-US" sz="2200" dirty="0"/>
          </a:p>
        </p:txBody>
      </p:sp>
      <p:sp>
        <p:nvSpPr>
          <p:cNvPr id="22" name="Letter"/>
          <p:cNvSpPr/>
          <p:nvPr/>
        </p:nvSpPr>
        <p:spPr>
          <a:xfrm>
            <a:off x="8641080" y="4187952"/>
            <a:ext cx="384048" cy="384048"/>
          </a:xfrm>
          <a:prstGeom prst="ellipse">
            <a:avLst/>
          </a:prstGeom>
          <a:solidFill>
            <a:schemeClr val="accent1"/>
          </a:solidFill>
          <a:ln/>
        </p:spPr>
        <p:txBody>
          <a:bodyPr/>
          <a:lstStyle/>
          <a:p>
            <a:endParaRPr lang="en-GB"/>
          </a:p>
        </p:txBody>
      </p:sp>
      <p:sp>
        <p:nvSpPr>
          <p:cNvPr id="23" name="Text 20"/>
          <p:cNvSpPr txBox="1"/>
          <p:nvPr/>
        </p:nvSpPr>
        <p:spPr>
          <a:xfrm>
            <a:off x="8641080" y="4187952"/>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E</a:t>
            </a:r>
            <a:endParaRPr lang="en-US" sz="1600" dirty="0"/>
          </a:p>
        </p:txBody>
      </p:sp>
      <p:sp>
        <p:nvSpPr>
          <p:cNvPr id="24" name="Text 21"/>
          <p:cNvSpPr txBox="1"/>
          <p:nvPr/>
        </p:nvSpPr>
        <p:spPr>
          <a:xfrm>
            <a:off x="9189720" y="4151376"/>
            <a:ext cx="1645920" cy="274320"/>
          </a:xfrm>
          <a:prstGeom prst="rect">
            <a:avLst/>
          </a:prstGeom>
          <a:noFill/>
          <a:ln/>
        </p:spPr>
        <p:txBody>
          <a:bodyPr wrap="square" lIns="0" tIns="0" rIns="0" bIns="0" rtlCol="0" anchor="t"/>
          <a:lstStyle/>
          <a:p>
            <a:pPr marL="0" indent="0">
              <a:buNone/>
            </a:pPr>
            <a:r>
              <a:rPr lang="en-US" sz="1400" b="1" dirty="0">
                <a:solidFill>
                  <a:schemeClr val="tx1"/>
                </a:solidFill>
              </a:rPr>
              <a:t>Estimable</a:t>
            </a:r>
            <a:endParaRPr lang="en-US" sz="1400" dirty="0"/>
          </a:p>
        </p:txBody>
      </p:sp>
      <p:sp>
        <p:nvSpPr>
          <p:cNvPr id="25" name="Text 22"/>
          <p:cNvSpPr txBox="1"/>
          <p:nvPr/>
        </p:nvSpPr>
        <p:spPr>
          <a:xfrm>
            <a:off x="10954512" y="4169664"/>
            <a:ext cx="365760" cy="411480"/>
          </a:xfrm>
          <a:prstGeom prst="rect">
            <a:avLst/>
          </a:prstGeom>
          <a:noFill/>
          <a:ln/>
        </p:spPr>
        <p:txBody>
          <a:bodyPr wrap="square" lIns="0" tIns="0" rIns="0" bIns="0" rtlCol="0" anchor="ctr"/>
          <a:lstStyle/>
          <a:p>
            <a:pPr marL="0" indent="0" algn="ctr">
              <a:buNone/>
            </a:pPr>
            <a:r>
              <a:rPr lang="en-US" sz="2200" b="1" dirty="0">
                <a:solidFill>
                  <a:srgbClr val="44CC44"/>
                </a:solidFill>
              </a:rPr>
              <a:t>✓</a:t>
            </a:r>
            <a:endParaRPr lang="en-US" sz="2200" dirty="0"/>
          </a:p>
        </p:txBody>
      </p:sp>
      <p:sp>
        <p:nvSpPr>
          <p:cNvPr id="26" name="Letter"/>
          <p:cNvSpPr/>
          <p:nvPr/>
        </p:nvSpPr>
        <p:spPr>
          <a:xfrm>
            <a:off x="8641080" y="4864608"/>
            <a:ext cx="384048" cy="384048"/>
          </a:xfrm>
          <a:prstGeom prst="ellipse">
            <a:avLst/>
          </a:prstGeom>
          <a:solidFill>
            <a:schemeClr val="accent1"/>
          </a:solidFill>
          <a:ln/>
        </p:spPr>
        <p:txBody>
          <a:bodyPr/>
          <a:lstStyle/>
          <a:p>
            <a:endParaRPr lang="en-GB"/>
          </a:p>
        </p:txBody>
      </p:sp>
      <p:sp>
        <p:nvSpPr>
          <p:cNvPr id="27" name="Text 24"/>
          <p:cNvSpPr txBox="1"/>
          <p:nvPr/>
        </p:nvSpPr>
        <p:spPr>
          <a:xfrm>
            <a:off x="8641080" y="4864608"/>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S</a:t>
            </a:r>
            <a:endParaRPr lang="en-US" sz="1600" dirty="0"/>
          </a:p>
        </p:txBody>
      </p:sp>
      <p:sp>
        <p:nvSpPr>
          <p:cNvPr id="28" name="Text 25"/>
          <p:cNvSpPr txBox="1"/>
          <p:nvPr/>
        </p:nvSpPr>
        <p:spPr>
          <a:xfrm>
            <a:off x="9189720" y="4828032"/>
            <a:ext cx="1645920" cy="274320"/>
          </a:xfrm>
          <a:prstGeom prst="rect">
            <a:avLst/>
          </a:prstGeom>
          <a:noFill/>
          <a:ln/>
        </p:spPr>
        <p:txBody>
          <a:bodyPr wrap="square" lIns="0" tIns="0" rIns="0" bIns="0" rtlCol="0" anchor="t"/>
          <a:lstStyle/>
          <a:p>
            <a:pPr marL="0" indent="0">
              <a:buNone/>
            </a:pPr>
            <a:r>
              <a:rPr lang="en-US" sz="1400" b="1" dirty="0">
                <a:solidFill>
                  <a:schemeClr val="tx1"/>
                </a:solidFill>
              </a:rPr>
              <a:t>Small</a:t>
            </a:r>
            <a:endParaRPr lang="en-US" sz="1400" dirty="0"/>
          </a:p>
        </p:txBody>
      </p:sp>
      <p:sp>
        <p:nvSpPr>
          <p:cNvPr id="29" name="Text 26"/>
          <p:cNvSpPr txBox="1"/>
          <p:nvPr/>
        </p:nvSpPr>
        <p:spPr>
          <a:xfrm>
            <a:off x="10954512" y="4846320"/>
            <a:ext cx="365760" cy="411480"/>
          </a:xfrm>
          <a:prstGeom prst="rect">
            <a:avLst/>
          </a:prstGeom>
          <a:noFill/>
          <a:ln/>
        </p:spPr>
        <p:txBody>
          <a:bodyPr wrap="square" lIns="0" tIns="0" rIns="0" bIns="0" rtlCol="0" anchor="ctr"/>
          <a:lstStyle/>
          <a:p>
            <a:pPr marL="0" indent="0" algn="ctr">
              <a:buNone/>
            </a:pPr>
            <a:r>
              <a:rPr lang="en-US" sz="2200" b="1" dirty="0">
                <a:solidFill>
                  <a:srgbClr val="44CC44"/>
                </a:solidFill>
              </a:rPr>
              <a:t>✓</a:t>
            </a:r>
            <a:endParaRPr lang="en-US" sz="2200" dirty="0"/>
          </a:p>
        </p:txBody>
      </p:sp>
      <p:sp>
        <p:nvSpPr>
          <p:cNvPr id="30" name="Letter"/>
          <p:cNvSpPr/>
          <p:nvPr/>
        </p:nvSpPr>
        <p:spPr>
          <a:xfrm>
            <a:off x="8641080" y="5541264"/>
            <a:ext cx="384048" cy="384048"/>
          </a:xfrm>
          <a:prstGeom prst="ellipse">
            <a:avLst/>
          </a:prstGeom>
          <a:solidFill>
            <a:schemeClr val="accent1"/>
          </a:solidFill>
          <a:ln/>
        </p:spPr>
        <p:txBody>
          <a:bodyPr/>
          <a:lstStyle/>
          <a:p>
            <a:endParaRPr lang="en-GB"/>
          </a:p>
        </p:txBody>
      </p:sp>
      <p:sp>
        <p:nvSpPr>
          <p:cNvPr id="31" name="Text 28"/>
          <p:cNvSpPr txBox="1"/>
          <p:nvPr/>
        </p:nvSpPr>
        <p:spPr>
          <a:xfrm>
            <a:off x="8641080" y="5541264"/>
            <a:ext cx="384048" cy="384048"/>
          </a:xfrm>
          <a:prstGeom prst="rect">
            <a:avLst/>
          </a:prstGeom>
          <a:noFill/>
          <a:ln/>
        </p:spPr>
        <p:txBody>
          <a:bodyPr wrap="square" lIns="0" tIns="0" rIns="0" bIns="0" rtlCol="0" anchor="ctr"/>
          <a:lstStyle/>
          <a:p>
            <a:pPr marL="0" indent="0" algn="ctr">
              <a:buNone/>
            </a:pPr>
            <a:r>
              <a:rPr lang="en-US" sz="1600" b="1" dirty="0">
                <a:solidFill>
                  <a:schemeClr val="bg1"/>
                </a:solidFill>
              </a:rPr>
              <a:t>T</a:t>
            </a:r>
            <a:endParaRPr lang="en-US" sz="1600" dirty="0"/>
          </a:p>
        </p:txBody>
      </p:sp>
      <p:sp>
        <p:nvSpPr>
          <p:cNvPr id="32" name="Text 29"/>
          <p:cNvSpPr txBox="1"/>
          <p:nvPr/>
        </p:nvSpPr>
        <p:spPr>
          <a:xfrm>
            <a:off x="9189720" y="5504688"/>
            <a:ext cx="1645920" cy="274320"/>
          </a:xfrm>
          <a:prstGeom prst="rect">
            <a:avLst/>
          </a:prstGeom>
          <a:noFill/>
          <a:ln/>
        </p:spPr>
        <p:txBody>
          <a:bodyPr wrap="square" lIns="0" tIns="0" rIns="0" bIns="0" rtlCol="0" anchor="t"/>
          <a:lstStyle/>
          <a:p>
            <a:pPr marL="0" indent="0">
              <a:buNone/>
            </a:pPr>
            <a:r>
              <a:rPr lang="en-US" sz="1400" b="1" dirty="0">
                <a:solidFill>
                  <a:schemeClr val="tx1"/>
                </a:solidFill>
              </a:rPr>
              <a:t>Testable</a:t>
            </a:r>
            <a:endParaRPr lang="en-US" sz="1400" dirty="0"/>
          </a:p>
        </p:txBody>
      </p:sp>
      <p:sp>
        <p:nvSpPr>
          <p:cNvPr id="33" name="Text 30"/>
          <p:cNvSpPr txBox="1"/>
          <p:nvPr/>
        </p:nvSpPr>
        <p:spPr>
          <a:xfrm>
            <a:off x="10954512" y="5522976"/>
            <a:ext cx="365760" cy="411480"/>
          </a:xfrm>
          <a:prstGeom prst="rect">
            <a:avLst/>
          </a:prstGeom>
          <a:noFill/>
          <a:ln/>
        </p:spPr>
        <p:txBody>
          <a:bodyPr wrap="square" lIns="0" tIns="0" rIns="0" bIns="0" rtlCol="0" anchor="ctr"/>
          <a:lstStyle/>
          <a:p>
            <a:pPr marL="0" indent="0" algn="ctr">
              <a:buNone/>
            </a:pPr>
            <a:r>
              <a:rPr lang="en-US" sz="2200" b="1" dirty="0">
                <a:solidFill>
                  <a:srgbClr val="44CC44"/>
                </a:solidFill>
              </a:rPr>
              <a:t>✓</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04 · USER STORIES &amp; ACCEPTANCE CRITERIA</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INVEST Review of Our Stories (Self-Critique)</a:t>
            </a:r>
            <a:endParaRPr lang="en-US" sz="32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640080" y="1554480"/>
          <a:ext cx="10908792" cy="3429000"/>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2679192">
                  <a:extLst>
                    <a:ext uri="{9D8B030D-6E8A-4147-A177-3AD203B41FA5}">
                      <a16:colId xmlns:a16="http://schemas.microsoft.com/office/drawing/2014/main" val="20007"/>
                    </a:ext>
                  </a:extLst>
                </a:gridCol>
              </a:tblGrid>
              <a:tr h="502920">
                <a:tc>
                  <a:txBody>
                    <a:bodyPr/>
                    <a:lstStyle/>
                    <a:p>
                      <a:pPr marL="0" indent="0" algn="l">
                        <a:buNone/>
                      </a:pPr>
                      <a:r>
                        <a:rPr lang="en-US" sz="1400" b="1" dirty="0">
                          <a:solidFill>
                            <a:srgbClr val="0D0D0D"/>
                          </a:solidFill>
                        </a:rPr>
                        <a:t>Story</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ctr">
                        <a:buNone/>
                      </a:pPr>
                      <a:r>
                        <a:rPr lang="en-US" sz="1400" b="1" dirty="0">
                          <a:solidFill>
                            <a:srgbClr val="0D0D0D"/>
                          </a:solidFill>
                        </a:rPr>
                        <a:t>Independent</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ctr">
                        <a:buNone/>
                      </a:pPr>
                      <a:r>
                        <a:rPr lang="en-US" sz="1400" b="1" dirty="0">
                          <a:solidFill>
                            <a:srgbClr val="0D0D0D"/>
                          </a:solidFill>
                        </a:rPr>
                        <a:t>Negotiable</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ctr">
                        <a:buNone/>
                      </a:pPr>
                      <a:r>
                        <a:rPr lang="en-US" sz="1400" b="1" dirty="0">
                          <a:solidFill>
                            <a:srgbClr val="0D0D0D"/>
                          </a:solidFill>
                        </a:rPr>
                        <a:t>Valuable</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ctr">
                        <a:buNone/>
                      </a:pPr>
                      <a:r>
                        <a:rPr lang="en-US" sz="1400" b="1" dirty="0">
                          <a:solidFill>
                            <a:srgbClr val="0D0D0D"/>
                          </a:solidFill>
                        </a:rPr>
                        <a:t>Estimable</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ctr">
                        <a:buNone/>
                      </a:pPr>
                      <a:r>
                        <a:rPr lang="en-US" sz="1400" b="1" dirty="0">
                          <a:solidFill>
                            <a:srgbClr val="0D0D0D"/>
                          </a:solidFill>
                        </a:rPr>
                        <a:t>Small</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ctr">
                        <a:buNone/>
                      </a:pPr>
                      <a:r>
                        <a:rPr lang="en-US" sz="1400" b="1" dirty="0">
                          <a:solidFill>
                            <a:srgbClr val="0D0D0D"/>
                          </a:solidFill>
                        </a:rPr>
                        <a:t>Testable</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l">
                        <a:buNone/>
                      </a:pPr>
                      <a:r>
                        <a:rPr lang="en-US" sz="1400" b="1" dirty="0">
                          <a:solidFill>
                            <a:srgbClr val="0D0D0D"/>
                          </a:solidFill>
                        </a:rPr>
                        <a:t>Notes</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extLst>
                  <a:ext uri="{0D108BD9-81ED-4DB2-BD59-A6C34878D82A}">
                    <a16:rowId xmlns:a16="http://schemas.microsoft.com/office/drawing/2014/main" val="10000"/>
                  </a:ext>
                </a:extLst>
              </a:tr>
              <a:tr h="914400">
                <a:tc>
                  <a:txBody>
                    <a:bodyPr/>
                    <a:lstStyle/>
                    <a:p>
                      <a:pPr marL="0" indent="0" algn="l">
                        <a:buNone/>
                      </a:pPr>
                      <a:r>
                        <a:rPr lang="en-US" sz="1400" b="1" dirty="0">
                          <a:solidFill>
                            <a:srgbClr val="F5F0E8"/>
                          </a:solidFill>
                        </a:rPr>
                        <a:t>1: Compare Prices</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2000" b="1" dirty="0">
                          <a:solidFill>
                            <a:srgbClr val="44CC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2000" b="1" dirty="0">
                          <a:solidFill>
                            <a:srgbClr val="44CC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2000" b="1" dirty="0">
                          <a:solidFill>
                            <a:srgbClr val="44CC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2000" b="1" dirty="0">
                          <a:solidFill>
                            <a:srgbClr val="CCAA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2000" b="1" dirty="0">
                          <a:solidFill>
                            <a:srgbClr val="CCAA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2000" b="1" dirty="0">
                          <a:solidFill>
                            <a:srgbClr val="44CC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Country scope fixed; one country per sprint</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1"/>
                  </a:ext>
                </a:extLst>
              </a:tr>
              <a:tr h="914400">
                <a:tc>
                  <a:txBody>
                    <a:bodyPr/>
                    <a:lstStyle/>
                    <a:p>
                      <a:pPr marL="0" indent="0" algn="l">
                        <a:buNone/>
                      </a:pPr>
                      <a:r>
                        <a:rPr lang="en-US" sz="1400" b="1" dirty="0">
                          <a:solidFill>
                            <a:srgbClr val="F5F0E8"/>
                          </a:solidFill>
                        </a:rPr>
                        <a:t>2: Synced Progress</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2000" b="1" dirty="0">
                          <a:solidFill>
                            <a:srgbClr val="44CC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2000" b="1" dirty="0">
                          <a:solidFill>
                            <a:srgbClr val="44CC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2000" b="1" dirty="0">
                          <a:solidFill>
                            <a:srgbClr val="44CC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2000" b="1" dirty="0">
                          <a:solidFill>
                            <a:srgbClr val="CCAA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2000" b="1" dirty="0">
                          <a:solidFill>
                            <a:srgbClr val="44CC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2000" b="1" dirty="0">
                          <a:solidFill>
                            <a:srgbClr val="44CC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F5F0E8"/>
                          </a:solidFill>
                        </a:rPr>
                        <a:t>Sync conflict rule needed before sizing</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extLst>
                  <a:ext uri="{0D108BD9-81ED-4DB2-BD59-A6C34878D82A}">
                    <a16:rowId xmlns:a16="http://schemas.microsoft.com/office/drawing/2014/main" val="10002"/>
                  </a:ext>
                </a:extLst>
              </a:tr>
              <a:tr h="1097280">
                <a:tc>
                  <a:txBody>
                    <a:bodyPr/>
                    <a:lstStyle/>
                    <a:p>
                      <a:pPr marL="0" indent="0" algn="l">
                        <a:buNone/>
                      </a:pPr>
                      <a:r>
                        <a:rPr lang="en-US" sz="1400" b="1" dirty="0">
                          <a:solidFill>
                            <a:srgbClr val="F5F0E8"/>
                          </a:solidFill>
                        </a:rPr>
                        <a:t>3: Drop Warning</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2000" b="1" dirty="0">
                          <a:solidFill>
                            <a:srgbClr val="CC44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2000" b="1" dirty="0">
                          <a:solidFill>
                            <a:srgbClr val="44CC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2000" b="1" dirty="0">
                          <a:solidFill>
                            <a:srgbClr val="44CC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2000" b="1" dirty="0">
                          <a:solidFill>
                            <a:srgbClr val="44CC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2000" b="1" dirty="0">
                          <a:solidFill>
                            <a:srgbClr val="44CC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2000" b="1" dirty="0">
                          <a:solidFill>
                            <a:srgbClr val="44CC44"/>
                          </a:solidFill>
                        </a:rPr>
                        <a:t>✓</a:t>
                      </a:r>
                      <a:endParaRPr lang="en-US" sz="20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Depends on Story 2 history. Fix: split into “collect history” + “show warning”</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3"/>
                  </a:ext>
                </a:extLst>
              </a:tr>
            </a:tbl>
          </a:graphicData>
        </a:graphic>
      </p:graphicFrame>
      <p:sp>
        <p:nvSpPr>
          <p:cNvPr id="6" name="Text 2"/>
          <p:cNvSpPr txBox="1"/>
          <p:nvPr/>
        </p:nvSpPr>
        <p:spPr>
          <a:xfrm>
            <a:off x="640080" y="5166360"/>
            <a:ext cx="1737360" cy="274320"/>
          </a:xfrm>
          <a:prstGeom prst="rect">
            <a:avLst/>
          </a:prstGeom>
          <a:noFill/>
          <a:ln/>
        </p:spPr>
        <p:txBody>
          <a:bodyPr wrap="square" lIns="0" tIns="0" rIns="0" bIns="0" rtlCol="0" anchor="t"/>
          <a:lstStyle/>
          <a:p>
            <a:pPr marL="0" indent="0">
              <a:buNone/>
            </a:pPr>
            <a:r>
              <a:rPr lang="en-US" sz="1400" b="1" dirty="0">
                <a:solidFill>
                  <a:srgbClr val="44CC44"/>
                </a:solidFill>
              </a:rPr>
              <a:t>✓</a:t>
            </a:r>
            <a:r>
              <a:rPr lang="en-US" sz="1400" dirty="0">
                <a:solidFill>
                  <a:schemeClr val="accent2"/>
                </a:solidFill>
              </a:rPr>
              <a:t>  Pass</a:t>
            </a:r>
            <a:endParaRPr lang="en-US" sz="1400" dirty="0"/>
          </a:p>
        </p:txBody>
      </p:sp>
      <p:sp>
        <p:nvSpPr>
          <p:cNvPr id="7" name="Text 3"/>
          <p:cNvSpPr txBox="1"/>
          <p:nvPr/>
        </p:nvSpPr>
        <p:spPr>
          <a:xfrm>
            <a:off x="2468880" y="5166360"/>
            <a:ext cx="1737360" cy="274320"/>
          </a:xfrm>
          <a:prstGeom prst="rect">
            <a:avLst/>
          </a:prstGeom>
          <a:noFill/>
          <a:ln/>
        </p:spPr>
        <p:txBody>
          <a:bodyPr wrap="square" lIns="0" tIns="0" rIns="0" bIns="0" rtlCol="0" anchor="t"/>
          <a:lstStyle/>
          <a:p>
            <a:pPr marL="0" indent="0">
              <a:buNone/>
            </a:pPr>
            <a:r>
              <a:rPr lang="en-US" sz="1400" b="1" dirty="0">
                <a:solidFill>
                  <a:srgbClr val="CCAA44"/>
                </a:solidFill>
              </a:rPr>
              <a:t>⚠</a:t>
            </a:r>
            <a:r>
              <a:rPr lang="en-US" sz="1400" dirty="0">
                <a:solidFill>
                  <a:schemeClr val="accent2"/>
                </a:solidFill>
              </a:rPr>
              <a:t>  Needs work</a:t>
            </a:r>
            <a:endParaRPr lang="en-US" sz="1400" dirty="0"/>
          </a:p>
        </p:txBody>
      </p:sp>
      <p:sp>
        <p:nvSpPr>
          <p:cNvPr id="8" name="Text 4"/>
          <p:cNvSpPr txBox="1"/>
          <p:nvPr/>
        </p:nvSpPr>
        <p:spPr>
          <a:xfrm>
            <a:off x="4297680" y="5166360"/>
            <a:ext cx="1737360" cy="274320"/>
          </a:xfrm>
          <a:prstGeom prst="rect">
            <a:avLst/>
          </a:prstGeom>
          <a:noFill/>
          <a:ln/>
        </p:spPr>
        <p:txBody>
          <a:bodyPr wrap="square" lIns="0" tIns="0" rIns="0" bIns="0" rtlCol="0" anchor="t"/>
          <a:lstStyle/>
          <a:p>
            <a:pPr marL="0" indent="0">
              <a:buNone/>
            </a:pPr>
            <a:r>
              <a:rPr lang="en-US" sz="1400" b="1" dirty="0">
                <a:solidFill>
                  <a:srgbClr val="CC4444"/>
                </a:solidFill>
              </a:rPr>
              <a:t>✕</a:t>
            </a:r>
            <a:r>
              <a:rPr lang="en-US" sz="1400" dirty="0">
                <a:solidFill>
                  <a:schemeClr val="accent2"/>
                </a:solidFill>
              </a:rPr>
              <a:t>  Fails</a:t>
            </a:r>
            <a:endParaRPr lang="en-US" sz="1400" dirty="0"/>
          </a:p>
        </p:txBody>
      </p:sp>
      <p:sp>
        <p:nvSpPr>
          <p:cNvPr id="9" name="Footnote callout"/>
          <p:cNvSpPr/>
          <p:nvPr/>
        </p:nvSpPr>
        <p:spPr>
          <a:xfrm>
            <a:off x="640080" y="5623560"/>
            <a:ext cx="10908792" cy="640080"/>
          </a:xfrm>
          <a:prstGeom prst="roundRect">
            <a:avLst>
              <a:gd name="adj" fmla="val 17143"/>
            </a:avLst>
          </a:prstGeom>
          <a:solidFill>
            <a:schemeClr val="bg2"/>
          </a:solidFill>
          <a:ln w="15875">
            <a:solidFill>
              <a:schemeClr val="accent1"/>
            </a:solidFill>
            <a:prstDash val="solid"/>
          </a:ln>
        </p:spPr>
        <p:txBody>
          <a:bodyPr/>
          <a:lstStyle/>
          <a:p>
            <a:endParaRPr lang="en-GB"/>
          </a:p>
        </p:txBody>
      </p:sp>
      <p:sp>
        <p:nvSpPr>
          <p:cNvPr id="10" name="Text 6"/>
          <p:cNvSpPr txBox="1"/>
          <p:nvPr/>
        </p:nvSpPr>
        <p:spPr>
          <a:xfrm>
            <a:off x="914400" y="5623560"/>
            <a:ext cx="10360152" cy="640080"/>
          </a:xfrm>
          <a:prstGeom prst="rect">
            <a:avLst/>
          </a:prstGeom>
          <a:noFill/>
          <a:ln/>
        </p:spPr>
        <p:txBody>
          <a:bodyPr wrap="square" lIns="0" tIns="0" rIns="0" bIns="0" rtlCol="0" anchor="ctr"/>
          <a:lstStyle/>
          <a:p>
            <a:pPr marL="0" indent="0">
              <a:buNone/>
            </a:pPr>
            <a:r>
              <a:rPr lang="en-US" sz="1600" dirty="0">
                <a:solidFill>
                  <a:schemeClr val="tx1"/>
                </a:solidFill>
              </a:rPr>
              <a:t>Stories are conversation starters; acceptance criteria turn them into tests. </a:t>
            </a:r>
            <a:r>
              <a:rPr lang="en-US" sz="1600" b="1" dirty="0">
                <a:solidFill>
                  <a:schemeClr val="tx1"/>
                </a:solidFill>
              </a:rPr>
              <a:t>Honest critique &gt; fake pass.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280160"/>
            <a:ext cx="4572000" cy="1463040"/>
          </a:xfrm>
          <a:prstGeom prst="rect">
            <a:avLst/>
          </a:prstGeom>
          <a:noFill/>
          <a:ln/>
        </p:spPr>
        <p:txBody>
          <a:bodyPr wrap="square" lIns="0" tIns="0" rIns="0" bIns="0" rtlCol="0" anchor="ctr"/>
          <a:lstStyle/>
          <a:p>
            <a:pPr marL="0" indent="0" algn="l">
              <a:buNone/>
            </a:pPr>
            <a:r>
              <a:rPr lang="en-US" sz="9600" b="1" dirty="0">
                <a:solidFill>
                  <a:schemeClr val="accent1"/>
                </a:solidFill>
              </a:rPr>
              <a:t>05</a:t>
            </a:r>
            <a:endParaRPr lang="en-US" sz="9600" dirty="0"/>
          </a:p>
        </p:txBody>
      </p:sp>
      <p:sp>
        <p:nvSpPr>
          <p:cNvPr id="3" name="Text 1"/>
          <p:cNvSpPr>
            <a:spLocks noGrp="1"/>
          </p:cNvSpPr>
          <p:nvPr>
            <p:ph type="title" idx="102" hasCustomPrompt="1"/>
          </p:nvPr>
        </p:nvSpPr>
        <p:spPr>
          <a:xfrm>
            <a:off x="822960" y="3108960"/>
            <a:ext cx="5852160" cy="2194560"/>
          </a:xfrm>
          <a:prstGeom prst="rect">
            <a:avLst/>
          </a:prstGeom>
          <a:noFill/>
          <a:ln/>
        </p:spPr>
        <p:txBody>
          <a:bodyPr wrap="square" lIns="0" tIns="0" rIns="0" bIns="0" rtlCol="0" anchor="t"/>
          <a:lstStyle/>
          <a:p>
            <a:pPr marL="0" indent="0" algn="l">
              <a:buNone/>
            </a:pPr>
            <a:r>
              <a:rPr lang="en-US" sz="4400" b="1" dirty="0">
                <a:solidFill>
                  <a:schemeClr val="tx1"/>
                </a:solidFill>
              </a:rPr>
              <a:t>Problem Statement &amp; User Flow</a:t>
            </a:r>
            <a:endParaRPr lang="en-US" sz="4400" dirty="0"/>
          </a:p>
        </p:txBody>
      </p:sp>
      <p:sp>
        <p:nvSpPr>
          <p:cNvPr id="4" name="Text 1"/>
          <p:cNvSpPr>
            <a:spLocks noGrp="1"/>
          </p:cNvSpPr>
          <p:nvPr>
            <p:ph type="body" idx="103" hasCustomPrompt="1"/>
          </p:nvPr>
        </p:nvSpPr>
        <p:spPr>
          <a:xfrm>
            <a:off x="822960" y="5577840"/>
            <a:ext cx="5852160" cy="274320"/>
          </a:xfrm>
          <a:prstGeom prst="rect">
            <a:avLst/>
          </a:prstGeom>
          <a:noFill/>
          <a:ln/>
        </p:spPr>
        <p:txBody>
          <a:bodyPr wrap="square" lIns="0" tIns="0" rIns="0" bIns="0" rtlCol="0" anchor="ctr"/>
          <a:lstStyle/>
          <a:p>
            <a:pPr marL="0" indent="0" algn="l">
              <a:buNone/>
            </a:pPr>
            <a:r>
              <a:rPr lang="en-US" sz="1400" b="1" kern="0" spc="150" dirty="0">
                <a:solidFill>
                  <a:schemeClr val="accent2"/>
                </a:solidFill>
              </a:rPr>
              <a:t>PRESENTER  ·  YOUSSEF HUSSEIN  ·  ~8 MIN</a:t>
            </a:r>
            <a:endParaRPr lang="en-US" sz="1400" dirty="0"/>
          </a:p>
        </p:txBody>
      </p:sp>
      <p:sp>
        <p:nvSpPr>
          <p:cNvPr id="6" name="Text 3"/>
          <p:cNvSpPr txBox="1"/>
          <p:nvPr/>
        </p:nvSpPr>
        <p:spPr>
          <a:xfrm>
            <a:off x="7223760" y="1325880"/>
            <a:ext cx="4297680" cy="228600"/>
          </a:xfrm>
          <a:prstGeom prst="rect">
            <a:avLst/>
          </a:prstGeom>
          <a:noFill/>
          <a:ln/>
        </p:spPr>
        <p:txBody>
          <a:bodyPr wrap="square" lIns="0" tIns="0" rIns="0" bIns="0" rtlCol="0" anchor="t"/>
          <a:lstStyle/>
          <a:p>
            <a:pPr marL="0" indent="0">
              <a:buNone/>
            </a:pPr>
            <a:r>
              <a:rPr lang="en-US" sz="1200" b="1" kern="0" spc="150" dirty="0">
                <a:solidFill>
                  <a:schemeClr val="accent2"/>
                </a:solidFill>
              </a:rPr>
              <a:t>AGENDA</a:t>
            </a:r>
            <a:endParaRPr lang="en-US" sz="1200" dirty="0"/>
          </a:p>
        </p:txBody>
      </p:sp>
      <p:sp>
        <p:nvSpPr>
          <p:cNvPr id="7" name="Text 4"/>
          <p:cNvSpPr txBox="1"/>
          <p:nvPr/>
        </p:nvSpPr>
        <p:spPr>
          <a:xfrm>
            <a:off x="7406640" y="169164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01</a:t>
            </a:r>
            <a:endParaRPr lang="en-US" sz="1600" dirty="0"/>
          </a:p>
        </p:txBody>
      </p:sp>
      <p:sp>
        <p:nvSpPr>
          <p:cNvPr id="8" name="Text 5"/>
          <p:cNvSpPr txBox="1"/>
          <p:nvPr/>
        </p:nvSpPr>
        <p:spPr>
          <a:xfrm>
            <a:off x="7955280" y="169164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Why User-Centred Design?</a:t>
            </a:r>
            <a:endParaRPr lang="en-US" sz="1600" dirty="0"/>
          </a:p>
        </p:txBody>
      </p:sp>
      <p:sp>
        <p:nvSpPr>
          <p:cNvPr id="9" name="Text 6"/>
          <p:cNvSpPr txBox="1"/>
          <p:nvPr/>
        </p:nvSpPr>
        <p:spPr>
          <a:xfrm>
            <a:off x="7406640" y="233172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02</a:t>
            </a:r>
            <a:endParaRPr lang="en-US" sz="1600" dirty="0"/>
          </a:p>
        </p:txBody>
      </p:sp>
      <p:sp>
        <p:nvSpPr>
          <p:cNvPr id="10" name="Text 7"/>
          <p:cNvSpPr txBox="1"/>
          <p:nvPr/>
        </p:nvSpPr>
        <p:spPr>
          <a:xfrm>
            <a:off x="7955280" y="233172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Users, Stakeholders &amp; Research</a:t>
            </a:r>
            <a:endParaRPr lang="en-US" sz="1600" dirty="0"/>
          </a:p>
        </p:txBody>
      </p:sp>
      <p:sp>
        <p:nvSpPr>
          <p:cNvPr id="11" name="Text 8"/>
          <p:cNvSpPr txBox="1"/>
          <p:nvPr/>
        </p:nvSpPr>
        <p:spPr>
          <a:xfrm>
            <a:off x="7406640" y="297180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03</a:t>
            </a:r>
            <a:endParaRPr lang="en-US" sz="1600" dirty="0"/>
          </a:p>
        </p:txBody>
      </p:sp>
      <p:sp>
        <p:nvSpPr>
          <p:cNvPr id="12" name="Text 9"/>
          <p:cNvSpPr txBox="1"/>
          <p:nvPr/>
        </p:nvSpPr>
        <p:spPr>
          <a:xfrm>
            <a:off x="7955280" y="297180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Personas</a:t>
            </a:r>
            <a:endParaRPr lang="en-US" sz="1600" dirty="0"/>
          </a:p>
        </p:txBody>
      </p:sp>
      <p:sp>
        <p:nvSpPr>
          <p:cNvPr id="13" name="Text 10"/>
          <p:cNvSpPr txBox="1"/>
          <p:nvPr/>
        </p:nvSpPr>
        <p:spPr>
          <a:xfrm>
            <a:off x="7406640" y="361188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04</a:t>
            </a:r>
            <a:endParaRPr lang="en-US" sz="1600" dirty="0"/>
          </a:p>
        </p:txBody>
      </p:sp>
      <p:sp>
        <p:nvSpPr>
          <p:cNvPr id="14" name="Text 11"/>
          <p:cNvSpPr txBox="1"/>
          <p:nvPr/>
        </p:nvSpPr>
        <p:spPr>
          <a:xfrm>
            <a:off x="7955280" y="361188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User Stories &amp; Acceptance Criteria</a:t>
            </a:r>
            <a:endParaRPr lang="en-US" sz="1600" dirty="0"/>
          </a:p>
        </p:txBody>
      </p:sp>
      <p:sp>
        <p:nvSpPr>
          <p:cNvPr id="15" name="Current section"/>
          <p:cNvSpPr/>
          <p:nvPr/>
        </p:nvSpPr>
        <p:spPr>
          <a:xfrm>
            <a:off x="7223760" y="4197096"/>
            <a:ext cx="4325112" cy="548640"/>
          </a:xfrm>
          <a:prstGeom prst="roundRect">
            <a:avLst>
              <a:gd name="adj" fmla="val 20000"/>
            </a:avLst>
          </a:prstGeom>
          <a:solidFill>
            <a:schemeClr val="bg2"/>
          </a:solidFill>
          <a:ln w="15875">
            <a:solidFill>
              <a:schemeClr val="accent1"/>
            </a:solidFill>
            <a:prstDash val="solid"/>
          </a:ln>
        </p:spPr>
        <p:txBody>
          <a:bodyPr/>
          <a:lstStyle/>
          <a:p>
            <a:endParaRPr lang="en-GB"/>
          </a:p>
        </p:txBody>
      </p:sp>
      <p:sp>
        <p:nvSpPr>
          <p:cNvPr id="16" name="Text 13"/>
          <p:cNvSpPr txBox="1"/>
          <p:nvPr/>
        </p:nvSpPr>
        <p:spPr>
          <a:xfrm>
            <a:off x="7406640" y="4251960"/>
            <a:ext cx="457200" cy="438912"/>
          </a:xfrm>
          <a:prstGeom prst="rect">
            <a:avLst/>
          </a:prstGeom>
          <a:noFill/>
          <a:ln/>
        </p:spPr>
        <p:txBody>
          <a:bodyPr wrap="square" lIns="0" tIns="0" rIns="0" bIns="0" rtlCol="0" anchor="ctr"/>
          <a:lstStyle/>
          <a:p>
            <a:pPr marL="0" indent="0">
              <a:buNone/>
            </a:pPr>
            <a:r>
              <a:rPr lang="en-US" sz="1600" b="1" dirty="0">
                <a:solidFill>
                  <a:schemeClr val="accent1"/>
                </a:solidFill>
              </a:rPr>
              <a:t>05</a:t>
            </a:r>
            <a:endParaRPr lang="en-US" sz="1600" dirty="0"/>
          </a:p>
        </p:txBody>
      </p:sp>
      <p:sp>
        <p:nvSpPr>
          <p:cNvPr id="17" name="Text 14"/>
          <p:cNvSpPr txBox="1"/>
          <p:nvPr/>
        </p:nvSpPr>
        <p:spPr>
          <a:xfrm>
            <a:off x="7955280" y="4251960"/>
            <a:ext cx="3474720" cy="438912"/>
          </a:xfrm>
          <a:prstGeom prst="rect">
            <a:avLst/>
          </a:prstGeom>
          <a:noFill/>
          <a:ln/>
        </p:spPr>
        <p:txBody>
          <a:bodyPr wrap="square" lIns="0" tIns="0" rIns="0" bIns="0" rtlCol="0" anchor="ctr"/>
          <a:lstStyle/>
          <a:p>
            <a:pPr marL="0" indent="0">
              <a:buNone/>
            </a:pPr>
            <a:r>
              <a:rPr lang="en-US" sz="1600" b="1" dirty="0">
                <a:solidFill>
                  <a:schemeClr val="tx1"/>
                </a:solidFill>
              </a:rPr>
              <a:t>Problem Statement &amp; User Flow</a:t>
            </a:r>
            <a:endParaRPr lang="en-US" sz="1600" dirty="0"/>
          </a:p>
        </p:txBody>
      </p:sp>
      <p:sp>
        <p:nvSpPr>
          <p:cNvPr id="18" name="Text 15"/>
          <p:cNvSpPr txBox="1"/>
          <p:nvPr/>
        </p:nvSpPr>
        <p:spPr>
          <a:xfrm>
            <a:off x="7406640" y="489204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06</a:t>
            </a:r>
            <a:endParaRPr lang="en-US" sz="1600" dirty="0"/>
          </a:p>
        </p:txBody>
      </p:sp>
      <p:sp>
        <p:nvSpPr>
          <p:cNvPr id="19" name="Text 16"/>
          <p:cNvSpPr txBox="1"/>
          <p:nvPr/>
        </p:nvSpPr>
        <p:spPr>
          <a:xfrm>
            <a:off x="7955280" y="489204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Wireframes &amp; Usability Heuristics</a:t>
            </a:r>
            <a:endParaRPr lang="en-US" sz="1600" dirty="0"/>
          </a:p>
        </p:txBody>
      </p:sp>
      <p:sp>
        <p:nvSpPr>
          <p:cNvPr id="20" name="Text 17"/>
          <p:cNvSpPr txBox="1"/>
          <p:nvPr/>
        </p:nvSpPr>
        <p:spPr>
          <a:xfrm>
            <a:off x="7406640" y="553212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07</a:t>
            </a:r>
            <a:endParaRPr lang="en-US" sz="1600" dirty="0"/>
          </a:p>
        </p:txBody>
      </p:sp>
      <p:sp>
        <p:nvSpPr>
          <p:cNvPr id="21" name="Text 18"/>
          <p:cNvSpPr txBox="1"/>
          <p:nvPr/>
        </p:nvSpPr>
        <p:spPr>
          <a:xfrm>
            <a:off x="7955280" y="553212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Accessibility</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05 · PROBLEM STATEMENT &amp; USER FLOW</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Problem Statement (118 words)</a:t>
            </a:r>
            <a:endParaRPr lang="en-US" sz="3200" dirty="0"/>
          </a:p>
        </p:txBody>
      </p:sp>
      <p:sp>
        <p:nvSpPr>
          <p:cNvPr id="5" name="Problem statement card"/>
          <p:cNvSpPr/>
          <p:nvPr/>
        </p:nvSpPr>
        <p:spPr>
          <a:xfrm>
            <a:off x="640080" y="1554480"/>
            <a:ext cx="6766560" cy="4754880"/>
          </a:xfrm>
          <a:prstGeom prst="roundRect">
            <a:avLst>
              <a:gd name="adj" fmla="val 2308"/>
            </a:avLst>
          </a:prstGeom>
          <a:solidFill>
            <a:schemeClr val="bg2"/>
          </a:solidFill>
          <a:ln w="9525">
            <a:solidFill>
              <a:schemeClr val="tx2"/>
            </a:solidFill>
            <a:prstDash val="solid"/>
          </a:ln>
        </p:spPr>
        <p:txBody>
          <a:bodyPr/>
          <a:lstStyle/>
          <a:p>
            <a:endParaRPr lang="en-GB"/>
          </a:p>
        </p:txBody>
      </p:sp>
      <p:sp>
        <p:nvSpPr>
          <p:cNvPr id="6" name="Text 3"/>
          <p:cNvSpPr txBox="1"/>
          <p:nvPr/>
        </p:nvSpPr>
        <p:spPr>
          <a:xfrm>
            <a:off x="914400" y="1600200"/>
            <a:ext cx="731520" cy="822960"/>
          </a:xfrm>
          <a:prstGeom prst="rect">
            <a:avLst/>
          </a:prstGeom>
          <a:noFill/>
          <a:ln/>
        </p:spPr>
        <p:txBody>
          <a:bodyPr wrap="square" lIns="0" tIns="0" rIns="0" bIns="0" rtlCol="0" anchor="t"/>
          <a:lstStyle/>
          <a:p>
            <a:pPr marL="0" indent="0">
              <a:buNone/>
            </a:pPr>
            <a:r>
              <a:rPr lang="en-US" sz="6000" b="1" dirty="0">
                <a:solidFill>
                  <a:schemeClr val="accent1"/>
                </a:solidFill>
              </a:rPr>
              <a:t>“</a:t>
            </a:r>
            <a:endParaRPr lang="en-US" sz="6000" dirty="0"/>
          </a:p>
        </p:txBody>
      </p:sp>
      <p:sp>
        <p:nvSpPr>
          <p:cNvPr id="7" name="Text 4"/>
          <p:cNvSpPr txBox="1"/>
          <p:nvPr/>
        </p:nvSpPr>
        <p:spPr>
          <a:xfrm>
            <a:off x="1005840" y="2331720"/>
            <a:ext cx="6035040" cy="3840480"/>
          </a:xfrm>
          <a:prstGeom prst="rect">
            <a:avLst/>
          </a:prstGeom>
          <a:noFill/>
          <a:ln/>
        </p:spPr>
        <p:txBody>
          <a:bodyPr wrap="square" lIns="0" tIns="0" rIns="0" bIns="0" rtlCol="0" anchor="t"/>
          <a:lstStyle/>
          <a:p>
            <a:pPr marL="0" indent="0">
              <a:lnSpc>
                <a:spcPct val="125000"/>
              </a:lnSpc>
              <a:buNone/>
            </a:pPr>
            <a:r>
              <a:rPr lang="en-US" sz="1600" dirty="0">
                <a:solidFill>
                  <a:schemeClr val="tx1"/>
                </a:solidFill>
              </a:rPr>
              <a:t>Readers buy books from many stores, yet no single place shows who sells a title nearby, at what price, and how soon it arrives. They open multiple tabs, compare manually, and still overpay or wait weeks for overseas shipping. At the same time, they abandon books they never finish — wasting money and breaking their reading habit. Existing apps either track reading </a:t>
            </a:r>
            <a:r>
              <a:rPr lang="en-US" sz="1600" i="1" dirty="0">
                <a:solidFill>
                  <a:schemeClr val="tx1"/>
                </a:solidFill>
              </a:rPr>
              <a:t>or</a:t>
            </a:r>
            <a:r>
              <a:rPr lang="en-US" sz="1600" dirty="0">
                <a:solidFill>
                  <a:schemeClr val="tx1"/>
                </a:solidFill>
              </a:rPr>
              <a:t> compare prices, but not both, and none warn a reader “you’ll likely drop this” based on their actual history. Students and budget-conscious readers are hit hardest: they have the least money to waste and the least time to hunt. A unified app that aggregates local-first prices, syncs progress effortlessly, and predicts drop risk from personal patterns would save money, reduce friction, and help readers build a sustainable habit.</a:t>
            </a:r>
            <a:endParaRPr lang="en-US" sz="1600" dirty="0"/>
          </a:p>
        </p:txBody>
      </p:sp>
      <p:sp>
        <p:nvSpPr>
          <p:cNvPr id="8" name="Structure WHO"/>
          <p:cNvSpPr/>
          <p:nvPr/>
        </p:nvSpPr>
        <p:spPr>
          <a:xfrm>
            <a:off x="7680960" y="1554480"/>
            <a:ext cx="3867912" cy="1481328"/>
          </a:xfrm>
          <a:prstGeom prst="roundRect">
            <a:avLst>
              <a:gd name="adj" fmla="val 7407"/>
            </a:avLst>
          </a:prstGeom>
          <a:solidFill>
            <a:schemeClr val="bg2"/>
          </a:solidFill>
          <a:ln w="9525">
            <a:solidFill>
              <a:schemeClr val="tx2"/>
            </a:solidFill>
            <a:prstDash val="solid"/>
          </a:ln>
        </p:spPr>
        <p:txBody>
          <a:bodyPr/>
          <a:lstStyle/>
          <a:p>
            <a:endParaRPr lang="en-GB"/>
          </a:p>
        </p:txBody>
      </p:sp>
      <p:sp>
        <p:nvSpPr>
          <p:cNvPr id="9" name="Text 6"/>
          <p:cNvSpPr txBox="1"/>
          <p:nvPr/>
        </p:nvSpPr>
        <p:spPr>
          <a:xfrm>
            <a:off x="7909560" y="1737360"/>
            <a:ext cx="3410712"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WHO</a:t>
            </a:r>
            <a:endParaRPr lang="en-US" sz="1200" dirty="0"/>
          </a:p>
        </p:txBody>
      </p:sp>
      <p:sp>
        <p:nvSpPr>
          <p:cNvPr id="10" name="Text 7"/>
          <p:cNvSpPr txBox="1"/>
          <p:nvPr/>
        </p:nvSpPr>
        <p:spPr>
          <a:xfrm>
            <a:off x="7909560" y="2057400"/>
            <a:ext cx="3410712" cy="868680"/>
          </a:xfrm>
          <a:prstGeom prst="rect">
            <a:avLst/>
          </a:prstGeom>
          <a:noFill/>
          <a:ln/>
        </p:spPr>
        <p:txBody>
          <a:bodyPr wrap="square" lIns="0" tIns="0" rIns="0" bIns="0" rtlCol="0" anchor="t"/>
          <a:lstStyle/>
          <a:p>
            <a:pPr marL="0" indent="0">
              <a:buNone/>
            </a:pPr>
            <a:r>
              <a:rPr lang="en-US" sz="1600" dirty="0">
                <a:solidFill>
                  <a:schemeClr val="tx1"/>
                </a:solidFill>
              </a:rPr>
              <a:t>Readers, especially students and budget-conscious readers</a:t>
            </a:r>
            <a:endParaRPr lang="en-US" sz="1600" dirty="0"/>
          </a:p>
        </p:txBody>
      </p:sp>
      <p:sp>
        <p:nvSpPr>
          <p:cNvPr id="11" name="Structure WHAT"/>
          <p:cNvSpPr/>
          <p:nvPr/>
        </p:nvSpPr>
        <p:spPr>
          <a:xfrm>
            <a:off x="7680960" y="3182112"/>
            <a:ext cx="3867912" cy="1481328"/>
          </a:xfrm>
          <a:prstGeom prst="roundRect">
            <a:avLst>
              <a:gd name="adj" fmla="val 7407"/>
            </a:avLst>
          </a:prstGeom>
          <a:solidFill>
            <a:schemeClr val="bg2"/>
          </a:solidFill>
          <a:ln w="9525">
            <a:solidFill>
              <a:schemeClr val="tx2"/>
            </a:solidFill>
            <a:prstDash val="solid"/>
          </a:ln>
        </p:spPr>
        <p:txBody>
          <a:bodyPr/>
          <a:lstStyle/>
          <a:p>
            <a:endParaRPr lang="en-GB"/>
          </a:p>
        </p:txBody>
      </p:sp>
      <p:sp>
        <p:nvSpPr>
          <p:cNvPr id="12" name="Text 9"/>
          <p:cNvSpPr txBox="1"/>
          <p:nvPr/>
        </p:nvSpPr>
        <p:spPr>
          <a:xfrm>
            <a:off x="7909560" y="3364992"/>
            <a:ext cx="3410712"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WHAT</a:t>
            </a:r>
            <a:endParaRPr lang="en-US" sz="1200" dirty="0"/>
          </a:p>
        </p:txBody>
      </p:sp>
      <p:sp>
        <p:nvSpPr>
          <p:cNvPr id="13" name="Text 10"/>
          <p:cNvSpPr txBox="1"/>
          <p:nvPr/>
        </p:nvSpPr>
        <p:spPr>
          <a:xfrm>
            <a:off x="7909560" y="3685032"/>
            <a:ext cx="3410712" cy="868680"/>
          </a:xfrm>
          <a:prstGeom prst="rect">
            <a:avLst/>
          </a:prstGeom>
          <a:noFill/>
          <a:ln/>
        </p:spPr>
        <p:txBody>
          <a:bodyPr wrap="square" lIns="0" tIns="0" rIns="0" bIns="0" rtlCol="0" anchor="t"/>
          <a:lstStyle/>
          <a:p>
            <a:pPr marL="0" indent="0">
              <a:buNone/>
            </a:pPr>
            <a:r>
              <a:rPr lang="en-US" sz="1600" dirty="0">
                <a:solidFill>
                  <a:schemeClr val="tx1"/>
                </a:solidFill>
              </a:rPr>
              <a:t>Fragmented comparison + no drop prediction + no unified tracking</a:t>
            </a:r>
            <a:endParaRPr lang="en-US" sz="1600" dirty="0"/>
          </a:p>
        </p:txBody>
      </p:sp>
      <p:sp>
        <p:nvSpPr>
          <p:cNvPr id="14" name="Structure WHY IT MATTERS"/>
          <p:cNvSpPr/>
          <p:nvPr/>
        </p:nvSpPr>
        <p:spPr>
          <a:xfrm>
            <a:off x="7680960" y="4809744"/>
            <a:ext cx="3867912" cy="1481328"/>
          </a:xfrm>
          <a:prstGeom prst="roundRect">
            <a:avLst>
              <a:gd name="adj" fmla="val 7407"/>
            </a:avLst>
          </a:prstGeom>
          <a:solidFill>
            <a:schemeClr val="bg2"/>
          </a:solidFill>
          <a:ln w="9525">
            <a:solidFill>
              <a:schemeClr val="tx2"/>
            </a:solidFill>
            <a:prstDash val="solid"/>
          </a:ln>
        </p:spPr>
        <p:txBody>
          <a:bodyPr/>
          <a:lstStyle/>
          <a:p>
            <a:endParaRPr lang="en-GB"/>
          </a:p>
        </p:txBody>
      </p:sp>
      <p:sp>
        <p:nvSpPr>
          <p:cNvPr id="15" name="Text 12"/>
          <p:cNvSpPr txBox="1"/>
          <p:nvPr/>
        </p:nvSpPr>
        <p:spPr>
          <a:xfrm>
            <a:off x="7909560" y="4992624"/>
            <a:ext cx="3410712"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WHY IT MATTERS</a:t>
            </a:r>
            <a:endParaRPr lang="en-US" sz="1200" dirty="0"/>
          </a:p>
        </p:txBody>
      </p:sp>
      <p:sp>
        <p:nvSpPr>
          <p:cNvPr id="16" name="Text 13"/>
          <p:cNvSpPr txBox="1"/>
          <p:nvPr/>
        </p:nvSpPr>
        <p:spPr>
          <a:xfrm>
            <a:off x="7909560" y="5312664"/>
            <a:ext cx="3410712" cy="868680"/>
          </a:xfrm>
          <a:prstGeom prst="rect">
            <a:avLst/>
          </a:prstGeom>
          <a:noFill/>
          <a:ln/>
        </p:spPr>
        <p:txBody>
          <a:bodyPr wrap="square" lIns="0" tIns="0" rIns="0" bIns="0" rtlCol="0" anchor="t"/>
          <a:lstStyle/>
          <a:p>
            <a:pPr marL="0" indent="0">
              <a:buNone/>
            </a:pPr>
            <a:r>
              <a:rPr lang="en-US" sz="1600" dirty="0">
                <a:solidFill>
                  <a:schemeClr val="tx1"/>
                </a:solidFill>
              </a:rPr>
              <a:t>Wasted money, broken habits, time lost</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05 · PROBLEM STATEMENT &amp; USER FLOW</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User Flow: Find and Buy a Book</a:t>
            </a:r>
            <a:endParaRPr lang="en-US" sz="3200" dirty="0"/>
          </a:p>
        </p:txBody>
      </p:sp>
      <p:sp>
        <p:nvSpPr>
          <p:cNvPr id="5" name="Text 2"/>
          <p:cNvSpPr txBox="1"/>
          <p:nvPr/>
        </p:nvSpPr>
        <p:spPr>
          <a:xfrm>
            <a:off x="630936" y="1508760"/>
            <a:ext cx="2743200" cy="228600"/>
          </a:xfrm>
          <a:prstGeom prst="rect">
            <a:avLst/>
          </a:prstGeom>
          <a:noFill/>
          <a:ln/>
        </p:spPr>
        <p:txBody>
          <a:bodyPr wrap="square" lIns="0" tIns="0" rIns="0" bIns="0" rtlCol="0" anchor="t"/>
          <a:lstStyle/>
          <a:p>
            <a:pPr marL="0" indent="0">
              <a:buNone/>
            </a:pPr>
            <a:r>
              <a:rPr lang="en-US" sz="1200" b="1" kern="0" spc="150" dirty="0">
                <a:solidFill>
                  <a:schemeClr val="accent2"/>
                </a:solidFill>
              </a:rPr>
              <a:t>HAPPY PATH</a:t>
            </a:r>
            <a:endParaRPr lang="en-US" sz="1200" dirty="0"/>
          </a:p>
        </p:txBody>
      </p:sp>
      <p:sp>
        <p:nvSpPr>
          <p:cNvPr id="6" name="Start"/>
          <p:cNvSpPr/>
          <p:nvPr/>
        </p:nvSpPr>
        <p:spPr>
          <a:xfrm>
            <a:off x="630936" y="2148840"/>
            <a:ext cx="1325880" cy="822960"/>
          </a:xfrm>
          <a:prstGeom prst="roundRect">
            <a:avLst>
              <a:gd name="adj" fmla="val 50000"/>
            </a:avLst>
          </a:prstGeom>
          <a:solidFill>
            <a:schemeClr val="accent1"/>
          </a:solidFill>
          <a:ln/>
        </p:spPr>
        <p:txBody>
          <a:bodyPr/>
          <a:lstStyle/>
          <a:p>
            <a:endParaRPr lang="en-GB"/>
          </a:p>
        </p:txBody>
      </p:sp>
      <p:sp>
        <p:nvSpPr>
          <p:cNvPr id="7" name="Text 4"/>
          <p:cNvSpPr txBox="1"/>
          <p:nvPr/>
        </p:nvSpPr>
        <p:spPr>
          <a:xfrm>
            <a:off x="630936" y="2148840"/>
            <a:ext cx="1325880" cy="822960"/>
          </a:xfrm>
          <a:prstGeom prst="rect">
            <a:avLst/>
          </a:prstGeom>
          <a:noFill/>
          <a:ln/>
        </p:spPr>
        <p:txBody>
          <a:bodyPr wrap="square" lIns="0" tIns="0" rIns="0" bIns="0" rtlCol="0" anchor="ctr"/>
          <a:lstStyle/>
          <a:p>
            <a:pPr marL="0" indent="0" algn="ctr">
              <a:buNone/>
            </a:pPr>
            <a:r>
              <a:rPr lang="en-US" sz="1400" b="1" dirty="0">
                <a:solidFill>
                  <a:schemeClr val="bg1"/>
                </a:solidFill>
              </a:rPr>
              <a:t>Open App</a:t>
            </a:r>
            <a:endParaRPr lang="en-US" sz="1400" dirty="0"/>
          </a:p>
        </p:txBody>
      </p:sp>
      <p:sp>
        <p:nvSpPr>
          <p:cNvPr id="8" name="Search"/>
          <p:cNvSpPr/>
          <p:nvPr/>
        </p:nvSpPr>
        <p:spPr>
          <a:xfrm>
            <a:off x="2231136" y="2148840"/>
            <a:ext cx="1325880" cy="822960"/>
          </a:xfrm>
          <a:prstGeom prst="roundRect">
            <a:avLst>
              <a:gd name="adj" fmla="val 13333"/>
            </a:avLst>
          </a:prstGeom>
          <a:solidFill>
            <a:schemeClr val="bg2"/>
          </a:solidFill>
          <a:ln w="19050">
            <a:solidFill>
              <a:schemeClr val="accent1"/>
            </a:solidFill>
            <a:prstDash val="solid"/>
          </a:ln>
        </p:spPr>
        <p:txBody>
          <a:bodyPr/>
          <a:lstStyle/>
          <a:p>
            <a:endParaRPr lang="en-GB"/>
          </a:p>
        </p:txBody>
      </p:sp>
      <p:sp>
        <p:nvSpPr>
          <p:cNvPr id="9" name="Text 6"/>
          <p:cNvSpPr txBox="1"/>
          <p:nvPr/>
        </p:nvSpPr>
        <p:spPr>
          <a:xfrm>
            <a:off x="2304288" y="2148840"/>
            <a:ext cx="1179576" cy="822960"/>
          </a:xfrm>
          <a:prstGeom prst="rect">
            <a:avLst/>
          </a:prstGeom>
          <a:noFill/>
          <a:ln/>
        </p:spPr>
        <p:txBody>
          <a:bodyPr wrap="square" lIns="0" tIns="0" rIns="0" bIns="0" rtlCol="0" anchor="ctr"/>
          <a:lstStyle/>
          <a:p>
            <a:pPr marL="0" indent="0" algn="ctr">
              <a:buNone/>
            </a:pPr>
            <a:r>
              <a:rPr lang="en-US" sz="1200" dirty="0">
                <a:solidFill>
                  <a:schemeClr val="tx1"/>
                </a:solidFill>
              </a:rPr>
              <a:t>Search title / author / ISBN</a:t>
            </a:r>
            <a:endParaRPr lang="en-US" sz="1200" dirty="0"/>
          </a:p>
        </p:txBody>
      </p:sp>
      <p:sp>
        <p:nvSpPr>
          <p:cNvPr id="10" name="Decision"/>
          <p:cNvSpPr/>
          <p:nvPr/>
        </p:nvSpPr>
        <p:spPr>
          <a:xfrm>
            <a:off x="3739896" y="1874520"/>
            <a:ext cx="1508760" cy="1371600"/>
          </a:xfrm>
          <a:prstGeom prst="diamond">
            <a:avLst/>
          </a:prstGeom>
          <a:solidFill>
            <a:schemeClr val="tx2"/>
          </a:solidFill>
          <a:ln w="19050">
            <a:solidFill>
              <a:schemeClr val="accent1"/>
            </a:solidFill>
            <a:prstDash val="solid"/>
          </a:ln>
        </p:spPr>
        <p:txBody>
          <a:bodyPr/>
          <a:lstStyle/>
          <a:p>
            <a:endParaRPr lang="en-GB"/>
          </a:p>
        </p:txBody>
      </p:sp>
      <p:sp>
        <p:nvSpPr>
          <p:cNvPr id="11" name="Text 8"/>
          <p:cNvSpPr txBox="1"/>
          <p:nvPr/>
        </p:nvSpPr>
        <p:spPr>
          <a:xfrm>
            <a:off x="4059936" y="2148840"/>
            <a:ext cx="868680" cy="822960"/>
          </a:xfrm>
          <a:prstGeom prst="rect">
            <a:avLst/>
          </a:prstGeom>
          <a:noFill/>
          <a:ln/>
        </p:spPr>
        <p:txBody>
          <a:bodyPr wrap="square" lIns="0" tIns="0" rIns="0" bIns="0" rtlCol="0" anchor="ctr"/>
          <a:lstStyle/>
          <a:p>
            <a:pPr marL="0" indent="0" algn="ctr">
              <a:buNone/>
            </a:pPr>
            <a:r>
              <a:rPr lang="en-US" sz="1200" b="1" dirty="0">
                <a:solidFill>
                  <a:schemeClr val="tx1"/>
                </a:solidFill>
              </a:rPr>
              <a:t>Results found?</a:t>
            </a:r>
            <a:endParaRPr lang="en-US" sz="1200" dirty="0"/>
          </a:p>
        </p:txBody>
      </p:sp>
      <p:sp>
        <p:nvSpPr>
          <p:cNvPr id="12" name="Compare"/>
          <p:cNvSpPr/>
          <p:nvPr/>
        </p:nvSpPr>
        <p:spPr>
          <a:xfrm>
            <a:off x="5431536" y="2148840"/>
            <a:ext cx="1325880" cy="822960"/>
          </a:xfrm>
          <a:prstGeom prst="roundRect">
            <a:avLst>
              <a:gd name="adj" fmla="val 13333"/>
            </a:avLst>
          </a:prstGeom>
          <a:solidFill>
            <a:schemeClr val="bg2"/>
          </a:solidFill>
          <a:ln w="19050">
            <a:solidFill>
              <a:schemeClr val="accent1"/>
            </a:solidFill>
            <a:prstDash val="solid"/>
          </a:ln>
        </p:spPr>
        <p:txBody>
          <a:bodyPr/>
          <a:lstStyle/>
          <a:p>
            <a:endParaRPr lang="en-GB"/>
          </a:p>
        </p:txBody>
      </p:sp>
      <p:sp>
        <p:nvSpPr>
          <p:cNvPr id="13" name="Text 10"/>
          <p:cNvSpPr txBox="1"/>
          <p:nvPr/>
        </p:nvSpPr>
        <p:spPr>
          <a:xfrm>
            <a:off x="5504688" y="2148840"/>
            <a:ext cx="1179576" cy="822960"/>
          </a:xfrm>
          <a:prstGeom prst="rect">
            <a:avLst/>
          </a:prstGeom>
          <a:noFill/>
          <a:ln/>
        </p:spPr>
        <p:txBody>
          <a:bodyPr wrap="square" lIns="0" tIns="0" rIns="0" bIns="0" rtlCol="0" anchor="ctr"/>
          <a:lstStyle/>
          <a:p>
            <a:pPr marL="0" indent="0" algn="ctr">
              <a:buNone/>
            </a:pPr>
            <a:r>
              <a:rPr lang="en-US" sz="1200" dirty="0">
                <a:solidFill>
                  <a:schemeClr val="tx1"/>
                </a:solidFill>
              </a:rPr>
              <a:t>Compare offers (local first)</a:t>
            </a:r>
            <a:endParaRPr lang="en-US" sz="1200" dirty="0"/>
          </a:p>
        </p:txBody>
      </p:sp>
      <p:sp>
        <p:nvSpPr>
          <p:cNvPr id="14" name="Detail"/>
          <p:cNvSpPr/>
          <p:nvPr/>
        </p:nvSpPr>
        <p:spPr>
          <a:xfrm>
            <a:off x="7031736" y="2148840"/>
            <a:ext cx="1325880" cy="822960"/>
          </a:xfrm>
          <a:prstGeom prst="roundRect">
            <a:avLst>
              <a:gd name="adj" fmla="val 13333"/>
            </a:avLst>
          </a:prstGeom>
          <a:solidFill>
            <a:schemeClr val="bg2"/>
          </a:solidFill>
          <a:ln w="19050">
            <a:solidFill>
              <a:schemeClr val="accent1"/>
            </a:solidFill>
            <a:prstDash val="solid"/>
          </a:ln>
        </p:spPr>
        <p:txBody>
          <a:bodyPr/>
          <a:lstStyle/>
          <a:p>
            <a:endParaRPr lang="en-GB"/>
          </a:p>
        </p:txBody>
      </p:sp>
      <p:sp>
        <p:nvSpPr>
          <p:cNvPr id="15" name="Text 12"/>
          <p:cNvSpPr txBox="1"/>
          <p:nvPr/>
        </p:nvSpPr>
        <p:spPr>
          <a:xfrm>
            <a:off x="7104888" y="2148840"/>
            <a:ext cx="1179576" cy="822960"/>
          </a:xfrm>
          <a:prstGeom prst="rect">
            <a:avLst/>
          </a:prstGeom>
          <a:noFill/>
          <a:ln/>
        </p:spPr>
        <p:txBody>
          <a:bodyPr wrap="square" lIns="0" tIns="0" rIns="0" bIns="0" rtlCol="0" anchor="ctr"/>
          <a:lstStyle/>
          <a:p>
            <a:pPr marL="0" indent="0" algn="ctr">
              <a:buNone/>
            </a:pPr>
            <a:r>
              <a:rPr lang="en-US" sz="1200" dirty="0">
                <a:solidFill>
                  <a:schemeClr val="tx1"/>
                </a:solidFill>
              </a:rPr>
              <a:t>Book detail (drop risk, best price)</a:t>
            </a:r>
            <a:endParaRPr lang="en-US" sz="1200" dirty="0"/>
          </a:p>
        </p:txBody>
      </p:sp>
      <p:sp>
        <p:nvSpPr>
          <p:cNvPr id="16" name="Seller"/>
          <p:cNvSpPr/>
          <p:nvPr/>
        </p:nvSpPr>
        <p:spPr>
          <a:xfrm>
            <a:off x="8631936" y="2148840"/>
            <a:ext cx="1325880" cy="822960"/>
          </a:xfrm>
          <a:prstGeom prst="roundRect">
            <a:avLst>
              <a:gd name="adj" fmla="val 13333"/>
            </a:avLst>
          </a:prstGeom>
          <a:solidFill>
            <a:schemeClr val="bg2"/>
          </a:solidFill>
          <a:ln w="19050">
            <a:solidFill>
              <a:schemeClr val="accent1"/>
            </a:solidFill>
            <a:prstDash val="solid"/>
          </a:ln>
        </p:spPr>
        <p:txBody>
          <a:bodyPr/>
          <a:lstStyle/>
          <a:p>
            <a:endParaRPr lang="en-GB"/>
          </a:p>
        </p:txBody>
      </p:sp>
      <p:sp>
        <p:nvSpPr>
          <p:cNvPr id="17" name="Text 14"/>
          <p:cNvSpPr txBox="1"/>
          <p:nvPr/>
        </p:nvSpPr>
        <p:spPr>
          <a:xfrm>
            <a:off x="8705088" y="2148840"/>
            <a:ext cx="1179576" cy="822960"/>
          </a:xfrm>
          <a:prstGeom prst="rect">
            <a:avLst/>
          </a:prstGeom>
          <a:noFill/>
          <a:ln/>
        </p:spPr>
        <p:txBody>
          <a:bodyPr wrap="square" lIns="0" tIns="0" rIns="0" bIns="0" rtlCol="0" anchor="ctr"/>
          <a:lstStyle/>
          <a:p>
            <a:pPr marL="0" indent="0" algn="ctr">
              <a:buNone/>
            </a:pPr>
            <a:r>
              <a:rPr lang="en-US" sz="1200" dirty="0">
                <a:solidFill>
                  <a:schemeClr val="tx1"/>
                </a:solidFill>
              </a:rPr>
              <a:t>Tap seller → external purchase</a:t>
            </a:r>
            <a:endParaRPr lang="en-US" sz="1200" dirty="0"/>
          </a:p>
        </p:txBody>
      </p:sp>
      <p:sp>
        <p:nvSpPr>
          <p:cNvPr id="18" name="Library"/>
          <p:cNvSpPr/>
          <p:nvPr/>
        </p:nvSpPr>
        <p:spPr>
          <a:xfrm>
            <a:off x="10232136" y="2148840"/>
            <a:ext cx="1325880" cy="822960"/>
          </a:xfrm>
          <a:prstGeom prst="roundRect">
            <a:avLst>
              <a:gd name="adj" fmla="val 13333"/>
            </a:avLst>
          </a:prstGeom>
          <a:solidFill>
            <a:schemeClr val="accent4">
              <a:alpha val="15000"/>
            </a:schemeClr>
          </a:solidFill>
          <a:ln w="19050">
            <a:solidFill>
              <a:schemeClr val="accent4"/>
            </a:solidFill>
            <a:prstDash val="solid"/>
          </a:ln>
        </p:spPr>
        <p:txBody>
          <a:bodyPr/>
          <a:lstStyle/>
          <a:p>
            <a:endParaRPr lang="en-GB"/>
          </a:p>
        </p:txBody>
      </p:sp>
      <p:sp>
        <p:nvSpPr>
          <p:cNvPr id="19" name="Text 16"/>
          <p:cNvSpPr txBox="1"/>
          <p:nvPr/>
        </p:nvSpPr>
        <p:spPr>
          <a:xfrm>
            <a:off x="10305288" y="2148840"/>
            <a:ext cx="1179576" cy="822960"/>
          </a:xfrm>
          <a:prstGeom prst="rect">
            <a:avLst/>
          </a:prstGeom>
          <a:noFill/>
          <a:ln/>
        </p:spPr>
        <p:txBody>
          <a:bodyPr wrap="square" lIns="0" tIns="0" rIns="0" bIns="0" rtlCol="0" anchor="ctr"/>
          <a:lstStyle/>
          <a:p>
            <a:pPr marL="0" indent="0" algn="ctr">
              <a:buNone/>
            </a:pPr>
            <a:r>
              <a:rPr lang="en-US" sz="1200" dirty="0">
                <a:solidFill>
                  <a:schemeClr val="tx1"/>
                </a:solidFill>
              </a:rPr>
              <a:t>Add to library → Library screen</a:t>
            </a:r>
            <a:endParaRPr lang="en-US" sz="1200" dirty="0"/>
          </a:p>
        </p:txBody>
      </p:sp>
      <p:sp>
        <p:nvSpPr>
          <p:cNvPr id="20" name="Connector"/>
          <p:cNvSpPr/>
          <p:nvPr/>
        </p:nvSpPr>
        <p:spPr>
          <a:xfrm>
            <a:off x="1956816" y="2560320"/>
            <a:ext cx="274320" cy="0"/>
          </a:xfrm>
          <a:prstGeom prst="line">
            <a:avLst/>
          </a:prstGeom>
          <a:noFill/>
          <a:ln w="19050">
            <a:solidFill>
              <a:schemeClr val="accent1"/>
            </a:solidFill>
            <a:prstDash val="solid"/>
            <a:tailEnd type="triangle"/>
          </a:ln>
        </p:spPr>
        <p:txBody>
          <a:bodyPr/>
          <a:lstStyle/>
          <a:p>
            <a:endParaRPr lang="en-GB"/>
          </a:p>
        </p:txBody>
      </p:sp>
      <p:sp>
        <p:nvSpPr>
          <p:cNvPr id="21" name="Connector"/>
          <p:cNvSpPr/>
          <p:nvPr/>
        </p:nvSpPr>
        <p:spPr>
          <a:xfrm>
            <a:off x="3557016" y="2560320"/>
            <a:ext cx="182880" cy="0"/>
          </a:xfrm>
          <a:prstGeom prst="line">
            <a:avLst/>
          </a:prstGeom>
          <a:noFill/>
          <a:ln w="19050">
            <a:solidFill>
              <a:schemeClr val="accent1"/>
            </a:solidFill>
            <a:prstDash val="solid"/>
            <a:tailEnd type="triangle"/>
          </a:ln>
        </p:spPr>
        <p:txBody>
          <a:bodyPr/>
          <a:lstStyle/>
          <a:p>
            <a:endParaRPr lang="en-GB"/>
          </a:p>
        </p:txBody>
      </p:sp>
      <p:sp>
        <p:nvSpPr>
          <p:cNvPr id="22" name="Connector"/>
          <p:cNvSpPr/>
          <p:nvPr/>
        </p:nvSpPr>
        <p:spPr>
          <a:xfrm>
            <a:off x="5248656" y="2560320"/>
            <a:ext cx="182880" cy="0"/>
          </a:xfrm>
          <a:prstGeom prst="line">
            <a:avLst/>
          </a:prstGeom>
          <a:noFill/>
          <a:ln w="19050">
            <a:solidFill>
              <a:schemeClr val="accent1"/>
            </a:solidFill>
            <a:prstDash val="solid"/>
            <a:tailEnd type="triangle"/>
          </a:ln>
        </p:spPr>
        <p:txBody>
          <a:bodyPr/>
          <a:lstStyle/>
          <a:p>
            <a:endParaRPr lang="en-GB"/>
          </a:p>
        </p:txBody>
      </p:sp>
      <p:sp>
        <p:nvSpPr>
          <p:cNvPr id="23" name="Connector"/>
          <p:cNvSpPr/>
          <p:nvPr/>
        </p:nvSpPr>
        <p:spPr>
          <a:xfrm>
            <a:off x="6757416" y="2560320"/>
            <a:ext cx="274320" cy="0"/>
          </a:xfrm>
          <a:prstGeom prst="line">
            <a:avLst/>
          </a:prstGeom>
          <a:noFill/>
          <a:ln w="19050">
            <a:solidFill>
              <a:schemeClr val="accent1"/>
            </a:solidFill>
            <a:prstDash val="solid"/>
            <a:tailEnd type="triangle"/>
          </a:ln>
        </p:spPr>
        <p:txBody>
          <a:bodyPr/>
          <a:lstStyle/>
          <a:p>
            <a:endParaRPr lang="en-GB"/>
          </a:p>
        </p:txBody>
      </p:sp>
      <p:sp>
        <p:nvSpPr>
          <p:cNvPr id="24" name="Connector"/>
          <p:cNvSpPr/>
          <p:nvPr/>
        </p:nvSpPr>
        <p:spPr>
          <a:xfrm>
            <a:off x="8357616" y="2560320"/>
            <a:ext cx="274320" cy="0"/>
          </a:xfrm>
          <a:prstGeom prst="line">
            <a:avLst/>
          </a:prstGeom>
          <a:noFill/>
          <a:ln w="19050">
            <a:solidFill>
              <a:schemeClr val="accent1"/>
            </a:solidFill>
            <a:prstDash val="solid"/>
            <a:tailEnd type="triangle"/>
          </a:ln>
        </p:spPr>
        <p:txBody>
          <a:bodyPr/>
          <a:lstStyle/>
          <a:p>
            <a:endParaRPr lang="en-GB"/>
          </a:p>
        </p:txBody>
      </p:sp>
      <p:sp>
        <p:nvSpPr>
          <p:cNvPr id="25" name="Connector"/>
          <p:cNvSpPr/>
          <p:nvPr/>
        </p:nvSpPr>
        <p:spPr>
          <a:xfrm>
            <a:off x="9957816" y="2560320"/>
            <a:ext cx="274320" cy="0"/>
          </a:xfrm>
          <a:prstGeom prst="line">
            <a:avLst/>
          </a:prstGeom>
          <a:noFill/>
          <a:ln w="19050">
            <a:solidFill>
              <a:schemeClr val="accent1"/>
            </a:solidFill>
            <a:prstDash val="solid"/>
            <a:tailEnd type="triangle"/>
          </a:ln>
        </p:spPr>
        <p:txBody>
          <a:bodyPr/>
          <a:lstStyle/>
          <a:p>
            <a:endParaRPr lang="en-GB"/>
          </a:p>
        </p:txBody>
      </p:sp>
      <p:sp>
        <p:nvSpPr>
          <p:cNvPr id="26" name="Text 23"/>
          <p:cNvSpPr txBox="1"/>
          <p:nvPr/>
        </p:nvSpPr>
        <p:spPr>
          <a:xfrm>
            <a:off x="5431536" y="1892808"/>
            <a:ext cx="548640" cy="201168"/>
          </a:xfrm>
          <a:prstGeom prst="rect">
            <a:avLst/>
          </a:prstGeom>
          <a:noFill/>
          <a:ln/>
        </p:spPr>
        <p:txBody>
          <a:bodyPr wrap="square" lIns="0" tIns="0" rIns="0" bIns="0" rtlCol="0" anchor="t"/>
          <a:lstStyle/>
          <a:p>
            <a:pPr marL="0" indent="0">
              <a:buNone/>
            </a:pPr>
            <a:r>
              <a:rPr lang="en-US" sz="1100" b="1" dirty="0">
                <a:solidFill>
                  <a:schemeClr val="accent4"/>
                </a:solidFill>
              </a:rPr>
              <a:t>Yes</a:t>
            </a:r>
            <a:endParaRPr lang="en-US" sz="1100" dirty="0"/>
          </a:p>
        </p:txBody>
      </p:sp>
      <p:sp>
        <p:nvSpPr>
          <p:cNvPr id="27" name="Connector"/>
          <p:cNvSpPr/>
          <p:nvPr/>
        </p:nvSpPr>
        <p:spPr>
          <a:xfrm>
            <a:off x="4494276" y="3246120"/>
            <a:ext cx="0" cy="411480"/>
          </a:xfrm>
          <a:prstGeom prst="line">
            <a:avLst/>
          </a:prstGeom>
          <a:noFill/>
          <a:ln w="19050">
            <a:solidFill>
              <a:schemeClr val="accent3"/>
            </a:solidFill>
            <a:prstDash val="solid"/>
            <a:tailEnd type="triangle"/>
          </a:ln>
        </p:spPr>
        <p:txBody>
          <a:bodyPr/>
          <a:lstStyle/>
          <a:p>
            <a:endParaRPr lang="en-GB"/>
          </a:p>
        </p:txBody>
      </p:sp>
      <p:sp>
        <p:nvSpPr>
          <p:cNvPr id="28" name="Text 25"/>
          <p:cNvSpPr txBox="1"/>
          <p:nvPr/>
        </p:nvSpPr>
        <p:spPr>
          <a:xfrm>
            <a:off x="4604004" y="3337560"/>
            <a:ext cx="914400" cy="201168"/>
          </a:xfrm>
          <a:prstGeom prst="rect">
            <a:avLst/>
          </a:prstGeom>
          <a:noFill/>
          <a:ln/>
        </p:spPr>
        <p:txBody>
          <a:bodyPr wrap="square" lIns="0" tIns="0" rIns="0" bIns="0" rtlCol="0" anchor="t"/>
          <a:lstStyle/>
          <a:p>
            <a:pPr marL="0" indent="0">
              <a:buNone/>
            </a:pPr>
            <a:r>
              <a:rPr lang="en-US" sz="1100" b="1" dirty="0">
                <a:solidFill>
                  <a:schemeClr val="accent3"/>
                </a:solidFill>
              </a:rPr>
              <a:t>No / error</a:t>
            </a:r>
            <a:endParaRPr lang="en-US" sz="1100" dirty="0"/>
          </a:p>
        </p:txBody>
      </p:sp>
      <p:sp>
        <p:nvSpPr>
          <p:cNvPr id="29" name="Error message 1"/>
          <p:cNvSpPr/>
          <p:nvPr/>
        </p:nvSpPr>
        <p:spPr>
          <a:xfrm>
            <a:off x="3840480" y="3657600"/>
            <a:ext cx="2560320" cy="1143000"/>
          </a:xfrm>
          <a:prstGeom prst="roundRect">
            <a:avLst>
              <a:gd name="adj" fmla="val 9600"/>
            </a:avLst>
          </a:prstGeom>
          <a:solidFill>
            <a:schemeClr val="accent3">
              <a:alpha val="15000"/>
            </a:schemeClr>
          </a:solidFill>
          <a:ln w="19050">
            <a:solidFill>
              <a:schemeClr val="accent3"/>
            </a:solidFill>
            <a:prstDash val="solid"/>
          </a:ln>
        </p:spPr>
        <p:txBody>
          <a:bodyPr/>
          <a:lstStyle/>
          <a:p>
            <a:endParaRPr lang="en-GB"/>
          </a:p>
        </p:txBody>
      </p:sp>
      <p:sp>
        <p:nvSpPr>
          <p:cNvPr id="30" name="Text 27"/>
          <p:cNvSpPr txBox="1"/>
          <p:nvPr/>
        </p:nvSpPr>
        <p:spPr>
          <a:xfrm>
            <a:off x="3950208" y="3657600"/>
            <a:ext cx="2340864" cy="1143000"/>
          </a:xfrm>
          <a:prstGeom prst="rect">
            <a:avLst/>
          </a:prstGeom>
          <a:noFill/>
          <a:ln/>
        </p:spPr>
        <p:txBody>
          <a:bodyPr wrap="square" lIns="0" tIns="0" rIns="0" bIns="0" rtlCol="0" anchor="ctr"/>
          <a:lstStyle/>
          <a:p>
            <a:pPr marL="0" indent="0" algn="ctr">
              <a:buNone/>
            </a:pPr>
            <a:r>
              <a:rPr lang="en-US" sz="1000" b="1" kern="0" spc="100" dirty="0">
                <a:solidFill>
                  <a:schemeClr val="accent3"/>
                </a:solidFill>
              </a:rPr>
              <a:t>ERROR PATH 1</a:t>
            </a:r>
            <a:endParaRPr lang="en-US" sz="1100" dirty="0"/>
          </a:p>
          <a:p>
            <a:pPr marL="0" indent="0" algn="ctr">
              <a:buNone/>
            </a:pPr>
            <a:r>
              <a:rPr lang="en-US" sz="1100" dirty="0">
                <a:solidFill>
                  <a:schemeClr val="tx1"/>
                </a:solidFill>
              </a:rPr>
              <a:t>“No local results. Try a different spelling, author name, or check connection.”</a:t>
            </a:r>
            <a:endParaRPr lang="en-US" sz="1100" dirty="0"/>
          </a:p>
        </p:txBody>
      </p:sp>
      <p:sp>
        <p:nvSpPr>
          <p:cNvPr id="31" name="Recovery action"/>
          <p:cNvSpPr/>
          <p:nvPr/>
        </p:nvSpPr>
        <p:spPr>
          <a:xfrm>
            <a:off x="3108960" y="5120640"/>
            <a:ext cx="1280160" cy="411480"/>
          </a:xfrm>
          <a:prstGeom prst="roundRect">
            <a:avLst>
              <a:gd name="adj" fmla="val 48889"/>
            </a:avLst>
          </a:prstGeom>
          <a:solidFill>
            <a:schemeClr val="bg2"/>
          </a:solidFill>
          <a:ln w="15875">
            <a:solidFill>
              <a:schemeClr val="accent1"/>
            </a:solidFill>
            <a:prstDash val="solid"/>
          </a:ln>
        </p:spPr>
        <p:txBody>
          <a:bodyPr/>
          <a:lstStyle/>
          <a:p>
            <a:endParaRPr lang="en-GB"/>
          </a:p>
        </p:txBody>
      </p:sp>
      <p:sp>
        <p:nvSpPr>
          <p:cNvPr id="32" name="Text 29"/>
          <p:cNvSpPr txBox="1"/>
          <p:nvPr/>
        </p:nvSpPr>
        <p:spPr>
          <a:xfrm>
            <a:off x="3108960" y="5120640"/>
            <a:ext cx="1280160" cy="411480"/>
          </a:xfrm>
          <a:prstGeom prst="rect">
            <a:avLst/>
          </a:prstGeom>
          <a:noFill/>
          <a:ln/>
        </p:spPr>
        <p:txBody>
          <a:bodyPr wrap="square" lIns="0" tIns="0" rIns="0" bIns="0" rtlCol="0" anchor="ctr"/>
          <a:lstStyle/>
          <a:p>
            <a:pPr marL="0" indent="0" algn="ctr">
              <a:buNone/>
            </a:pPr>
            <a:r>
              <a:rPr lang="en-US" sz="1100" b="1" dirty="0">
                <a:solidFill>
                  <a:schemeClr val="tx1"/>
                </a:solidFill>
              </a:rPr>
              <a:t>Retry</a:t>
            </a:r>
            <a:endParaRPr lang="en-US" sz="1100" dirty="0"/>
          </a:p>
        </p:txBody>
      </p:sp>
      <p:sp>
        <p:nvSpPr>
          <p:cNvPr id="33" name="Recovery action"/>
          <p:cNvSpPr/>
          <p:nvPr/>
        </p:nvSpPr>
        <p:spPr>
          <a:xfrm>
            <a:off x="4526280" y="5120640"/>
            <a:ext cx="1280160" cy="411480"/>
          </a:xfrm>
          <a:prstGeom prst="roundRect">
            <a:avLst>
              <a:gd name="adj" fmla="val 48889"/>
            </a:avLst>
          </a:prstGeom>
          <a:solidFill>
            <a:schemeClr val="bg2"/>
          </a:solidFill>
          <a:ln w="15875">
            <a:solidFill>
              <a:schemeClr val="accent1"/>
            </a:solidFill>
            <a:prstDash val="solid"/>
          </a:ln>
        </p:spPr>
        <p:txBody>
          <a:bodyPr/>
          <a:lstStyle/>
          <a:p>
            <a:endParaRPr lang="en-GB"/>
          </a:p>
        </p:txBody>
      </p:sp>
      <p:sp>
        <p:nvSpPr>
          <p:cNvPr id="34" name="Text 31"/>
          <p:cNvSpPr txBox="1"/>
          <p:nvPr/>
        </p:nvSpPr>
        <p:spPr>
          <a:xfrm>
            <a:off x="4526280" y="5120640"/>
            <a:ext cx="1280160" cy="411480"/>
          </a:xfrm>
          <a:prstGeom prst="rect">
            <a:avLst/>
          </a:prstGeom>
          <a:noFill/>
          <a:ln/>
        </p:spPr>
        <p:txBody>
          <a:bodyPr wrap="square" lIns="0" tIns="0" rIns="0" bIns="0" rtlCol="0" anchor="ctr"/>
          <a:lstStyle/>
          <a:p>
            <a:pPr marL="0" indent="0" algn="ctr">
              <a:buNone/>
            </a:pPr>
            <a:r>
              <a:rPr lang="en-US" sz="1100" b="1" dirty="0">
                <a:solidFill>
                  <a:schemeClr val="tx1"/>
                </a:solidFill>
              </a:rPr>
              <a:t>Search author</a:t>
            </a:r>
            <a:endParaRPr lang="en-US" sz="1100" dirty="0"/>
          </a:p>
        </p:txBody>
      </p:sp>
      <p:sp>
        <p:nvSpPr>
          <p:cNvPr id="35" name="Recovery action"/>
          <p:cNvSpPr/>
          <p:nvPr/>
        </p:nvSpPr>
        <p:spPr>
          <a:xfrm>
            <a:off x="5943600" y="5120640"/>
            <a:ext cx="1280160" cy="411480"/>
          </a:xfrm>
          <a:prstGeom prst="roundRect">
            <a:avLst>
              <a:gd name="adj" fmla="val 48889"/>
            </a:avLst>
          </a:prstGeom>
          <a:solidFill>
            <a:schemeClr val="bg2"/>
          </a:solidFill>
          <a:ln w="15875">
            <a:solidFill>
              <a:schemeClr val="accent1"/>
            </a:solidFill>
            <a:prstDash val="solid"/>
          </a:ln>
        </p:spPr>
        <p:txBody>
          <a:bodyPr/>
          <a:lstStyle/>
          <a:p>
            <a:endParaRPr lang="en-GB"/>
          </a:p>
        </p:txBody>
      </p:sp>
      <p:sp>
        <p:nvSpPr>
          <p:cNvPr id="36" name="Text 33"/>
          <p:cNvSpPr txBox="1"/>
          <p:nvPr/>
        </p:nvSpPr>
        <p:spPr>
          <a:xfrm>
            <a:off x="5943600" y="5120640"/>
            <a:ext cx="1280160" cy="411480"/>
          </a:xfrm>
          <a:prstGeom prst="rect">
            <a:avLst/>
          </a:prstGeom>
          <a:noFill/>
          <a:ln/>
        </p:spPr>
        <p:txBody>
          <a:bodyPr wrap="square" lIns="0" tIns="0" rIns="0" bIns="0" rtlCol="0" anchor="ctr"/>
          <a:lstStyle/>
          <a:p>
            <a:pPr marL="0" indent="0" algn="ctr">
              <a:buNone/>
            </a:pPr>
            <a:r>
              <a:rPr lang="en-US" sz="1100" b="1" dirty="0">
                <a:solidFill>
                  <a:schemeClr val="tx1"/>
                </a:solidFill>
              </a:rPr>
              <a:t>Browse categories</a:t>
            </a:r>
            <a:endParaRPr lang="en-US" sz="1100" dirty="0"/>
          </a:p>
        </p:txBody>
      </p:sp>
      <p:sp>
        <p:nvSpPr>
          <p:cNvPr id="37" name="Connector"/>
          <p:cNvSpPr/>
          <p:nvPr/>
        </p:nvSpPr>
        <p:spPr>
          <a:xfrm>
            <a:off x="5120640" y="4800600"/>
            <a:ext cx="0" cy="274320"/>
          </a:xfrm>
          <a:prstGeom prst="line">
            <a:avLst/>
          </a:prstGeom>
          <a:noFill/>
          <a:ln w="19050">
            <a:solidFill>
              <a:schemeClr val="accent3"/>
            </a:solidFill>
            <a:prstDash val="solid"/>
          </a:ln>
        </p:spPr>
        <p:txBody>
          <a:bodyPr/>
          <a:lstStyle/>
          <a:p>
            <a:endParaRPr lang="en-GB"/>
          </a:p>
        </p:txBody>
      </p:sp>
      <p:sp>
        <p:nvSpPr>
          <p:cNvPr id="38" name="Connector"/>
          <p:cNvSpPr/>
          <p:nvPr/>
        </p:nvSpPr>
        <p:spPr>
          <a:xfrm>
            <a:off x="3749040" y="4965192"/>
            <a:ext cx="2834640" cy="0"/>
          </a:xfrm>
          <a:prstGeom prst="line">
            <a:avLst/>
          </a:prstGeom>
          <a:noFill/>
          <a:ln w="19050">
            <a:solidFill>
              <a:schemeClr val="accent3"/>
            </a:solidFill>
            <a:prstDash val="solid"/>
          </a:ln>
        </p:spPr>
        <p:txBody>
          <a:bodyPr/>
          <a:lstStyle/>
          <a:p>
            <a:endParaRPr lang="en-GB"/>
          </a:p>
        </p:txBody>
      </p:sp>
      <p:sp>
        <p:nvSpPr>
          <p:cNvPr id="39" name="Connector"/>
          <p:cNvSpPr/>
          <p:nvPr/>
        </p:nvSpPr>
        <p:spPr>
          <a:xfrm>
            <a:off x="3749040" y="4965192"/>
            <a:ext cx="0" cy="155448"/>
          </a:xfrm>
          <a:prstGeom prst="line">
            <a:avLst/>
          </a:prstGeom>
          <a:noFill/>
          <a:ln w="19050">
            <a:solidFill>
              <a:schemeClr val="accent3"/>
            </a:solidFill>
            <a:prstDash val="solid"/>
          </a:ln>
        </p:spPr>
        <p:txBody>
          <a:bodyPr/>
          <a:lstStyle/>
          <a:p>
            <a:endParaRPr lang="en-GB"/>
          </a:p>
        </p:txBody>
      </p:sp>
      <p:sp>
        <p:nvSpPr>
          <p:cNvPr id="40" name="Connector"/>
          <p:cNvSpPr/>
          <p:nvPr/>
        </p:nvSpPr>
        <p:spPr>
          <a:xfrm>
            <a:off x="5166360" y="4965192"/>
            <a:ext cx="0" cy="155448"/>
          </a:xfrm>
          <a:prstGeom prst="line">
            <a:avLst/>
          </a:prstGeom>
          <a:noFill/>
          <a:ln w="19050">
            <a:solidFill>
              <a:schemeClr val="accent3"/>
            </a:solidFill>
            <a:prstDash val="solid"/>
          </a:ln>
        </p:spPr>
        <p:txBody>
          <a:bodyPr/>
          <a:lstStyle/>
          <a:p>
            <a:endParaRPr lang="en-GB"/>
          </a:p>
        </p:txBody>
      </p:sp>
      <p:sp>
        <p:nvSpPr>
          <p:cNvPr id="41" name="Connector"/>
          <p:cNvSpPr/>
          <p:nvPr/>
        </p:nvSpPr>
        <p:spPr>
          <a:xfrm>
            <a:off x="6583680" y="4965192"/>
            <a:ext cx="0" cy="155448"/>
          </a:xfrm>
          <a:prstGeom prst="line">
            <a:avLst/>
          </a:prstGeom>
          <a:noFill/>
          <a:ln w="19050">
            <a:solidFill>
              <a:schemeClr val="accent3"/>
            </a:solidFill>
            <a:prstDash val="solid"/>
          </a:ln>
        </p:spPr>
        <p:txBody>
          <a:bodyPr/>
          <a:lstStyle/>
          <a:p>
            <a:endParaRPr lang="en-GB"/>
          </a:p>
        </p:txBody>
      </p:sp>
      <p:sp>
        <p:nvSpPr>
          <p:cNvPr id="42" name="Connector"/>
          <p:cNvSpPr/>
          <p:nvPr/>
        </p:nvSpPr>
        <p:spPr>
          <a:xfrm flipH="1">
            <a:off x="2894076" y="5326380"/>
            <a:ext cx="214884" cy="0"/>
          </a:xfrm>
          <a:prstGeom prst="line">
            <a:avLst/>
          </a:prstGeom>
          <a:noFill/>
          <a:ln w="19050">
            <a:solidFill>
              <a:schemeClr val="accent3"/>
            </a:solidFill>
            <a:prstDash val="solid"/>
          </a:ln>
        </p:spPr>
        <p:txBody>
          <a:bodyPr/>
          <a:lstStyle/>
          <a:p>
            <a:endParaRPr lang="en-GB"/>
          </a:p>
        </p:txBody>
      </p:sp>
      <p:sp>
        <p:nvSpPr>
          <p:cNvPr id="43" name="Connector"/>
          <p:cNvSpPr/>
          <p:nvPr/>
        </p:nvSpPr>
        <p:spPr>
          <a:xfrm flipV="1">
            <a:off x="2894076" y="2990088"/>
            <a:ext cx="0" cy="2336292"/>
          </a:xfrm>
          <a:prstGeom prst="line">
            <a:avLst/>
          </a:prstGeom>
          <a:noFill/>
          <a:ln w="19050">
            <a:solidFill>
              <a:schemeClr val="accent3"/>
            </a:solidFill>
            <a:prstDash val="solid"/>
            <a:tailEnd type="triangle"/>
          </a:ln>
        </p:spPr>
        <p:txBody>
          <a:bodyPr/>
          <a:lstStyle/>
          <a:p>
            <a:endParaRPr lang="en-GB"/>
          </a:p>
        </p:txBody>
      </p:sp>
      <p:sp>
        <p:nvSpPr>
          <p:cNvPr id="44" name="Text 41"/>
          <p:cNvSpPr txBox="1"/>
          <p:nvPr/>
        </p:nvSpPr>
        <p:spPr>
          <a:xfrm>
            <a:off x="630936" y="5212080"/>
            <a:ext cx="2194560" cy="228600"/>
          </a:xfrm>
          <a:prstGeom prst="rect">
            <a:avLst/>
          </a:prstGeom>
          <a:noFill/>
          <a:ln/>
        </p:spPr>
        <p:txBody>
          <a:bodyPr wrap="square" lIns="0" tIns="0" rIns="0" bIns="0" rtlCol="0" anchor="t"/>
          <a:lstStyle/>
          <a:p>
            <a:pPr marL="0" indent="0" algn="r">
              <a:buNone/>
            </a:pPr>
            <a:r>
              <a:rPr lang="en-US" sz="1100" dirty="0">
                <a:solidFill>
                  <a:schemeClr val="accent2"/>
                </a:solidFill>
              </a:rPr>
              <a:t>All three loop back to Search</a:t>
            </a:r>
            <a:endParaRPr lang="en-US" sz="1100" dirty="0"/>
          </a:p>
        </p:txBody>
      </p:sp>
      <p:sp>
        <p:nvSpPr>
          <p:cNvPr id="45" name="Connector"/>
          <p:cNvSpPr/>
          <p:nvPr/>
        </p:nvSpPr>
        <p:spPr>
          <a:xfrm>
            <a:off x="9294876" y="2971800"/>
            <a:ext cx="0" cy="685800"/>
          </a:xfrm>
          <a:prstGeom prst="line">
            <a:avLst/>
          </a:prstGeom>
          <a:noFill/>
          <a:ln w="19050">
            <a:solidFill>
              <a:schemeClr val="accent3"/>
            </a:solidFill>
            <a:prstDash val="solid"/>
            <a:tailEnd type="triangle"/>
          </a:ln>
        </p:spPr>
        <p:txBody>
          <a:bodyPr/>
          <a:lstStyle/>
          <a:p>
            <a:endParaRPr lang="en-GB"/>
          </a:p>
        </p:txBody>
      </p:sp>
      <p:sp>
        <p:nvSpPr>
          <p:cNvPr id="46" name="Text 43"/>
          <p:cNvSpPr txBox="1"/>
          <p:nvPr/>
        </p:nvSpPr>
        <p:spPr>
          <a:xfrm>
            <a:off x="9404604" y="3383280"/>
            <a:ext cx="1188720" cy="201168"/>
          </a:xfrm>
          <a:prstGeom prst="rect">
            <a:avLst/>
          </a:prstGeom>
          <a:noFill/>
          <a:ln/>
        </p:spPr>
        <p:txBody>
          <a:bodyPr wrap="square" lIns="0" tIns="0" rIns="0" bIns="0" rtlCol="0" anchor="t"/>
          <a:lstStyle/>
          <a:p>
            <a:pPr marL="0" indent="0">
              <a:buNone/>
            </a:pPr>
            <a:r>
              <a:rPr lang="en-US" sz="1100" b="1" dirty="0">
                <a:solidFill>
                  <a:schemeClr val="accent3"/>
                </a:solidFill>
              </a:rPr>
              <a:t>Deep link fails</a:t>
            </a:r>
            <a:endParaRPr lang="en-US" sz="1100" dirty="0"/>
          </a:p>
        </p:txBody>
      </p:sp>
      <p:sp>
        <p:nvSpPr>
          <p:cNvPr id="47" name="Error toast"/>
          <p:cNvSpPr/>
          <p:nvPr/>
        </p:nvSpPr>
        <p:spPr>
          <a:xfrm>
            <a:off x="8106156" y="3657600"/>
            <a:ext cx="2377440" cy="1143000"/>
          </a:xfrm>
          <a:prstGeom prst="roundRect">
            <a:avLst>
              <a:gd name="adj" fmla="val 9600"/>
            </a:avLst>
          </a:prstGeom>
          <a:solidFill>
            <a:schemeClr val="accent3">
              <a:alpha val="15000"/>
            </a:schemeClr>
          </a:solidFill>
          <a:ln w="19050">
            <a:solidFill>
              <a:schemeClr val="accent3"/>
            </a:solidFill>
            <a:prstDash val="solid"/>
          </a:ln>
        </p:spPr>
        <p:txBody>
          <a:bodyPr/>
          <a:lstStyle/>
          <a:p>
            <a:endParaRPr lang="en-GB"/>
          </a:p>
        </p:txBody>
      </p:sp>
      <p:sp>
        <p:nvSpPr>
          <p:cNvPr id="48" name="Text 45"/>
          <p:cNvSpPr txBox="1"/>
          <p:nvPr/>
        </p:nvSpPr>
        <p:spPr>
          <a:xfrm>
            <a:off x="8215884" y="3657600"/>
            <a:ext cx="2157984" cy="1143000"/>
          </a:xfrm>
          <a:prstGeom prst="rect">
            <a:avLst/>
          </a:prstGeom>
          <a:noFill/>
          <a:ln/>
        </p:spPr>
        <p:txBody>
          <a:bodyPr wrap="square" lIns="0" tIns="0" rIns="0" bIns="0" rtlCol="0" anchor="ctr"/>
          <a:lstStyle/>
          <a:p>
            <a:pPr marL="0" indent="0" algn="ctr">
              <a:buNone/>
            </a:pPr>
            <a:r>
              <a:rPr lang="en-US" sz="1000" b="1" kern="0" spc="100" dirty="0">
                <a:solidFill>
                  <a:schemeClr val="accent3"/>
                </a:solidFill>
              </a:rPr>
              <a:t>ERROR PATH 2</a:t>
            </a:r>
            <a:endParaRPr lang="en-US" sz="1100" dirty="0"/>
          </a:p>
          <a:p>
            <a:pPr marL="0" indent="0" algn="ctr">
              <a:buNone/>
            </a:pPr>
            <a:r>
              <a:rPr lang="en-US" sz="1100" dirty="0">
                <a:solidFill>
                  <a:schemeClr val="tx1"/>
                </a:solidFill>
              </a:rPr>
              <a:t>Toast: “Couldn’t open seller. Copy link?”</a:t>
            </a:r>
            <a:endParaRPr lang="en-US" sz="1100" dirty="0"/>
          </a:p>
        </p:txBody>
      </p:sp>
      <p:sp>
        <p:nvSpPr>
          <p:cNvPr id="49" name="Recovery action"/>
          <p:cNvSpPr/>
          <p:nvPr/>
        </p:nvSpPr>
        <p:spPr>
          <a:xfrm>
            <a:off x="7923276" y="5120640"/>
            <a:ext cx="1280160" cy="411480"/>
          </a:xfrm>
          <a:prstGeom prst="roundRect">
            <a:avLst>
              <a:gd name="adj" fmla="val 48889"/>
            </a:avLst>
          </a:prstGeom>
          <a:solidFill>
            <a:schemeClr val="bg2"/>
          </a:solidFill>
          <a:ln w="15875">
            <a:solidFill>
              <a:schemeClr val="accent1"/>
            </a:solidFill>
            <a:prstDash val="solid"/>
          </a:ln>
        </p:spPr>
        <p:txBody>
          <a:bodyPr/>
          <a:lstStyle/>
          <a:p>
            <a:endParaRPr lang="en-GB"/>
          </a:p>
        </p:txBody>
      </p:sp>
      <p:sp>
        <p:nvSpPr>
          <p:cNvPr id="50" name="Text 47"/>
          <p:cNvSpPr txBox="1"/>
          <p:nvPr/>
        </p:nvSpPr>
        <p:spPr>
          <a:xfrm>
            <a:off x="7923276" y="5120640"/>
            <a:ext cx="1280160" cy="411480"/>
          </a:xfrm>
          <a:prstGeom prst="rect">
            <a:avLst/>
          </a:prstGeom>
          <a:noFill/>
          <a:ln/>
        </p:spPr>
        <p:txBody>
          <a:bodyPr wrap="square" lIns="0" tIns="0" rIns="0" bIns="0" rtlCol="0" anchor="ctr"/>
          <a:lstStyle/>
          <a:p>
            <a:pPr marL="0" indent="0" algn="ctr">
              <a:buNone/>
            </a:pPr>
            <a:r>
              <a:rPr lang="en-US" sz="1100" b="1" dirty="0">
                <a:solidFill>
                  <a:schemeClr val="tx1"/>
                </a:solidFill>
              </a:rPr>
              <a:t>Copy link</a:t>
            </a:r>
            <a:endParaRPr lang="en-US" sz="1100" dirty="0"/>
          </a:p>
        </p:txBody>
      </p:sp>
      <p:sp>
        <p:nvSpPr>
          <p:cNvPr id="51" name="Recovery action"/>
          <p:cNvSpPr/>
          <p:nvPr/>
        </p:nvSpPr>
        <p:spPr>
          <a:xfrm>
            <a:off x="9386316" y="5120640"/>
            <a:ext cx="1280160" cy="411480"/>
          </a:xfrm>
          <a:prstGeom prst="roundRect">
            <a:avLst>
              <a:gd name="adj" fmla="val 48889"/>
            </a:avLst>
          </a:prstGeom>
          <a:solidFill>
            <a:schemeClr val="bg2"/>
          </a:solidFill>
          <a:ln w="15875">
            <a:solidFill>
              <a:schemeClr val="accent1"/>
            </a:solidFill>
            <a:prstDash val="solid"/>
          </a:ln>
        </p:spPr>
        <p:txBody>
          <a:bodyPr/>
          <a:lstStyle/>
          <a:p>
            <a:endParaRPr lang="en-GB"/>
          </a:p>
        </p:txBody>
      </p:sp>
      <p:sp>
        <p:nvSpPr>
          <p:cNvPr id="52" name="Text 49"/>
          <p:cNvSpPr txBox="1"/>
          <p:nvPr/>
        </p:nvSpPr>
        <p:spPr>
          <a:xfrm>
            <a:off x="9386316" y="5120640"/>
            <a:ext cx="1280160" cy="411480"/>
          </a:xfrm>
          <a:prstGeom prst="rect">
            <a:avLst/>
          </a:prstGeom>
          <a:noFill/>
          <a:ln/>
        </p:spPr>
        <p:txBody>
          <a:bodyPr wrap="square" lIns="0" tIns="0" rIns="0" bIns="0" rtlCol="0" anchor="ctr"/>
          <a:lstStyle/>
          <a:p>
            <a:pPr marL="0" indent="0" algn="ctr">
              <a:buNone/>
            </a:pPr>
            <a:r>
              <a:rPr lang="en-US" sz="1100" b="1" dirty="0">
                <a:solidFill>
                  <a:schemeClr val="tx1"/>
                </a:solidFill>
              </a:rPr>
              <a:t>Dismiss</a:t>
            </a:r>
            <a:endParaRPr lang="en-US" sz="1100" dirty="0"/>
          </a:p>
        </p:txBody>
      </p:sp>
      <p:sp>
        <p:nvSpPr>
          <p:cNvPr id="53" name="Connector"/>
          <p:cNvSpPr/>
          <p:nvPr/>
        </p:nvSpPr>
        <p:spPr>
          <a:xfrm>
            <a:off x="9294876" y="4800600"/>
            <a:ext cx="0" cy="164592"/>
          </a:xfrm>
          <a:prstGeom prst="line">
            <a:avLst/>
          </a:prstGeom>
          <a:noFill/>
          <a:ln w="19050">
            <a:solidFill>
              <a:schemeClr val="accent3"/>
            </a:solidFill>
            <a:prstDash val="solid"/>
          </a:ln>
        </p:spPr>
        <p:txBody>
          <a:bodyPr/>
          <a:lstStyle/>
          <a:p>
            <a:endParaRPr lang="en-GB"/>
          </a:p>
        </p:txBody>
      </p:sp>
      <p:sp>
        <p:nvSpPr>
          <p:cNvPr id="54" name="Connector"/>
          <p:cNvSpPr/>
          <p:nvPr/>
        </p:nvSpPr>
        <p:spPr>
          <a:xfrm>
            <a:off x="8563356" y="4965192"/>
            <a:ext cx="1463040" cy="0"/>
          </a:xfrm>
          <a:prstGeom prst="line">
            <a:avLst/>
          </a:prstGeom>
          <a:noFill/>
          <a:ln w="19050">
            <a:solidFill>
              <a:schemeClr val="accent3"/>
            </a:solidFill>
            <a:prstDash val="solid"/>
          </a:ln>
        </p:spPr>
        <p:txBody>
          <a:bodyPr/>
          <a:lstStyle/>
          <a:p>
            <a:endParaRPr lang="en-GB"/>
          </a:p>
        </p:txBody>
      </p:sp>
      <p:sp>
        <p:nvSpPr>
          <p:cNvPr id="55" name="Connector"/>
          <p:cNvSpPr/>
          <p:nvPr/>
        </p:nvSpPr>
        <p:spPr>
          <a:xfrm>
            <a:off x="8563356" y="4965192"/>
            <a:ext cx="0" cy="155448"/>
          </a:xfrm>
          <a:prstGeom prst="line">
            <a:avLst/>
          </a:prstGeom>
          <a:noFill/>
          <a:ln w="19050">
            <a:solidFill>
              <a:schemeClr val="accent3"/>
            </a:solidFill>
            <a:prstDash val="solid"/>
          </a:ln>
        </p:spPr>
        <p:txBody>
          <a:bodyPr/>
          <a:lstStyle/>
          <a:p>
            <a:endParaRPr lang="en-GB"/>
          </a:p>
        </p:txBody>
      </p:sp>
      <p:sp>
        <p:nvSpPr>
          <p:cNvPr id="56" name="Connector"/>
          <p:cNvSpPr/>
          <p:nvPr/>
        </p:nvSpPr>
        <p:spPr>
          <a:xfrm>
            <a:off x="10026396" y="4965192"/>
            <a:ext cx="0" cy="155448"/>
          </a:xfrm>
          <a:prstGeom prst="line">
            <a:avLst/>
          </a:prstGeom>
          <a:noFill/>
          <a:ln w="19050">
            <a:solidFill>
              <a:schemeClr val="accent3"/>
            </a:solidFill>
            <a:prstDash val="solid"/>
          </a:ln>
        </p:spPr>
        <p:txBody>
          <a:bodyPr/>
          <a:lstStyle/>
          <a:p>
            <a:endParaRPr lang="en-GB"/>
          </a:p>
        </p:txBody>
      </p:sp>
      <p:sp>
        <p:nvSpPr>
          <p:cNvPr id="57" name="Text 54"/>
          <p:cNvSpPr txBox="1"/>
          <p:nvPr/>
        </p:nvSpPr>
        <p:spPr>
          <a:xfrm>
            <a:off x="640080" y="5852160"/>
            <a:ext cx="10908792" cy="365760"/>
          </a:xfrm>
          <a:prstGeom prst="rect">
            <a:avLst/>
          </a:prstGeom>
          <a:noFill/>
          <a:ln/>
        </p:spPr>
        <p:txBody>
          <a:bodyPr wrap="square" lIns="0" tIns="0" rIns="0" bIns="0" rtlCol="0" anchor="ctr"/>
          <a:lstStyle/>
          <a:p>
            <a:pPr marL="0" indent="0" algn="ctr">
              <a:buNone/>
            </a:pPr>
            <a:r>
              <a:rPr lang="en-US" sz="1400" b="1" dirty="0">
                <a:solidFill>
                  <a:schemeClr val="accent2"/>
                </a:solidFill>
              </a:rPr>
              <a:t>Happy path (6 steps)</a:t>
            </a:r>
            <a:r>
              <a:rPr lang="en-US" sz="1400" dirty="0">
                <a:solidFill>
                  <a:schemeClr val="accent2"/>
                </a:solidFill>
              </a:rPr>
              <a:t>  →  </a:t>
            </a:r>
            <a:r>
              <a:rPr lang="en-US" sz="1400" b="1" dirty="0">
                <a:solidFill>
                  <a:schemeClr val="accent2"/>
                </a:solidFill>
              </a:rPr>
              <a:t>Error path 1 (no results)</a:t>
            </a:r>
            <a:r>
              <a:rPr lang="en-US" sz="1400" dirty="0">
                <a:solidFill>
                  <a:schemeClr val="accent2"/>
                </a:solidFill>
              </a:rPr>
              <a:t>  →  </a:t>
            </a:r>
            <a:r>
              <a:rPr lang="en-US" sz="1400" b="1" dirty="0">
                <a:solidFill>
                  <a:schemeClr val="accent2"/>
                </a:solidFill>
              </a:rPr>
              <a:t>Error path 2 (seller link fails).</a:t>
            </a:r>
            <a:r>
              <a:rPr lang="en-US" sz="1400" dirty="0">
                <a:solidFill>
                  <a:schemeClr val="accent2"/>
                </a:solidFill>
              </a:rPr>
              <a:t>  No dead ends.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280160"/>
            <a:ext cx="4572000" cy="1463040"/>
          </a:xfrm>
          <a:prstGeom prst="rect">
            <a:avLst/>
          </a:prstGeom>
          <a:noFill/>
          <a:ln/>
        </p:spPr>
        <p:txBody>
          <a:bodyPr wrap="square" lIns="0" tIns="0" rIns="0" bIns="0" rtlCol="0" anchor="ctr"/>
          <a:lstStyle/>
          <a:p>
            <a:pPr marL="0" indent="0" algn="l">
              <a:buNone/>
            </a:pPr>
            <a:r>
              <a:rPr lang="en-US" sz="9600" b="1" dirty="0">
                <a:solidFill>
                  <a:schemeClr val="accent1"/>
                </a:solidFill>
              </a:rPr>
              <a:t>06</a:t>
            </a:r>
            <a:endParaRPr lang="en-US" sz="9600" dirty="0"/>
          </a:p>
        </p:txBody>
      </p:sp>
      <p:sp>
        <p:nvSpPr>
          <p:cNvPr id="3" name="Text 1"/>
          <p:cNvSpPr>
            <a:spLocks noGrp="1"/>
          </p:cNvSpPr>
          <p:nvPr>
            <p:ph type="title" idx="102" hasCustomPrompt="1"/>
          </p:nvPr>
        </p:nvSpPr>
        <p:spPr>
          <a:xfrm>
            <a:off x="822960" y="3108960"/>
            <a:ext cx="5852160" cy="2194560"/>
          </a:xfrm>
          <a:prstGeom prst="rect">
            <a:avLst/>
          </a:prstGeom>
          <a:noFill/>
          <a:ln/>
        </p:spPr>
        <p:txBody>
          <a:bodyPr wrap="square" lIns="0" tIns="0" rIns="0" bIns="0" rtlCol="0" anchor="t"/>
          <a:lstStyle/>
          <a:p>
            <a:pPr marL="0" indent="0" algn="l">
              <a:buNone/>
            </a:pPr>
            <a:r>
              <a:rPr lang="en-US" sz="4400" b="1" dirty="0">
                <a:solidFill>
                  <a:schemeClr val="tx1"/>
                </a:solidFill>
              </a:rPr>
              <a:t>Wireframes &amp; Usability Heuristics</a:t>
            </a:r>
            <a:endParaRPr lang="en-US" sz="4400" dirty="0"/>
          </a:p>
        </p:txBody>
      </p:sp>
      <p:sp>
        <p:nvSpPr>
          <p:cNvPr id="4" name="Text 1"/>
          <p:cNvSpPr>
            <a:spLocks noGrp="1"/>
          </p:cNvSpPr>
          <p:nvPr>
            <p:ph type="body" idx="103" hasCustomPrompt="1"/>
          </p:nvPr>
        </p:nvSpPr>
        <p:spPr>
          <a:xfrm>
            <a:off x="822960" y="5577840"/>
            <a:ext cx="5852160" cy="274320"/>
          </a:xfrm>
          <a:prstGeom prst="rect">
            <a:avLst/>
          </a:prstGeom>
          <a:noFill/>
          <a:ln/>
        </p:spPr>
        <p:txBody>
          <a:bodyPr wrap="square" lIns="0" tIns="0" rIns="0" bIns="0" rtlCol="0" anchor="ctr"/>
          <a:lstStyle/>
          <a:p>
            <a:pPr marL="0" indent="0" algn="l">
              <a:buNone/>
            </a:pPr>
            <a:r>
              <a:rPr lang="en-US" sz="1400" b="1" kern="0" spc="150" dirty="0">
                <a:solidFill>
                  <a:schemeClr val="accent2"/>
                </a:solidFill>
              </a:rPr>
              <a:t>PRESENTER  ·  HOZYFA BATISHA  ·  ~8 MIN</a:t>
            </a:r>
            <a:endParaRPr lang="en-US" sz="1400" dirty="0"/>
          </a:p>
        </p:txBody>
      </p:sp>
      <p:sp>
        <p:nvSpPr>
          <p:cNvPr id="6" name="Text 3"/>
          <p:cNvSpPr txBox="1"/>
          <p:nvPr/>
        </p:nvSpPr>
        <p:spPr>
          <a:xfrm>
            <a:off x="7223760" y="1325880"/>
            <a:ext cx="4297680" cy="228600"/>
          </a:xfrm>
          <a:prstGeom prst="rect">
            <a:avLst/>
          </a:prstGeom>
          <a:noFill/>
          <a:ln/>
        </p:spPr>
        <p:txBody>
          <a:bodyPr wrap="square" lIns="0" tIns="0" rIns="0" bIns="0" rtlCol="0" anchor="t"/>
          <a:lstStyle/>
          <a:p>
            <a:pPr marL="0" indent="0">
              <a:buNone/>
            </a:pPr>
            <a:r>
              <a:rPr lang="en-US" sz="1200" b="1" kern="0" spc="150" dirty="0">
                <a:solidFill>
                  <a:schemeClr val="accent2"/>
                </a:solidFill>
              </a:rPr>
              <a:t>AGENDA</a:t>
            </a:r>
            <a:endParaRPr lang="en-US" sz="1200" dirty="0"/>
          </a:p>
        </p:txBody>
      </p:sp>
      <p:sp>
        <p:nvSpPr>
          <p:cNvPr id="7" name="Text 4"/>
          <p:cNvSpPr txBox="1"/>
          <p:nvPr/>
        </p:nvSpPr>
        <p:spPr>
          <a:xfrm>
            <a:off x="7406640" y="169164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01</a:t>
            </a:r>
            <a:endParaRPr lang="en-US" sz="1600" dirty="0"/>
          </a:p>
        </p:txBody>
      </p:sp>
      <p:sp>
        <p:nvSpPr>
          <p:cNvPr id="8" name="Text 5"/>
          <p:cNvSpPr txBox="1"/>
          <p:nvPr/>
        </p:nvSpPr>
        <p:spPr>
          <a:xfrm>
            <a:off x="7955280" y="169164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Why User-Centred Design?</a:t>
            </a:r>
            <a:endParaRPr lang="en-US" sz="1600" dirty="0"/>
          </a:p>
        </p:txBody>
      </p:sp>
      <p:sp>
        <p:nvSpPr>
          <p:cNvPr id="9" name="Text 6"/>
          <p:cNvSpPr txBox="1"/>
          <p:nvPr/>
        </p:nvSpPr>
        <p:spPr>
          <a:xfrm>
            <a:off x="7406640" y="233172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02</a:t>
            </a:r>
            <a:endParaRPr lang="en-US" sz="1600" dirty="0"/>
          </a:p>
        </p:txBody>
      </p:sp>
      <p:sp>
        <p:nvSpPr>
          <p:cNvPr id="10" name="Text 7"/>
          <p:cNvSpPr txBox="1"/>
          <p:nvPr/>
        </p:nvSpPr>
        <p:spPr>
          <a:xfrm>
            <a:off x="7955280" y="233172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Users, Stakeholders &amp; Research</a:t>
            </a:r>
            <a:endParaRPr lang="en-US" sz="1600" dirty="0"/>
          </a:p>
        </p:txBody>
      </p:sp>
      <p:sp>
        <p:nvSpPr>
          <p:cNvPr id="11" name="Text 8"/>
          <p:cNvSpPr txBox="1"/>
          <p:nvPr/>
        </p:nvSpPr>
        <p:spPr>
          <a:xfrm>
            <a:off x="7406640" y="297180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03</a:t>
            </a:r>
            <a:endParaRPr lang="en-US" sz="1600" dirty="0"/>
          </a:p>
        </p:txBody>
      </p:sp>
      <p:sp>
        <p:nvSpPr>
          <p:cNvPr id="12" name="Text 9"/>
          <p:cNvSpPr txBox="1"/>
          <p:nvPr/>
        </p:nvSpPr>
        <p:spPr>
          <a:xfrm>
            <a:off x="7955280" y="297180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Personas</a:t>
            </a:r>
            <a:endParaRPr lang="en-US" sz="1600" dirty="0"/>
          </a:p>
        </p:txBody>
      </p:sp>
      <p:sp>
        <p:nvSpPr>
          <p:cNvPr id="13" name="Text 10"/>
          <p:cNvSpPr txBox="1"/>
          <p:nvPr/>
        </p:nvSpPr>
        <p:spPr>
          <a:xfrm>
            <a:off x="7406640" y="361188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04</a:t>
            </a:r>
            <a:endParaRPr lang="en-US" sz="1600" dirty="0"/>
          </a:p>
        </p:txBody>
      </p:sp>
      <p:sp>
        <p:nvSpPr>
          <p:cNvPr id="14" name="Text 11"/>
          <p:cNvSpPr txBox="1"/>
          <p:nvPr/>
        </p:nvSpPr>
        <p:spPr>
          <a:xfrm>
            <a:off x="7955280" y="361188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User Stories &amp; Acceptance Criteria</a:t>
            </a:r>
            <a:endParaRPr lang="en-US" sz="1600" dirty="0"/>
          </a:p>
        </p:txBody>
      </p:sp>
      <p:sp>
        <p:nvSpPr>
          <p:cNvPr id="15" name="Text 12"/>
          <p:cNvSpPr txBox="1"/>
          <p:nvPr/>
        </p:nvSpPr>
        <p:spPr>
          <a:xfrm>
            <a:off x="7406640" y="425196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05</a:t>
            </a:r>
            <a:endParaRPr lang="en-US" sz="1600" dirty="0"/>
          </a:p>
        </p:txBody>
      </p:sp>
      <p:sp>
        <p:nvSpPr>
          <p:cNvPr id="16" name="Text 13"/>
          <p:cNvSpPr txBox="1"/>
          <p:nvPr/>
        </p:nvSpPr>
        <p:spPr>
          <a:xfrm>
            <a:off x="7955280" y="425196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Problem Statement &amp; User Flow</a:t>
            </a:r>
            <a:endParaRPr lang="en-US" sz="1600" dirty="0"/>
          </a:p>
        </p:txBody>
      </p:sp>
      <p:sp>
        <p:nvSpPr>
          <p:cNvPr id="17" name="Current section"/>
          <p:cNvSpPr/>
          <p:nvPr/>
        </p:nvSpPr>
        <p:spPr>
          <a:xfrm>
            <a:off x="7223760" y="4837176"/>
            <a:ext cx="4325112" cy="548640"/>
          </a:xfrm>
          <a:prstGeom prst="roundRect">
            <a:avLst>
              <a:gd name="adj" fmla="val 20000"/>
            </a:avLst>
          </a:prstGeom>
          <a:solidFill>
            <a:schemeClr val="bg2"/>
          </a:solidFill>
          <a:ln w="15875">
            <a:solidFill>
              <a:schemeClr val="accent1"/>
            </a:solidFill>
            <a:prstDash val="solid"/>
          </a:ln>
        </p:spPr>
        <p:txBody>
          <a:bodyPr/>
          <a:lstStyle/>
          <a:p>
            <a:endParaRPr lang="en-GB"/>
          </a:p>
        </p:txBody>
      </p:sp>
      <p:sp>
        <p:nvSpPr>
          <p:cNvPr id="18" name="Text 15"/>
          <p:cNvSpPr txBox="1"/>
          <p:nvPr/>
        </p:nvSpPr>
        <p:spPr>
          <a:xfrm>
            <a:off x="7406640" y="4892040"/>
            <a:ext cx="457200" cy="438912"/>
          </a:xfrm>
          <a:prstGeom prst="rect">
            <a:avLst/>
          </a:prstGeom>
          <a:noFill/>
          <a:ln/>
        </p:spPr>
        <p:txBody>
          <a:bodyPr wrap="square" lIns="0" tIns="0" rIns="0" bIns="0" rtlCol="0" anchor="ctr"/>
          <a:lstStyle/>
          <a:p>
            <a:pPr marL="0" indent="0">
              <a:buNone/>
            </a:pPr>
            <a:r>
              <a:rPr lang="en-US" sz="1600" b="1" dirty="0">
                <a:solidFill>
                  <a:schemeClr val="accent1"/>
                </a:solidFill>
              </a:rPr>
              <a:t>06</a:t>
            </a:r>
            <a:endParaRPr lang="en-US" sz="1600" dirty="0"/>
          </a:p>
        </p:txBody>
      </p:sp>
      <p:sp>
        <p:nvSpPr>
          <p:cNvPr id="19" name="Text 16"/>
          <p:cNvSpPr txBox="1"/>
          <p:nvPr/>
        </p:nvSpPr>
        <p:spPr>
          <a:xfrm>
            <a:off x="7955280" y="4892040"/>
            <a:ext cx="3474720" cy="438912"/>
          </a:xfrm>
          <a:prstGeom prst="rect">
            <a:avLst/>
          </a:prstGeom>
          <a:noFill/>
          <a:ln/>
        </p:spPr>
        <p:txBody>
          <a:bodyPr wrap="square" lIns="0" tIns="0" rIns="0" bIns="0" rtlCol="0" anchor="ctr"/>
          <a:lstStyle/>
          <a:p>
            <a:pPr marL="0" indent="0">
              <a:buNone/>
            </a:pPr>
            <a:r>
              <a:rPr lang="en-US" sz="1600" b="1" dirty="0">
                <a:solidFill>
                  <a:schemeClr val="tx1"/>
                </a:solidFill>
              </a:rPr>
              <a:t>Wireframes &amp; Usability Heuristics</a:t>
            </a:r>
            <a:endParaRPr lang="en-US" sz="1600" dirty="0"/>
          </a:p>
        </p:txBody>
      </p:sp>
      <p:sp>
        <p:nvSpPr>
          <p:cNvPr id="20" name="Text 17"/>
          <p:cNvSpPr txBox="1"/>
          <p:nvPr/>
        </p:nvSpPr>
        <p:spPr>
          <a:xfrm>
            <a:off x="7406640" y="553212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07</a:t>
            </a:r>
            <a:endParaRPr lang="en-US" sz="1600" dirty="0"/>
          </a:p>
        </p:txBody>
      </p:sp>
      <p:sp>
        <p:nvSpPr>
          <p:cNvPr id="21" name="Text 18"/>
          <p:cNvSpPr txBox="1"/>
          <p:nvPr/>
        </p:nvSpPr>
        <p:spPr>
          <a:xfrm>
            <a:off x="7955280" y="553212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Accessibility</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06 · WIREFRAMES &amp; USABILITY HEURISTICS</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Low-Fidelity vs High-Fidelity Wireframes</a:t>
            </a:r>
            <a:endParaRPr lang="en-US" sz="3200" dirty="0"/>
          </a:p>
        </p:txBody>
      </p:sp>
      <p:sp>
        <p:nvSpPr>
          <p:cNvPr id="5" name="LOW-FIDELITY card"/>
          <p:cNvSpPr/>
          <p:nvPr/>
        </p:nvSpPr>
        <p:spPr>
          <a:xfrm>
            <a:off x="640080" y="1554480"/>
            <a:ext cx="5349240" cy="3931920"/>
          </a:xfrm>
          <a:prstGeom prst="roundRect">
            <a:avLst>
              <a:gd name="adj" fmla="val 2791"/>
            </a:avLst>
          </a:prstGeom>
          <a:solidFill>
            <a:schemeClr val="bg2"/>
          </a:solidFill>
          <a:ln w="9525">
            <a:solidFill>
              <a:schemeClr val="tx2"/>
            </a:solidFill>
            <a:prstDash val="solid"/>
          </a:ln>
        </p:spPr>
        <p:txBody>
          <a:bodyPr/>
          <a:lstStyle/>
          <a:p>
            <a:endParaRPr lang="en-GB"/>
          </a:p>
        </p:txBody>
      </p:sp>
      <p:sp>
        <p:nvSpPr>
          <p:cNvPr id="6" name="Icon circle"/>
          <p:cNvSpPr/>
          <p:nvPr/>
        </p:nvSpPr>
        <p:spPr>
          <a:xfrm>
            <a:off x="914400" y="1783080"/>
            <a:ext cx="640080" cy="640080"/>
          </a:xfrm>
          <a:prstGeom prst="ellipse">
            <a:avLst/>
          </a:prstGeom>
          <a:solidFill>
            <a:schemeClr val="tx2"/>
          </a:solidFill>
          <a:ln w="12700">
            <a:solidFill>
              <a:schemeClr val="accent1"/>
            </a:solidFill>
            <a:prstDash val="solid"/>
          </a:ln>
        </p:spPr>
        <p:txBody>
          <a:bodyPr/>
          <a:lstStyle/>
          <a:p>
            <a:endParaRPr lang="en-GB"/>
          </a:p>
        </p:txBody>
      </p:sp>
      <p:pic>
        <p:nvPicPr>
          <p:cNvPr id="7" name="Image 0" descr="LOW-FIDELITY icon"/>
          <p:cNvPicPr>
            <a:picLocks noChangeAspect="1"/>
          </p:cNvPicPr>
          <p:nvPr/>
        </p:nvPicPr>
        <p:blipFill>
          <a:blip r:embed="rId3"/>
          <a:stretch>
            <a:fillRect/>
          </a:stretch>
        </p:blipFill>
        <p:spPr>
          <a:xfrm>
            <a:off x="1069848" y="1938528"/>
            <a:ext cx="329184" cy="329184"/>
          </a:xfrm>
          <a:prstGeom prst="rect">
            <a:avLst/>
          </a:prstGeom>
        </p:spPr>
      </p:pic>
      <p:sp>
        <p:nvSpPr>
          <p:cNvPr id="8" name="Text 4"/>
          <p:cNvSpPr txBox="1"/>
          <p:nvPr/>
        </p:nvSpPr>
        <p:spPr>
          <a:xfrm>
            <a:off x="1737360" y="1783080"/>
            <a:ext cx="3931920" cy="640080"/>
          </a:xfrm>
          <a:prstGeom prst="rect">
            <a:avLst/>
          </a:prstGeom>
          <a:noFill/>
          <a:ln/>
        </p:spPr>
        <p:txBody>
          <a:bodyPr wrap="square" lIns="0" tIns="0" rIns="0" bIns="0" rtlCol="0" anchor="ctr"/>
          <a:lstStyle/>
          <a:p>
            <a:pPr marL="0" indent="0">
              <a:buNone/>
            </a:pPr>
            <a:r>
              <a:rPr lang="en-US" sz="2400" b="1" dirty="0">
                <a:solidFill>
                  <a:schemeClr val="accent1"/>
                </a:solidFill>
              </a:rPr>
              <a:t>LOW-FIDELITY</a:t>
            </a:r>
            <a:endParaRPr lang="en-US" sz="2400" dirty="0"/>
          </a:p>
        </p:txBody>
      </p:sp>
      <p:sp>
        <p:nvSpPr>
          <p:cNvPr id="9" name="Text 5"/>
          <p:cNvSpPr txBox="1"/>
          <p:nvPr/>
        </p:nvSpPr>
        <p:spPr>
          <a:xfrm>
            <a:off x="914400" y="2697480"/>
            <a:ext cx="4800600" cy="269748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rPr>
              <a:t>Visuals: </a:t>
            </a:r>
            <a:r>
              <a:rPr lang="en-US" sz="1600" dirty="0">
                <a:solidFill>
                  <a:schemeClr val="tx1"/>
                </a:solidFill>
              </a:rPr>
              <a:t>boxes, labels, placeholders — no colour or branding</a:t>
            </a:r>
            <a:endParaRPr lang="en-US" sz="1600" dirty="0"/>
          </a:p>
          <a:p>
            <a:pPr marL="228600" indent="-228600">
              <a:spcAft>
                <a:spcPts val="800"/>
              </a:spcAft>
              <a:buSzPct val="100000"/>
              <a:buChar char="•"/>
            </a:pPr>
            <a:r>
              <a:rPr lang="en-US" sz="1600" b="1" dirty="0">
                <a:solidFill>
                  <a:schemeClr val="tx1"/>
                </a:solidFill>
              </a:rPr>
              <a:t>Speed: </a:t>
            </a:r>
            <a:r>
              <a:rPr lang="en-US" sz="1600" dirty="0">
                <a:solidFill>
                  <a:schemeClr val="tx1"/>
                </a:solidFill>
              </a:rPr>
              <a:t>fast and cheap to change (minutes)</a:t>
            </a:r>
            <a:endParaRPr lang="en-US" sz="1600" dirty="0"/>
          </a:p>
          <a:p>
            <a:pPr marL="228600" indent="-228600">
              <a:spcAft>
                <a:spcPts val="800"/>
              </a:spcAft>
              <a:buSzPct val="100000"/>
              <a:buChar char="•"/>
            </a:pPr>
            <a:r>
              <a:rPr lang="en-US" sz="1600" b="1" dirty="0">
                <a:solidFill>
                  <a:schemeClr val="tx1"/>
                </a:solidFill>
              </a:rPr>
              <a:t>Focus: </a:t>
            </a:r>
            <a:r>
              <a:rPr lang="en-US" sz="1600" dirty="0">
                <a:solidFill>
                  <a:schemeClr val="tx1"/>
                </a:solidFill>
              </a:rPr>
              <a:t>layout, flow, structure, information architecture</a:t>
            </a:r>
            <a:endParaRPr lang="en-US" sz="1600" dirty="0"/>
          </a:p>
          <a:p>
            <a:pPr marL="228600" indent="-228600">
              <a:spcAft>
                <a:spcPts val="800"/>
              </a:spcAft>
              <a:buSzPct val="100000"/>
              <a:buChar char="•"/>
            </a:pPr>
            <a:r>
              <a:rPr lang="en-US" sz="1600" b="1" dirty="0">
                <a:solidFill>
                  <a:schemeClr val="tx1"/>
                </a:solidFill>
              </a:rPr>
              <a:t>Use: </a:t>
            </a:r>
            <a:r>
              <a:rPr lang="en-US" sz="1600" dirty="0">
                <a:solidFill>
                  <a:schemeClr val="tx1"/>
                </a:solidFill>
              </a:rPr>
              <a:t>early exploration, flow testing, stakeholder alignment</a:t>
            </a:r>
            <a:endParaRPr lang="en-US" sz="1600" dirty="0"/>
          </a:p>
          <a:p>
            <a:pPr marL="228600" indent="-228600">
              <a:spcAft>
                <a:spcPts val="800"/>
              </a:spcAft>
              <a:buSzPct val="100000"/>
              <a:buChar char="•"/>
            </a:pPr>
            <a:r>
              <a:rPr lang="en-US" sz="1600" b="1" dirty="0">
                <a:solidFill>
                  <a:schemeClr val="tx1"/>
                </a:solidFill>
              </a:rPr>
              <a:t>Tools: </a:t>
            </a:r>
            <a:r>
              <a:rPr lang="en-US" sz="1600" dirty="0">
                <a:solidFill>
                  <a:schemeClr val="tx1"/>
                </a:solidFill>
              </a:rPr>
              <a:t>paper, whiteboard, Figma wireframe mode, draw.io</a:t>
            </a:r>
            <a:endParaRPr lang="en-US" sz="1600" dirty="0"/>
          </a:p>
        </p:txBody>
      </p:sp>
      <p:sp>
        <p:nvSpPr>
          <p:cNvPr id="10" name="HIGH-FIDELITY card"/>
          <p:cNvSpPr/>
          <p:nvPr/>
        </p:nvSpPr>
        <p:spPr>
          <a:xfrm>
            <a:off x="6199632" y="1554480"/>
            <a:ext cx="5349240" cy="3931920"/>
          </a:xfrm>
          <a:prstGeom prst="roundRect">
            <a:avLst>
              <a:gd name="adj" fmla="val 2791"/>
            </a:avLst>
          </a:prstGeom>
          <a:solidFill>
            <a:schemeClr val="bg2"/>
          </a:solidFill>
          <a:ln w="9525">
            <a:solidFill>
              <a:schemeClr val="tx2"/>
            </a:solidFill>
            <a:prstDash val="solid"/>
          </a:ln>
        </p:spPr>
        <p:txBody>
          <a:bodyPr/>
          <a:lstStyle/>
          <a:p>
            <a:endParaRPr lang="en-GB"/>
          </a:p>
        </p:txBody>
      </p:sp>
      <p:sp>
        <p:nvSpPr>
          <p:cNvPr id="11" name="Icon circle"/>
          <p:cNvSpPr/>
          <p:nvPr/>
        </p:nvSpPr>
        <p:spPr>
          <a:xfrm>
            <a:off x="6473952" y="1783080"/>
            <a:ext cx="640080" cy="640080"/>
          </a:xfrm>
          <a:prstGeom prst="ellipse">
            <a:avLst/>
          </a:prstGeom>
          <a:solidFill>
            <a:schemeClr val="tx2"/>
          </a:solidFill>
          <a:ln w="12700">
            <a:solidFill>
              <a:schemeClr val="accent1"/>
            </a:solidFill>
            <a:prstDash val="solid"/>
          </a:ln>
        </p:spPr>
        <p:txBody>
          <a:bodyPr/>
          <a:lstStyle/>
          <a:p>
            <a:endParaRPr lang="en-GB"/>
          </a:p>
        </p:txBody>
      </p:sp>
      <p:pic>
        <p:nvPicPr>
          <p:cNvPr id="12" name="Image 1" descr="HIGH-FIDELITY icon"/>
          <p:cNvPicPr>
            <a:picLocks noChangeAspect="1"/>
          </p:cNvPicPr>
          <p:nvPr/>
        </p:nvPicPr>
        <p:blipFill>
          <a:blip r:embed="rId4"/>
          <a:stretch>
            <a:fillRect/>
          </a:stretch>
        </p:blipFill>
        <p:spPr>
          <a:xfrm>
            <a:off x="6629400" y="1938528"/>
            <a:ext cx="329184" cy="329184"/>
          </a:xfrm>
          <a:prstGeom prst="rect">
            <a:avLst/>
          </a:prstGeom>
        </p:spPr>
      </p:pic>
      <p:sp>
        <p:nvSpPr>
          <p:cNvPr id="13" name="Text 8"/>
          <p:cNvSpPr txBox="1"/>
          <p:nvPr/>
        </p:nvSpPr>
        <p:spPr>
          <a:xfrm>
            <a:off x="7296912" y="1783080"/>
            <a:ext cx="3931920" cy="640080"/>
          </a:xfrm>
          <a:prstGeom prst="rect">
            <a:avLst/>
          </a:prstGeom>
          <a:noFill/>
          <a:ln/>
        </p:spPr>
        <p:txBody>
          <a:bodyPr wrap="square" lIns="0" tIns="0" rIns="0" bIns="0" rtlCol="0" anchor="ctr"/>
          <a:lstStyle/>
          <a:p>
            <a:pPr marL="0" indent="0">
              <a:buNone/>
            </a:pPr>
            <a:r>
              <a:rPr lang="en-US" sz="2400" b="1" dirty="0">
                <a:solidFill>
                  <a:schemeClr val="accent1"/>
                </a:solidFill>
              </a:rPr>
              <a:t>HIGH-FIDELITY</a:t>
            </a:r>
            <a:endParaRPr lang="en-US" sz="2400" dirty="0"/>
          </a:p>
        </p:txBody>
      </p:sp>
      <p:sp>
        <p:nvSpPr>
          <p:cNvPr id="14" name="Text 9"/>
          <p:cNvSpPr txBox="1"/>
          <p:nvPr/>
        </p:nvSpPr>
        <p:spPr>
          <a:xfrm>
            <a:off x="6473952" y="2697480"/>
            <a:ext cx="4800600" cy="269748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rPr>
              <a:t>Visuals: </a:t>
            </a:r>
            <a:r>
              <a:rPr lang="en-US" sz="1600" dirty="0">
                <a:solidFill>
                  <a:schemeClr val="tx1"/>
                </a:solidFill>
              </a:rPr>
              <a:t>close to final — colours, typography, images, spacing</a:t>
            </a:r>
            <a:endParaRPr lang="en-US" sz="1600" dirty="0"/>
          </a:p>
          <a:p>
            <a:pPr marL="228600" indent="-228600">
              <a:spcAft>
                <a:spcPts val="800"/>
              </a:spcAft>
              <a:buSzPct val="100000"/>
              <a:buChar char="•"/>
            </a:pPr>
            <a:r>
              <a:rPr lang="en-US" sz="1600" b="1" dirty="0">
                <a:solidFill>
                  <a:schemeClr val="tx1"/>
                </a:solidFill>
              </a:rPr>
              <a:t>Speed: </a:t>
            </a:r>
            <a:r>
              <a:rPr lang="en-US" sz="1600" dirty="0">
                <a:solidFill>
                  <a:schemeClr val="tx1"/>
                </a:solidFill>
              </a:rPr>
              <a:t>slower to change (hours)</a:t>
            </a:r>
            <a:endParaRPr lang="en-US" sz="1600" dirty="0"/>
          </a:p>
          <a:p>
            <a:pPr marL="228600" indent="-228600">
              <a:spcAft>
                <a:spcPts val="800"/>
              </a:spcAft>
              <a:buSzPct val="100000"/>
              <a:buChar char="•"/>
            </a:pPr>
            <a:r>
              <a:rPr lang="en-US" sz="1600" b="1" dirty="0">
                <a:solidFill>
                  <a:schemeClr val="tx1"/>
                </a:solidFill>
              </a:rPr>
              <a:t>Focus: </a:t>
            </a:r>
            <a:r>
              <a:rPr lang="en-US" sz="1600" dirty="0">
                <a:solidFill>
                  <a:schemeClr val="tx1"/>
                </a:solidFill>
              </a:rPr>
              <a:t>visual hierarchy, contrast, polish, details</a:t>
            </a:r>
            <a:endParaRPr lang="en-US" sz="1600" dirty="0"/>
          </a:p>
          <a:p>
            <a:pPr marL="228600" indent="-228600">
              <a:spcAft>
                <a:spcPts val="800"/>
              </a:spcAft>
              <a:buSzPct val="100000"/>
              <a:buChar char="•"/>
            </a:pPr>
            <a:r>
              <a:rPr lang="en-US" sz="1600" b="1" dirty="0">
                <a:solidFill>
                  <a:schemeClr val="tx1"/>
                </a:solidFill>
              </a:rPr>
              <a:t>Use: </a:t>
            </a:r>
            <a:r>
              <a:rPr lang="en-US" sz="1600" dirty="0">
                <a:solidFill>
                  <a:schemeClr val="tx1"/>
                </a:solidFill>
              </a:rPr>
              <a:t>usability testing (visual), dev handoff, stakeholder sign-off</a:t>
            </a:r>
            <a:endParaRPr lang="en-US" sz="1600" dirty="0"/>
          </a:p>
          <a:p>
            <a:pPr marL="228600" indent="-228600">
              <a:spcAft>
                <a:spcPts val="800"/>
              </a:spcAft>
              <a:buSzPct val="100000"/>
              <a:buChar char="•"/>
            </a:pPr>
            <a:r>
              <a:rPr lang="en-US" sz="1600" b="1" dirty="0">
                <a:solidFill>
                  <a:schemeClr val="tx1"/>
                </a:solidFill>
              </a:rPr>
              <a:t>Tools: </a:t>
            </a:r>
            <a:r>
              <a:rPr lang="en-US" sz="1600" dirty="0">
                <a:solidFill>
                  <a:schemeClr val="tx1"/>
                </a:solidFill>
              </a:rPr>
              <a:t>Figma, Sketch, Adobe XD</a:t>
            </a:r>
            <a:endParaRPr lang="en-US" sz="1600" dirty="0"/>
          </a:p>
        </p:txBody>
      </p:sp>
      <p:sp>
        <p:nvSpPr>
          <p:cNvPr id="15" name="Our approach callout"/>
          <p:cNvSpPr/>
          <p:nvPr/>
        </p:nvSpPr>
        <p:spPr>
          <a:xfrm>
            <a:off x="640080" y="5623560"/>
            <a:ext cx="10908792" cy="731520"/>
          </a:xfrm>
          <a:prstGeom prst="roundRect">
            <a:avLst>
              <a:gd name="adj" fmla="val 15000"/>
            </a:avLst>
          </a:prstGeom>
          <a:solidFill>
            <a:schemeClr val="bg2"/>
          </a:solidFill>
          <a:ln w="15875">
            <a:solidFill>
              <a:schemeClr val="accent1"/>
            </a:solidFill>
            <a:prstDash val="solid"/>
          </a:ln>
        </p:spPr>
        <p:txBody>
          <a:bodyPr/>
          <a:lstStyle/>
          <a:p>
            <a:endParaRPr lang="en-GB"/>
          </a:p>
        </p:txBody>
      </p:sp>
      <p:sp>
        <p:nvSpPr>
          <p:cNvPr id="16" name="Text 11"/>
          <p:cNvSpPr txBox="1"/>
          <p:nvPr/>
        </p:nvSpPr>
        <p:spPr>
          <a:xfrm>
            <a:off x="914400" y="5623560"/>
            <a:ext cx="10360152" cy="731520"/>
          </a:xfrm>
          <a:prstGeom prst="rect">
            <a:avLst/>
          </a:prstGeom>
          <a:noFill/>
          <a:ln/>
        </p:spPr>
        <p:txBody>
          <a:bodyPr wrap="square" lIns="0" tIns="0" rIns="0" bIns="0" rtlCol="0" anchor="ctr"/>
          <a:lstStyle/>
          <a:p>
            <a:pPr marL="0" indent="0">
              <a:buNone/>
            </a:pPr>
            <a:r>
              <a:rPr lang="en-US" sz="1600" b="1" dirty="0">
                <a:solidFill>
                  <a:schemeClr val="tx1"/>
                </a:solidFill>
              </a:rPr>
              <a:t>Our approach: </a:t>
            </a:r>
            <a:r>
              <a:rPr lang="en-US" sz="1600" dirty="0">
                <a:solidFill>
                  <a:schemeClr val="tx1"/>
                </a:solidFill>
              </a:rPr>
              <a:t>Lo-fi for new screens (search, book detail). Existing hi-fi (home, profile) as v1 baseline → show v2 improvements.</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06 · WIREFRAMES &amp; USABILITY HEURISTICS</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Existing High-Fidelity Screens (v1)</a:t>
            </a:r>
            <a:endParaRPr lang="en-US" sz="3200" dirty="0"/>
          </a:p>
        </p:txBody>
      </p:sp>
      <p:pic>
        <p:nvPicPr>
          <p:cNvPr id="5" name="Image 0" descr="Two existing high-fidelity Shelf screens: Home with Continue Reading and Read a New Book carousels, and Profile with reading statistics and a Sign Out button"/>
          <p:cNvPicPr>
            <a:picLocks noChangeAspect="1"/>
          </p:cNvPicPr>
          <p:nvPr/>
        </p:nvPicPr>
        <p:blipFill>
          <a:blip r:embed="rId3"/>
          <a:stretch>
            <a:fillRect/>
          </a:stretch>
        </p:blipFill>
        <p:spPr>
          <a:xfrm>
            <a:off x="640080" y="1508760"/>
            <a:ext cx="5075834" cy="4754880"/>
          </a:xfrm>
          <a:prstGeom prst="rect">
            <a:avLst/>
          </a:prstGeom>
        </p:spPr>
      </p:pic>
      <p:sp>
        <p:nvSpPr>
          <p:cNvPr id="6" name="Note HOME"/>
          <p:cNvSpPr/>
          <p:nvPr/>
        </p:nvSpPr>
        <p:spPr>
          <a:xfrm>
            <a:off x="6081674" y="1508760"/>
            <a:ext cx="5467198" cy="1481328"/>
          </a:xfrm>
          <a:prstGeom prst="roundRect">
            <a:avLst>
              <a:gd name="adj" fmla="val 7407"/>
            </a:avLst>
          </a:prstGeom>
          <a:solidFill>
            <a:schemeClr val="bg2"/>
          </a:solidFill>
          <a:ln w="9525">
            <a:solidFill>
              <a:schemeClr val="tx2"/>
            </a:solidFill>
            <a:prstDash val="solid"/>
          </a:ln>
        </p:spPr>
        <p:txBody>
          <a:bodyPr/>
          <a:lstStyle/>
          <a:p>
            <a:endParaRPr lang="en-GB"/>
          </a:p>
        </p:txBody>
      </p:sp>
      <p:sp>
        <p:nvSpPr>
          <p:cNvPr id="7" name="Text 3"/>
          <p:cNvSpPr txBox="1"/>
          <p:nvPr/>
        </p:nvSpPr>
        <p:spPr>
          <a:xfrm>
            <a:off x="6310274" y="1691640"/>
            <a:ext cx="5009998"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HOME</a:t>
            </a:r>
            <a:endParaRPr lang="en-US" sz="1200" dirty="0"/>
          </a:p>
        </p:txBody>
      </p:sp>
      <p:sp>
        <p:nvSpPr>
          <p:cNvPr id="8" name="Text 4"/>
          <p:cNvSpPr txBox="1"/>
          <p:nvPr/>
        </p:nvSpPr>
        <p:spPr>
          <a:xfrm>
            <a:off x="6310274" y="2011680"/>
            <a:ext cx="5009998" cy="914400"/>
          </a:xfrm>
          <a:prstGeom prst="rect">
            <a:avLst/>
          </a:prstGeom>
          <a:noFill/>
          <a:ln/>
        </p:spPr>
        <p:txBody>
          <a:bodyPr wrap="square" lIns="0" tIns="0" rIns="0" bIns="0" rtlCol="0" anchor="t"/>
          <a:lstStyle/>
          <a:p>
            <a:pPr marL="0" indent="0">
              <a:buNone/>
            </a:pPr>
            <a:r>
              <a:rPr lang="en-US" sz="1600" dirty="0">
                <a:solidFill>
                  <a:schemeClr val="tx1"/>
                </a:solidFill>
              </a:rPr>
              <a:t>Continue reading, recommendations, icon-only bottom nav, unlabelled theme toggle.</a:t>
            </a:r>
            <a:endParaRPr lang="en-US" sz="1600" dirty="0"/>
          </a:p>
        </p:txBody>
      </p:sp>
      <p:sp>
        <p:nvSpPr>
          <p:cNvPr id="9" name="Note PROFILE"/>
          <p:cNvSpPr/>
          <p:nvPr/>
        </p:nvSpPr>
        <p:spPr>
          <a:xfrm>
            <a:off x="6081674" y="3136392"/>
            <a:ext cx="5467198" cy="1481328"/>
          </a:xfrm>
          <a:prstGeom prst="roundRect">
            <a:avLst>
              <a:gd name="adj" fmla="val 7407"/>
            </a:avLst>
          </a:prstGeom>
          <a:solidFill>
            <a:schemeClr val="bg2"/>
          </a:solidFill>
          <a:ln w="9525">
            <a:solidFill>
              <a:schemeClr val="tx2"/>
            </a:solidFill>
            <a:prstDash val="solid"/>
          </a:ln>
        </p:spPr>
        <p:txBody>
          <a:bodyPr/>
          <a:lstStyle/>
          <a:p>
            <a:endParaRPr lang="en-GB"/>
          </a:p>
        </p:txBody>
      </p:sp>
      <p:sp>
        <p:nvSpPr>
          <p:cNvPr id="10" name="Text 6"/>
          <p:cNvSpPr txBox="1"/>
          <p:nvPr/>
        </p:nvSpPr>
        <p:spPr>
          <a:xfrm>
            <a:off x="6310274" y="3319272"/>
            <a:ext cx="5009998"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PROFILE</a:t>
            </a:r>
            <a:endParaRPr lang="en-US" sz="1200" dirty="0"/>
          </a:p>
        </p:txBody>
      </p:sp>
      <p:sp>
        <p:nvSpPr>
          <p:cNvPr id="11" name="Text 7"/>
          <p:cNvSpPr txBox="1"/>
          <p:nvPr/>
        </p:nvSpPr>
        <p:spPr>
          <a:xfrm>
            <a:off x="6310274" y="3639312"/>
            <a:ext cx="5009998" cy="914400"/>
          </a:xfrm>
          <a:prstGeom prst="rect">
            <a:avLst/>
          </a:prstGeom>
          <a:noFill/>
          <a:ln/>
        </p:spPr>
        <p:txBody>
          <a:bodyPr wrap="square" lIns="0" tIns="0" rIns="0" bIns="0" rtlCol="0" anchor="t"/>
          <a:lstStyle/>
          <a:p>
            <a:pPr marL="0" indent="0">
              <a:buNone/>
            </a:pPr>
            <a:r>
              <a:rPr lang="en-US" sz="1600" dirty="0">
                <a:solidFill>
                  <a:schemeClr val="tx1"/>
                </a:solidFill>
              </a:rPr>
              <a:t>Stats (grammar issues), duplicated Sign Out, dark theme for night reading.</a:t>
            </a:r>
            <a:endParaRPr lang="en-US" sz="1600" dirty="0"/>
          </a:p>
        </p:txBody>
      </p:sp>
      <p:sp>
        <p:nvSpPr>
          <p:cNvPr id="12" name="Note KNOWN GAPS"/>
          <p:cNvSpPr/>
          <p:nvPr/>
        </p:nvSpPr>
        <p:spPr>
          <a:xfrm>
            <a:off x="6081674" y="4764024"/>
            <a:ext cx="5467198" cy="1481328"/>
          </a:xfrm>
          <a:prstGeom prst="roundRect">
            <a:avLst>
              <a:gd name="adj" fmla="val 7407"/>
            </a:avLst>
          </a:prstGeom>
          <a:solidFill>
            <a:schemeClr val="bg2"/>
          </a:solidFill>
          <a:ln w="15875">
            <a:solidFill>
              <a:schemeClr val="accent3"/>
            </a:solidFill>
            <a:prstDash val="solid"/>
          </a:ln>
        </p:spPr>
        <p:txBody>
          <a:bodyPr/>
          <a:lstStyle/>
          <a:p>
            <a:endParaRPr lang="en-GB"/>
          </a:p>
        </p:txBody>
      </p:sp>
      <p:sp>
        <p:nvSpPr>
          <p:cNvPr id="13" name="Text 9"/>
          <p:cNvSpPr txBox="1"/>
          <p:nvPr/>
        </p:nvSpPr>
        <p:spPr>
          <a:xfrm>
            <a:off x="6310274" y="4946904"/>
            <a:ext cx="5009998" cy="228600"/>
          </a:xfrm>
          <a:prstGeom prst="rect">
            <a:avLst/>
          </a:prstGeom>
          <a:noFill/>
          <a:ln/>
        </p:spPr>
        <p:txBody>
          <a:bodyPr wrap="square" lIns="0" tIns="0" rIns="0" bIns="0" rtlCol="0" anchor="t"/>
          <a:lstStyle/>
          <a:p>
            <a:pPr marL="0" indent="0">
              <a:buNone/>
            </a:pPr>
            <a:r>
              <a:rPr lang="en-US" sz="1200" b="1" kern="0" spc="150" dirty="0">
                <a:solidFill>
                  <a:schemeClr val="accent3"/>
                </a:solidFill>
              </a:rPr>
              <a:t>KNOWN GAPS</a:t>
            </a:r>
            <a:endParaRPr lang="en-US" sz="1200" dirty="0"/>
          </a:p>
        </p:txBody>
      </p:sp>
      <p:sp>
        <p:nvSpPr>
          <p:cNvPr id="14" name="Text 10"/>
          <p:cNvSpPr txBox="1"/>
          <p:nvPr/>
        </p:nvSpPr>
        <p:spPr>
          <a:xfrm>
            <a:off x="6310274" y="5266944"/>
            <a:ext cx="5009998" cy="914400"/>
          </a:xfrm>
          <a:prstGeom prst="rect">
            <a:avLst/>
          </a:prstGeom>
          <a:noFill/>
          <a:ln/>
        </p:spPr>
        <p:txBody>
          <a:bodyPr wrap="square" lIns="0" tIns="0" rIns="0" bIns="0" rtlCol="0" anchor="t"/>
          <a:lstStyle/>
          <a:p>
            <a:pPr marL="0" indent="0">
              <a:buNone/>
            </a:pPr>
            <a:r>
              <a:rPr lang="en-US" sz="1600" dirty="0">
                <a:solidFill>
                  <a:schemeClr val="tx1"/>
                </a:solidFill>
              </a:rPr>
              <a:t>No price comparison, no drop warning, no search results, no book detail with sellers.</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06 · WIREFRAMES &amp; USABILITY HEURISTICS</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New Low-Fidelity Screens (v2) — Core Value</a:t>
            </a:r>
            <a:endParaRPr lang="en-US" sz="3200" dirty="0"/>
          </a:p>
        </p:txBody>
      </p:sp>
      <p:sp>
        <p:nvSpPr>
          <p:cNvPr id="5" name="Text 2"/>
          <p:cNvSpPr txBox="1"/>
          <p:nvPr/>
        </p:nvSpPr>
        <p:spPr>
          <a:xfrm>
            <a:off x="822960" y="1508760"/>
            <a:ext cx="3474720" cy="228600"/>
          </a:xfrm>
          <a:prstGeom prst="rect">
            <a:avLst/>
          </a:prstGeom>
          <a:noFill/>
          <a:ln/>
        </p:spPr>
        <p:txBody>
          <a:bodyPr wrap="square" lIns="0" tIns="0" rIns="0" bIns="0" rtlCol="0" anchor="t"/>
          <a:lstStyle/>
          <a:p>
            <a:pPr marL="0" indent="0">
              <a:buNone/>
            </a:pPr>
            <a:r>
              <a:rPr lang="en-US" sz="1100" b="1" kern="0" spc="150" dirty="0">
                <a:solidFill>
                  <a:schemeClr val="accent2"/>
                </a:solidFill>
              </a:rPr>
              <a:t>SEARCH RESULTS</a:t>
            </a:r>
            <a:endParaRPr lang="en-US" sz="1100" dirty="0"/>
          </a:p>
        </p:txBody>
      </p:sp>
      <p:sp>
        <p:nvSpPr>
          <p:cNvPr id="6" name="Phone frame"/>
          <p:cNvSpPr/>
          <p:nvPr/>
        </p:nvSpPr>
        <p:spPr>
          <a:xfrm>
            <a:off x="822960" y="1783080"/>
            <a:ext cx="3474720" cy="4434840"/>
          </a:xfrm>
          <a:prstGeom prst="roundRect">
            <a:avLst>
              <a:gd name="adj" fmla="val 6579"/>
            </a:avLst>
          </a:prstGeom>
          <a:solidFill>
            <a:schemeClr val="bg1"/>
          </a:solidFill>
          <a:ln w="22225">
            <a:solidFill>
              <a:schemeClr val="accent2"/>
            </a:solidFill>
            <a:prstDash val="solid"/>
          </a:ln>
        </p:spPr>
        <p:txBody>
          <a:bodyPr/>
          <a:lstStyle/>
          <a:p>
            <a:endParaRPr lang="en-GB"/>
          </a:p>
        </p:txBody>
      </p:sp>
      <p:sp>
        <p:nvSpPr>
          <p:cNvPr id="7" name="Text 4"/>
          <p:cNvSpPr txBox="1"/>
          <p:nvPr/>
        </p:nvSpPr>
        <p:spPr>
          <a:xfrm>
            <a:off x="1005840" y="1920240"/>
            <a:ext cx="914400" cy="320040"/>
          </a:xfrm>
          <a:prstGeom prst="rect">
            <a:avLst/>
          </a:prstGeom>
          <a:noFill/>
          <a:ln/>
        </p:spPr>
        <p:txBody>
          <a:bodyPr wrap="square" lIns="0" tIns="0" rIns="0" bIns="0" rtlCol="0" anchor="ctr"/>
          <a:lstStyle/>
          <a:p>
            <a:pPr marL="0" indent="0">
              <a:buNone/>
            </a:pPr>
            <a:r>
              <a:rPr lang="en-US" sz="1200" dirty="0">
                <a:solidFill>
                  <a:schemeClr val="tx1"/>
                </a:solidFill>
              </a:rPr>
              <a:t>← Back</a:t>
            </a:r>
            <a:endParaRPr lang="en-US" sz="1200" dirty="0"/>
          </a:p>
        </p:txBody>
      </p:sp>
      <p:sp>
        <p:nvSpPr>
          <p:cNvPr id="8" name="Text 5"/>
          <p:cNvSpPr txBox="1"/>
          <p:nvPr/>
        </p:nvSpPr>
        <p:spPr>
          <a:xfrm>
            <a:off x="2103120" y="1920240"/>
            <a:ext cx="2011680" cy="320040"/>
          </a:xfrm>
          <a:prstGeom prst="rect">
            <a:avLst/>
          </a:prstGeom>
          <a:noFill/>
          <a:ln/>
        </p:spPr>
        <p:txBody>
          <a:bodyPr wrap="square" lIns="0" tIns="0" rIns="0" bIns="0" rtlCol="0" anchor="ctr"/>
          <a:lstStyle/>
          <a:p>
            <a:pPr marL="0" indent="0" algn="r">
              <a:buNone/>
            </a:pPr>
            <a:r>
              <a:rPr lang="en-US" sz="1200" b="1" dirty="0">
                <a:solidFill>
                  <a:schemeClr val="tx1"/>
                </a:solidFill>
              </a:rPr>
              <a:t>Results: Crime…</a:t>
            </a:r>
            <a:endParaRPr lang="en-US" sz="1200" dirty="0"/>
          </a:p>
        </p:txBody>
      </p:sp>
      <p:sp>
        <p:nvSpPr>
          <p:cNvPr id="9" name="Connector"/>
          <p:cNvSpPr/>
          <p:nvPr/>
        </p:nvSpPr>
        <p:spPr>
          <a:xfrm>
            <a:off x="960120" y="2331720"/>
            <a:ext cx="3200400" cy="0"/>
          </a:xfrm>
          <a:prstGeom prst="line">
            <a:avLst/>
          </a:prstGeom>
          <a:noFill/>
          <a:ln w="9525">
            <a:solidFill>
              <a:schemeClr val="accent2"/>
            </a:solidFill>
            <a:prstDash val="solid"/>
          </a:ln>
        </p:spPr>
        <p:txBody>
          <a:bodyPr/>
          <a:lstStyle/>
          <a:p>
            <a:endParaRPr lang="en-GB"/>
          </a:p>
        </p:txBody>
      </p:sp>
      <p:sp>
        <p:nvSpPr>
          <p:cNvPr id="10" name="Text 7"/>
          <p:cNvSpPr txBox="1"/>
          <p:nvPr/>
        </p:nvSpPr>
        <p:spPr>
          <a:xfrm>
            <a:off x="1005840" y="2423160"/>
            <a:ext cx="3108960" cy="228600"/>
          </a:xfrm>
          <a:prstGeom prst="rect">
            <a:avLst/>
          </a:prstGeom>
          <a:noFill/>
          <a:ln/>
        </p:spPr>
        <p:txBody>
          <a:bodyPr wrap="square" lIns="0" tIns="0" rIns="0" bIns="0" rtlCol="0" anchor="t"/>
          <a:lstStyle/>
          <a:p>
            <a:pPr marL="0" indent="0">
              <a:buNone/>
            </a:pPr>
            <a:r>
              <a:rPr lang="en-US" sz="1100" b="1" kern="0" spc="100" dirty="0">
                <a:solidFill>
                  <a:schemeClr val="accent1"/>
                </a:solidFill>
              </a:rPr>
              <a:t>LOCAL SELLERS (3)</a:t>
            </a:r>
            <a:endParaRPr lang="en-US" sz="1100" dirty="0"/>
          </a:p>
        </p:txBody>
      </p:sp>
      <p:sp>
        <p:nvSpPr>
          <p:cNvPr id="11" name="Seller card"/>
          <p:cNvSpPr/>
          <p:nvPr/>
        </p:nvSpPr>
        <p:spPr>
          <a:xfrm>
            <a:off x="960120" y="2697480"/>
            <a:ext cx="3200400" cy="713232"/>
          </a:xfrm>
          <a:prstGeom prst="roundRect">
            <a:avLst>
              <a:gd name="adj" fmla="val 10256"/>
            </a:avLst>
          </a:prstGeom>
          <a:solidFill>
            <a:schemeClr val="bg2"/>
          </a:solidFill>
          <a:ln w="12700">
            <a:solidFill>
              <a:schemeClr val="accent2"/>
            </a:solidFill>
            <a:prstDash val="solid"/>
          </a:ln>
        </p:spPr>
        <p:txBody>
          <a:bodyPr/>
          <a:lstStyle/>
          <a:p>
            <a:endParaRPr lang="en-GB"/>
          </a:p>
        </p:txBody>
      </p:sp>
      <p:sp>
        <p:nvSpPr>
          <p:cNvPr id="12" name="Text 9"/>
          <p:cNvSpPr txBox="1"/>
          <p:nvPr/>
        </p:nvSpPr>
        <p:spPr>
          <a:xfrm>
            <a:off x="1097280" y="2788920"/>
            <a:ext cx="1828800" cy="256032"/>
          </a:xfrm>
          <a:prstGeom prst="rect">
            <a:avLst/>
          </a:prstGeom>
          <a:noFill/>
          <a:ln/>
        </p:spPr>
        <p:txBody>
          <a:bodyPr wrap="square" lIns="0" tIns="0" rIns="0" bIns="0" rtlCol="0" anchor="t"/>
          <a:lstStyle/>
          <a:p>
            <a:pPr marL="0" indent="0">
              <a:buNone/>
            </a:pPr>
            <a:r>
              <a:rPr lang="en-US" sz="1200" b="1" dirty="0">
                <a:solidFill>
                  <a:schemeClr val="tx1"/>
                </a:solidFill>
              </a:rPr>
              <a:t>Seller A (Local)</a:t>
            </a:r>
            <a:endParaRPr lang="en-US" sz="1200" dirty="0"/>
          </a:p>
        </p:txBody>
      </p:sp>
      <p:sp>
        <p:nvSpPr>
          <p:cNvPr id="13" name="Text 10"/>
          <p:cNvSpPr txBox="1"/>
          <p:nvPr/>
        </p:nvSpPr>
        <p:spPr>
          <a:xfrm>
            <a:off x="1097280" y="3081528"/>
            <a:ext cx="2103120" cy="256032"/>
          </a:xfrm>
          <a:prstGeom prst="rect">
            <a:avLst/>
          </a:prstGeom>
          <a:noFill/>
          <a:ln/>
        </p:spPr>
        <p:txBody>
          <a:bodyPr wrap="square" lIns="0" tIns="0" rIns="0" bIns="0" rtlCol="0" anchor="t"/>
          <a:lstStyle/>
          <a:p>
            <a:pPr marL="0" indent="0">
              <a:buNone/>
            </a:pPr>
            <a:r>
              <a:rPr lang="en-US" sz="1100" dirty="0">
                <a:solidFill>
                  <a:schemeClr val="tx1"/>
                </a:solidFill>
              </a:rPr>
              <a:t>EGP 210  •  2 days delivery</a:t>
            </a:r>
            <a:endParaRPr lang="en-US" sz="1100" dirty="0"/>
          </a:p>
        </p:txBody>
      </p:sp>
      <p:sp>
        <p:nvSpPr>
          <p:cNvPr id="14" name="Select button"/>
          <p:cNvSpPr/>
          <p:nvPr/>
        </p:nvSpPr>
        <p:spPr>
          <a:xfrm>
            <a:off x="3246120" y="2898648"/>
            <a:ext cx="777240" cy="310896"/>
          </a:xfrm>
          <a:prstGeom prst="roundRect">
            <a:avLst>
              <a:gd name="adj" fmla="val 50000"/>
            </a:avLst>
          </a:prstGeom>
          <a:solidFill>
            <a:schemeClr val="bg2"/>
          </a:solidFill>
          <a:ln w="12700">
            <a:solidFill>
              <a:schemeClr val="accent1"/>
            </a:solidFill>
            <a:prstDash val="solid"/>
          </a:ln>
        </p:spPr>
        <p:txBody>
          <a:bodyPr/>
          <a:lstStyle/>
          <a:p>
            <a:endParaRPr lang="en-GB"/>
          </a:p>
        </p:txBody>
      </p:sp>
      <p:sp>
        <p:nvSpPr>
          <p:cNvPr id="15" name="Text 12"/>
          <p:cNvSpPr txBox="1"/>
          <p:nvPr/>
        </p:nvSpPr>
        <p:spPr>
          <a:xfrm>
            <a:off x="3246120" y="2898648"/>
            <a:ext cx="777240" cy="310896"/>
          </a:xfrm>
          <a:prstGeom prst="rect">
            <a:avLst/>
          </a:prstGeom>
          <a:noFill/>
          <a:ln/>
        </p:spPr>
        <p:txBody>
          <a:bodyPr wrap="square" lIns="0" tIns="0" rIns="0" bIns="0" rtlCol="0" anchor="ctr"/>
          <a:lstStyle/>
          <a:p>
            <a:pPr marL="0" indent="0" algn="ctr">
              <a:buNone/>
            </a:pPr>
            <a:r>
              <a:rPr lang="en-US" sz="1100" b="1" dirty="0">
                <a:solidFill>
                  <a:schemeClr val="tx1"/>
                </a:solidFill>
              </a:rPr>
              <a:t>Select</a:t>
            </a:r>
            <a:endParaRPr lang="en-US" sz="1100" dirty="0"/>
          </a:p>
        </p:txBody>
      </p:sp>
      <p:sp>
        <p:nvSpPr>
          <p:cNvPr id="16" name="Seller card"/>
          <p:cNvSpPr/>
          <p:nvPr/>
        </p:nvSpPr>
        <p:spPr>
          <a:xfrm>
            <a:off x="960120" y="3502152"/>
            <a:ext cx="3200400" cy="713232"/>
          </a:xfrm>
          <a:prstGeom prst="roundRect">
            <a:avLst>
              <a:gd name="adj" fmla="val 10256"/>
            </a:avLst>
          </a:prstGeom>
          <a:solidFill>
            <a:schemeClr val="bg2"/>
          </a:solidFill>
          <a:ln w="12700">
            <a:solidFill>
              <a:schemeClr val="accent2"/>
            </a:solidFill>
            <a:prstDash val="solid"/>
          </a:ln>
        </p:spPr>
        <p:txBody>
          <a:bodyPr/>
          <a:lstStyle/>
          <a:p>
            <a:endParaRPr lang="en-GB"/>
          </a:p>
        </p:txBody>
      </p:sp>
      <p:sp>
        <p:nvSpPr>
          <p:cNvPr id="17" name="Text 14"/>
          <p:cNvSpPr txBox="1"/>
          <p:nvPr/>
        </p:nvSpPr>
        <p:spPr>
          <a:xfrm>
            <a:off x="1097280" y="3593592"/>
            <a:ext cx="1828800" cy="256032"/>
          </a:xfrm>
          <a:prstGeom prst="rect">
            <a:avLst/>
          </a:prstGeom>
          <a:noFill/>
          <a:ln/>
        </p:spPr>
        <p:txBody>
          <a:bodyPr wrap="square" lIns="0" tIns="0" rIns="0" bIns="0" rtlCol="0" anchor="t"/>
          <a:lstStyle/>
          <a:p>
            <a:pPr marL="0" indent="0">
              <a:buNone/>
            </a:pPr>
            <a:r>
              <a:rPr lang="en-US" sz="1200" b="1" dirty="0">
                <a:solidFill>
                  <a:schemeClr val="tx1"/>
                </a:solidFill>
              </a:rPr>
              <a:t>Seller B (Local)</a:t>
            </a:r>
            <a:endParaRPr lang="en-US" sz="1200" dirty="0"/>
          </a:p>
        </p:txBody>
      </p:sp>
      <p:sp>
        <p:nvSpPr>
          <p:cNvPr id="18" name="Text 15"/>
          <p:cNvSpPr txBox="1"/>
          <p:nvPr/>
        </p:nvSpPr>
        <p:spPr>
          <a:xfrm>
            <a:off x="1097280" y="3886200"/>
            <a:ext cx="2103120" cy="256032"/>
          </a:xfrm>
          <a:prstGeom prst="rect">
            <a:avLst/>
          </a:prstGeom>
          <a:noFill/>
          <a:ln/>
        </p:spPr>
        <p:txBody>
          <a:bodyPr wrap="square" lIns="0" tIns="0" rIns="0" bIns="0" rtlCol="0" anchor="t"/>
          <a:lstStyle/>
          <a:p>
            <a:pPr marL="0" indent="0">
              <a:buNone/>
            </a:pPr>
            <a:r>
              <a:rPr lang="en-US" sz="1100" dirty="0">
                <a:solidFill>
                  <a:schemeClr val="tx1"/>
                </a:solidFill>
              </a:rPr>
              <a:t>EGP 245  •  3 days delivery</a:t>
            </a:r>
            <a:endParaRPr lang="en-US" sz="1100" dirty="0"/>
          </a:p>
        </p:txBody>
      </p:sp>
      <p:sp>
        <p:nvSpPr>
          <p:cNvPr id="19" name="Select button"/>
          <p:cNvSpPr/>
          <p:nvPr/>
        </p:nvSpPr>
        <p:spPr>
          <a:xfrm>
            <a:off x="3246120" y="3703320"/>
            <a:ext cx="777240" cy="310896"/>
          </a:xfrm>
          <a:prstGeom prst="roundRect">
            <a:avLst>
              <a:gd name="adj" fmla="val 50000"/>
            </a:avLst>
          </a:prstGeom>
          <a:solidFill>
            <a:schemeClr val="bg2"/>
          </a:solidFill>
          <a:ln w="12700">
            <a:solidFill>
              <a:schemeClr val="accent1"/>
            </a:solidFill>
            <a:prstDash val="solid"/>
          </a:ln>
        </p:spPr>
        <p:txBody>
          <a:bodyPr/>
          <a:lstStyle/>
          <a:p>
            <a:endParaRPr lang="en-GB"/>
          </a:p>
        </p:txBody>
      </p:sp>
      <p:sp>
        <p:nvSpPr>
          <p:cNvPr id="20" name="Text 17"/>
          <p:cNvSpPr txBox="1"/>
          <p:nvPr/>
        </p:nvSpPr>
        <p:spPr>
          <a:xfrm>
            <a:off x="3246120" y="3703320"/>
            <a:ext cx="777240" cy="310896"/>
          </a:xfrm>
          <a:prstGeom prst="rect">
            <a:avLst/>
          </a:prstGeom>
          <a:noFill/>
          <a:ln/>
        </p:spPr>
        <p:txBody>
          <a:bodyPr wrap="square" lIns="0" tIns="0" rIns="0" bIns="0" rtlCol="0" anchor="ctr"/>
          <a:lstStyle/>
          <a:p>
            <a:pPr marL="0" indent="0" algn="ctr">
              <a:buNone/>
            </a:pPr>
            <a:r>
              <a:rPr lang="en-US" sz="1100" b="1" dirty="0">
                <a:solidFill>
                  <a:schemeClr val="tx1"/>
                </a:solidFill>
              </a:rPr>
              <a:t>Select</a:t>
            </a:r>
            <a:endParaRPr lang="en-US" sz="1100" dirty="0"/>
          </a:p>
        </p:txBody>
      </p:sp>
      <p:sp>
        <p:nvSpPr>
          <p:cNvPr id="21" name="Text 18"/>
          <p:cNvSpPr txBox="1"/>
          <p:nvPr/>
        </p:nvSpPr>
        <p:spPr>
          <a:xfrm>
            <a:off x="1005840" y="4343400"/>
            <a:ext cx="3108960" cy="228600"/>
          </a:xfrm>
          <a:prstGeom prst="rect">
            <a:avLst/>
          </a:prstGeom>
          <a:noFill/>
          <a:ln/>
        </p:spPr>
        <p:txBody>
          <a:bodyPr wrap="square" lIns="0" tIns="0" rIns="0" bIns="0" rtlCol="0" anchor="t"/>
          <a:lstStyle/>
          <a:p>
            <a:pPr marL="0" indent="0">
              <a:buNone/>
            </a:pPr>
            <a:r>
              <a:rPr lang="en-US" sz="1100" b="1" kern="0" spc="100" dirty="0">
                <a:solidFill>
                  <a:schemeClr val="accent1"/>
                </a:solidFill>
              </a:rPr>
              <a:t>OVERSEAS SELLERS (2)</a:t>
            </a:r>
            <a:endParaRPr lang="en-US" sz="1100" dirty="0"/>
          </a:p>
        </p:txBody>
      </p:sp>
      <p:sp>
        <p:nvSpPr>
          <p:cNvPr id="22" name="Seller card"/>
          <p:cNvSpPr/>
          <p:nvPr/>
        </p:nvSpPr>
        <p:spPr>
          <a:xfrm>
            <a:off x="960120" y="4617720"/>
            <a:ext cx="3200400" cy="713232"/>
          </a:xfrm>
          <a:prstGeom prst="roundRect">
            <a:avLst>
              <a:gd name="adj" fmla="val 10256"/>
            </a:avLst>
          </a:prstGeom>
          <a:solidFill>
            <a:schemeClr val="bg2"/>
          </a:solidFill>
          <a:ln w="12700">
            <a:solidFill>
              <a:schemeClr val="accent2"/>
            </a:solidFill>
            <a:prstDash val="solid"/>
          </a:ln>
        </p:spPr>
        <p:txBody>
          <a:bodyPr/>
          <a:lstStyle/>
          <a:p>
            <a:endParaRPr lang="en-GB"/>
          </a:p>
        </p:txBody>
      </p:sp>
      <p:sp>
        <p:nvSpPr>
          <p:cNvPr id="23" name="Text 20"/>
          <p:cNvSpPr txBox="1"/>
          <p:nvPr/>
        </p:nvSpPr>
        <p:spPr>
          <a:xfrm>
            <a:off x="1097280" y="4709160"/>
            <a:ext cx="1828800" cy="256032"/>
          </a:xfrm>
          <a:prstGeom prst="rect">
            <a:avLst/>
          </a:prstGeom>
          <a:noFill/>
          <a:ln/>
        </p:spPr>
        <p:txBody>
          <a:bodyPr wrap="square" lIns="0" tIns="0" rIns="0" bIns="0" rtlCol="0" anchor="t"/>
          <a:lstStyle/>
          <a:p>
            <a:pPr marL="0" indent="0">
              <a:buNone/>
            </a:pPr>
            <a:r>
              <a:rPr lang="en-US" sz="1200" b="1" dirty="0">
                <a:solidFill>
                  <a:schemeClr val="tx1"/>
                </a:solidFill>
              </a:rPr>
              <a:t>Seller C (Overseas)</a:t>
            </a:r>
            <a:endParaRPr lang="en-US" sz="1200" dirty="0"/>
          </a:p>
        </p:txBody>
      </p:sp>
      <p:sp>
        <p:nvSpPr>
          <p:cNvPr id="24" name="Text 21"/>
          <p:cNvSpPr txBox="1"/>
          <p:nvPr/>
        </p:nvSpPr>
        <p:spPr>
          <a:xfrm>
            <a:off x="1097280" y="5001768"/>
            <a:ext cx="2103120" cy="256032"/>
          </a:xfrm>
          <a:prstGeom prst="rect">
            <a:avLst/>
          </a:prstGeom>
          <a:noFill/>
          <a:ln/>
        </p:spPr>
        <p:txBody>
          <a:bodyPr wrap="square" lIns="0" tIns="0" rIns="0" bIns="0" rtlCol="0" anchor="t"/>
          <a:lstStyle/>
          <a:p>
            <a:pPr marL="0" indent="0">
              <a:buNone/>
            </a:pPr>
            <a:r>
              <a:rPr lang="en-US" sz="1100" dirty="0">
                <a:solidFill>
                  <a:schemeClr val="tx1"/>
                </a:solidFill>
              </a:rPr>
              <a:t>EGP 330  •  12 days delivery</a:t>
            </a:r>
            <a:endParaRPr lang="en-US" sz="1100" dirty="0"/>
          </a:p>
        </p:txBody>
      </p:sp>
      <p:sp>
        <p:nvSpPr>
          <p:cNvPr id="25" name="Select button"/>
          <p:cNvSpPr/>
          <p:nvPr/>
        </p:nvSpPr>
        <p:spPr>
          <a:xfrm>
            <a:off x="3246120" y="4818888"/>
            <a:ext cx="777240" cy="310896"/>
          </a:xfrm>
          <a:prstGeom prst="roundRect">
            <a:avLst>
              <a:gd name="adj" fmla="val 50000"/>
            </a:avLst>
          </a:prstGeom>
          <a:solidFill>
            <a:schemeClr val="bg2"/>
          </a:solidFill>
          <a:ln w="12700">
            <a:solidFill>
              <a:schemeClr val="accent1"/>
            </a:solidFill>
            <a:prstDash val="solid"/>
          </a:ln>
        </p:spPr>
        <p:txBody>
          <a:bodyPr/>
          <a:lstStyle/>
          <a:p>
            <a:endParaRPr lang="en-GB"/>
          </a:p>
        </p:txBody>
      </p:sp>
      <p:sp>
        <p:nvSpPr>
          <p:cNvPr id="26" name="Text 23"/>
          <p:cNvSpPr txBox="1"/>
          <p:nvPr/>
        </p:nvSpPr>
        <p:spPr>
          <a:xfrm>
            <a:off x="3246120" y="4818888"/>
            <a:ext cx="777240" cy="310896"/>
          </a:xfrm>
          <a:prstGeom prst="rect">
            <a:avLst/>
          </a:prstGeom>
          <a:noFill/>
          <a:ln/>
        </p:spPr>
        <p:txBody>
          <a:bodyPr wrap="square" lIns="0" tIns="0" rIns="0" bIns="0" rtlCol="0" anchor="ctr"/>
          <a:lstStyle/>
          <a:p>
            <a:pPr marL="0" indent="0" algn="ctr">
              <a:buNone/>
            </a:pPr>
            <a:r>
              <a:rPr lang="en-US" sz="1100" b="1" dirty="0">
                <a:solidFill>
                  <a:schemeClr val="tx1"/>
                </a:solidFill>
              </a:rPr>
              <a:t>Select</a:t>
            </a:r>
            <a:endParaRPr lang="en-US" sz="1100" dirty="0"/>
          </a:p>
        </p:txBody>
      </p:sp>
      <p:sp>
        <p:nvSpPr>
          <p:cNvPr id="27" name="Connector"/>
          <p:cNvSpPr/>
          <p:nvPr/>
        </p:nvSpPr>
        <p:spPr>
          <a:xfrm>
            <a:off x="960120" y="5623560"/>
            <a:ext cx="3200400" cy="0"/>
          </a:xfrm>
          <a:prstGeom prst="line">
            <a:avLst/>
          </a:prstGeom>
          <a:noFill/>
          <a:ln w="9525">
            <a:solidFill>
              <a:schemeClr val="accent2"/>
            </a:solidFill>
            <a:prstDash val="solid"/>
          </a:ln>
        </p:spPr>
        <p:txBody>
          <a:bodyPr/>
          <a:lstStyle/>
          <a:p>
            <a:endParaRPr lang="en-GB"/>
          </a:p>
        </p:txBody>
      </p:sp>
      <p:sp>
        <p:nvSpPr>
          <p:cNvPr id="28" name="Nav icon placeholder"/>
          <p:cNvSpPr/>
          <p:nvPr/>
        </p:nvSpPr>
        <p:spPr>
          <a:xfrm>
            <a:off x="1261872" y="5687568"/>
            <a:ext cx="182880" cy="182880"/>
          </a:xfrm>
          <a:prstGeom prst="roundRect">
            <a:avLst>
              <a:gd name="adj" fmla="val 40000"/>
            </a:avLst>
          </a:prstGeom>
          <a:solidFill>
            <a:schemeClr val="bg2"/>
          </a:solidFill>
          <a:ln w="12700">
            <a:solidFill>
              <a:schemeClr val="accent2"/>
            </a:solidFill>
            <a:prstDash val="solid"/>
          </a:ln>
        </p:spPr>
        <p:txBody>
          <a:bodyPr/>
          <a:lstStyle/>
          <a:p>
            <a:endParaRPr lang="en-GB"/>
          </a:p>
        </p:txBody>
      </p:sp>
      <p:sp>
        <p:nvSpPr>
          <p:cNvPr id="29" name="Text 26"/>
          <p:cNvSpPr txBox="1"/>
          <p:nvPr/>
        </p:nvSpPr>
        <p:spPr>
          <a:xfrm>
            <a:off x="960120" y="5907024"/>
            <a:ext cx="800100" cy="228600"/>
          </a:xfrm>
          <a:prstGeom prst="rect">
            <a:avLst/>
          </a:prstGeom>
          <a:noFill/>
          <a:ln/>
        </p:spPr>
        <p:txBody>
          <a:bodyPr wrap="square" lIns="0" tIns="0" rIns="0" bIns="0" rtlCol="0" anchor="t"/>
          <a:lstStyle/>
          <a:p>
            <a:pPr marL="0" indent="0" algn="ctr">
              <a:buNone/>
            </a:pPr>
            <a:r>
              <a:rPr lang="en-US" sz="1100" b="1" dirty="0">
                <a:solidFill>
                  <a:schemeClr val="tx1"/>
                </a:solidFill>
              </a:rPr>
              <a:t>Home</a:t>
            </a:r>
            <a:endParaRPr lang="en-US" sz="1100" dirty="0"/>
          </a:p>
        </p:txBody>
      </p:sp>
      <p:sp>
        <p:nvSpPr>
          <p:cNvPr id="30" name="Nav icon placeholder"/>
          <p:cNvSpPr/>
          <p:nvPr/>
        </p:nvSpPr>
        <p:spPr>
          <a:xfrm>
            <a:off x="2061972" y="5687568"/>
            <a:ext cx="182880" cy="182880"/>
          </a:xfrm>
          <a:prstGeom prst="roundRect">
            <a:avLst>
              <a:gd name="adj" fmla="val 40000"/>
            </a:avLst>
          </a:prstGeom>
          <a:solidFill>
            <a:schemeClr val="bg2"/>
          </a:solidFill>
          <a:ln w="12700">
            <a:solidFill>
              <a:schemeClr val="accent2"/>
            </a:solidFill>
            <a:prstDash val="solid"/>
          </a:ln>
        </p:spPr>
        <p:txBody>
          <a:bodyPr/>
          <a:lstStyle/>
          <a:p>
            <a:endParaRPr lang="en-GB"/>
          </a:p>
        </p:txBody>
      </p:sp>
      <p:sp>
        <p:nvSpPr>
          <p:cNvPr id="31" name="Text 28"/>
          <p:cNvSpPr txBox="1"/>
          <p:nvPr/>
        </p:nvSpPr>
        <p:spPr>
          <a:xfrm>
            <a:off x="1760220" y="5907024"/>
            <a:ext cx="800100" cy="228600"/>
          </a:xfrm>
          <a:prstGeom prst="rect">
            <a:avLst/>
          </a:prstGeom>
          <a:noFill/>
          <a:ln/>
        </p:spPr>
        <p:txBody>
          <a:bodyPr wrap="square" lIns="0" tIns="0" rIns="0" bIns="0" rtlCol="0" anchor="t"/>
          <a:lstStyle/>
          <a:p>
            <a:pPr marL="0" indent="0" algn="ctr">
              <a:buNone/>
            </a:pPr>
            <a:r>
              <a:rPr lang="en-US" sz="1100" b="1" dirty="0">
                <a:solidFill>
                  <a:schemeClr val="tx1"/>
                </a:solidFill>
              </a:rPr>
              <a:t>Search</a:t>
            </a:r>
            <a:endParaRPr lang="en-US" sz="1100" dirty="0"/>
          </a:p>
        </p:txBody>
      </p:sp>
      <p:sp>
        <p:nvSpPr>
          <p:cNvPr id="32" name="Nav icon placeholder"/>
          <p:cNvSpPr/>
          <p:nvPr/>
        </p:nvSpPr>
        <p:spPr>
          <a:xfrm>
            <a:off x="2862072" y="5687568"/>
            <a:ext cx="182880" cy="182880"/>
          </a:xfrm>
          <a:prstGeom prst="roundRect">
            <a:avLst>
              <a:gd name="adj" fmla="val 40000"/>
            </a:avLst>
          </a:prstGeom>
          <a:solidFill>
            <a:schemeClr val="bg2"/>
          </a:solidFill>
          <a:ln w="12700">
            <a:solidFill>
              <a:schemeClr val="accent2"/>
            </a:solidFill>
            <a:prstDash val="solid"/>
          </a:ln>
        </p:spPr>
        <p:txBody>
          <a:bodyPr/>
          <a:lstStyle/>
          <a:p>
            <a:endParaRPr lang="en-GB"/>
          </a:p>
        </p:txBody>
      </p:sp>
      <p:sp>
        <p:nvSpPr>
          <p:cNvPr id="33" name="Text 30"/>
          <p:cNvSpPr txBox="1"/>
          <p:nvPr/>
        </p:nvSpPr>
        <p:spPr>
          <a:xfrm>
            <a:off x="2560320" y="5907024"/>
            <a:ext cx="800100" cy="228600"/>
          </a:xfrm>
          <a:prstGeom prst="rect">
            <a:avLst/>
          </a:prstGeom>
          <a:noFill/>
          <a:ln/>
        </p:spPr>
        <p:txBody>
          <a:bodyPr wrap="square" lIns="0" tIns="0" rIns="0" bIns="0" rtlCol="0" anchor="t"/>
          <a:lstStyle/>
          <a:p>
            <a:pPr marL="0" indent="0" algn="ctr">
              <a:buNone/>
            </a:pPr>
            <a:r>
              <a:rPr lang="en-US" sz="1100" b="1" dirty="0">
                <a:solidFill>
                  <a:schemeClr val="tx1"/>
                </a:solidFill>
              </a:rPr>
              <a:t>Library</a:t>
            </a:r>
            <a:endParaRPr lang="en-US" sz="1100" dirty="0"/>
          </a:p>
        </p:txBody>
      </p:sp>
      <p:sp>
        <p:nvSpPr>
          <p:cNvPr id="34" name="Nav icon placeholder"/>
          <p:cNvSpPr/>
          <p:nvPr/>
        </p:nvSpPr>
        <p:spPr>
          <a:xfrm>
            <a:off x="3662172" y="5687568"/>
            <a:ext cx="182880" cy="182880"/>
          </a:xfrm>
          <a:prstGeom prst="roundRect">
            <a:avLst>
              <a:gd name="adj" fmla="val 40000"/>
            </a:avLst>
          </a:prstGeom>
          <a:solidFill>
            <a:schemeClr val="bg2"/>
          </a:solidFill>
          <a:ln w="12700">
            <a:solidFill>
              <a:schemeClr val="accent2"/>
            </a:solidFill>
            <a:prstDash val="solid"/>
          </a:ln>
        </p:spPr>
        <p:txBody>
          <a:bodyPr/>
          <a:lstStyle/>
          <a:p>
            <a:endParaRPr lang="en-GB"/>
          </a:p>
        </p:txBody>
      </p:sp>
      <p:sp>
        <p:nvSpPr>
          <p:cNvPr id="35" name="Text 32"/>
          <p:cNvSpPr txBox="1"/>
          <p:nvPr/>
        </p:nvSpPr>
        <p:spPr>
          <a:xfrm>
            <a:off x="3360420" y="5907024"/>
            <a:ext cx="800100" cy="228600"/>
          </a:xfrm>
          <a:prstGeom prst="rect">
            <a:avLst/>
          </a:prstGeom>
          <a:noFill/>
          <a:ln/>
        </p:spPr>
        <p:txBody>
          <a:bodyPr wrap="square" lIns="0" tIns="0" rIns="0" bIns="0" rtlCol="0" anchor="t"/>
          <a:lstStyle/>
          <a:p>
            <a:pPr marL="0" indent="0" algn="ctr">
              <a:buNone/>
            </a:pPr>
            <a:r>
              <a:rPr lang="en-US" sz="1100" b="1" dirty="0">
                <a:solidFill>
                  <a:schemeClr val="tx1"/>
                </a:solidFill>
              </a:rPr>
              <a:t>Profile</a:t>
            </a:r>
            <a:endParaRPr lang="en-US" sz="1100" dirty="0"/>
          </a:p>
        </p:txBody>
      </p:sp>
      <p:sp>
        <p:nvSpPr>
          <p:cNvPr id="36" name="Text 33"/>
          <p:cNvSpPr txBox="1"/>
          <p:nvPr/>
        </p:nvSpPr>
        <p:spPr>
          <a:xfrm>
            <a:off x="4663440" y="1508760"/>
            <a:ext cx="3474720" cy="228600"/>
          </a:xfrm>
          <a:prstGeom prst="rect">
            <a:avLst/>
          </a:prstGeom>
          <a:noFill/>
          <a:ln/>
        </p:spPr>
        <p:txBody>
          <a:bodyPr wrap="square" lIns="0" tIns="0" rIns="0" bIns="0" rtlCol="0" anchor="t"/>
          <a:lstStyle/>
          <a:p>
            <a:pPr marL="0" indent="0">
              <a:buNone/>
            </a:pPr>
            <a:r>
              <a:rPr lang="en-US" sz="1100" b="1" kern="0" spc="150" dirty="0">
                <a:solidFill>
                  <a:schemeClr val="accent2"/>
                </a:solidFill>
              </a:rPr>
              <a:t>BOOK DETAIL</a:t>
            </a:r>
            <a:endParaRPr lang="en-US" sz="1100" dirty="0"/>
          </a:p>
        </p:txBody>
      </p:sp>
      <p:sp>
        <p:nvSpPr>
          <p:cNvPr id="37" name="Phone frame"/>
          <p:cNvSpPr/>
          <p:nvPr/>
        </p:nvSpPr>
        <p:spPr>
          <a:xfrm>
            <a:off x="4663440" y="1783080"/>
            <a:ext cx="3474720" cy="4434840"/>
          </a:xfrm>
          <a:prstGeom prst="roundRect">
            <a:avLst>
              <a:gd name="adj" fmla="val 6579"/>
            </a:avLst>
          </a:prstGeom>
          <a:solidFill>
            <a:schemeClr val="bg1"/>
          </a:solidFill>
          <a:ln w="22225">
            <a:solidFill>
              <a:schemeClr val="accent2"/>
            </a:solidFill>
            <a:prstDash val="solid"/>
          </a:ln>
        </p:spPr>
        <p:txBody>
          <a:bodyPr/>
          <a:lstStyle/>
          <a:p>
            <a:endParaRPr lang="en-GB"/>
          </a:p>
        </p:txBody>
      </p:sp>
      <p:sp>
        <p:nvSpPr>
          <p:cNvPr id="38" name="Text 35"/>
          <p:cNvSpPr txBox="1"/>
          <p:nvPr/>
        </p:nvSpPr>
        <p:spPr>
          <a:xfrm>
            <a:off x="4846320" y="1920240"/>
            <a:ext cx="914400" cy="320040"/>
          </a:xfrm>
          <a:prstGeom prst="rect">
            <a:avLst/>
          </a:prstGeom>
          <a:noFill/>
          <a:ln/>
        </p:spPr>
        <p:txBody>
          <a:bodyPr wrap="square" lIns="0" tIns="0" rIns="0" bIns="0" rtlCol="0" anchor="ctr"/>
          <a:lstStyle/>
          <a:p>
            <a:pPr marL="0" indent="0">
              <a:buNone/>
            </a:pPr>
            <a:r>
              <a:rPr lang="en-US" sz="1200" dirty="0">
                <a:solidFill>
                  <a:schemeClr val="tx1"/>
                </a:solidFill>
              </a:rPr>
              <a:t>← Back</a:t>
            </a:r>
            <a:endParaRPr lang="en-US" sz="1200" dirty="0"/>
          </a:p>
        </p:txBody>
      </p:sp>
      <p:sp>
        <p:nvSpPr>
          <p:cNvPr id="39" name="Text 36"/>
          <p:cNvSpPr txBox="1"/>
          <p:nvPr/>
        </p:nvSpPr>
        <p:spPr>
          <a:xfrm>
            <a:off x="5943600" y="1920240"/>
            <a:ext cx="2011680" cy="320040"/>
          </a:xfrm>
          <a:prstGeom prst="rect">
            <a:avLst/>
          </a:prstGeom>
          <a:noFill/>
          <a:ln/>
        </p:spPr>
        <p:txBody>
          <a:bodyPr wrap="square" lIns="0" tIns="0" rIns="0" bIns="0" rtlCol="0" anchor="ctr"/>
          <a:lstStyle/>
          <a:p>
            <a:pPr marL="0" indent="0" algn="r">
              <a:buNone/>
            </a:pPr>
            <a:r>
              <a:rPr lang="en-US" sz="1200" b="1" dirty="0">
                <a:solidFill>
                  <a:schemeClr val="tx1"/>
                </a:solidFill>
              </a:rPr>
              <a:t>Book Details</a:t>
            </a:r>
            <a:endParaRPr lang="en-US" sz="1200" dirty="0"/>
          </a:p>
        </p:txBody>
      </p:sp>
      <p:sp>
        <p:nvSpPr>
          <p:cNvPr id="40" name="Connector"/>
          <p:cNvSpPr/>
          <p:nvPr/>
        </p:nvSpPr>
        <p:spPr>
          <a:xfrm>
            <a:off x="4800600" y="2331720"/>
            <a:ext cx="3200400" cy="0"/>
          </a:xfrm>
          <a:prstGeom prst="line">
            <a:avLst/>
          </a:prstGeom>
          <a:noFill/>
          <a:ln w="9525">
            <a:solidFill>
              <a:schemeClr val="accent2"/>
            </a:solidFill>
            <a:prstDash val="solid"/>
          </a:ln>
        </p:spPr>
        <p:txBody>
          <a:bodyPr/>
          <a:lstStyle/>
          <a:p>
            <a:endParaRPr lang="en-GB"/>
          </a:p>
        </p:txBody>
      </p:sp>
      <p:sp>
        <p:nvSpPr>
          <p:cNvPr id="41" name="Cover placeholder"/>
          <p:cNvSpPr/>
          <p:nvPr/>
        </p:nvSpPr>
        <p:spPr>
          <a:xfrm>
            <a:off x="4846320" y="2468880"/>
            <a:ext cx="777240" cy="1051560"/>
          </a:xfrm>
          <a:prstGeom prst="roundRect">
            <a:avLst>
              <a:gd name="adj" fmla="val 9412"/>
            </a:avLst>
          </a:prstGeom>
          <a:solidFill>
            <a:schemeClr val="bg2"/>
          </a:solidFill>
          <a:ln w="12700">
            <a:solidFill>
              <a:schemeClr val="accent2"/>
            </a:solidFill>
            <a:prstDash val="solid"/>
          </a:ln>
        </p:spPr>
        <p:txBody>
          <a:bodyPr/>
          <a:lstStyle/>
          <a:p>
            <a:endParaRPr lang="en-GB"/>
          </a:p>
        </p:txBody>
      </p:sp>
      <p:sp>
        <p:nvSpPr>
          <p:cNvPr id="42" name="Text 39"/>
          <p:cNvSpPr txBox="1"/>
          <p:nvPr/>
        </p:nvSpPr>
        <p:spPr>
          <a:xfrm>
            <a:off x="4846320" y="2468880"/>
            <a:ext cx="777240" cy="1051560"/>
          </a:xfrm>
          <a:prstGeom prst="rect">
            <a:avLst/>
          </a:prstGeom>
          <a:noFill/>
          <a:ln/>
        </p:spPr>
        <p:txBody>
          <a:bodyPr wrap="square" lIns="0" tIns="0" rIns="0" bIns="0" rtlCol="0" anchor="ctr"/>
          <a:lstStyle/>
          <a:p>
            <a:pPr marL="0" indent="0" algn="ctr">
              <a:buNone/>
            </a:pPr>
            <a:r>
              <a:rPr lang="en-US" sz="1100" dirty="0">
                <a:solidFill>
                  <a:schemeClr val="accent2"/>
                </a:solidFill>
              </a:rPr>
              <a:t>Cover</a:t>
            </a:r>
            <a:endParaRPr lang="en-US" sz="1100" dirty="0"/>
          </a:p>
        </p:txBody>
      </p:sp>
      <p:sp>
        <p:nvSpPr>
          <p:cNvPr id="43" name="Text 40"/>
          <p:cNvSpPr txBox="1"/>
          <p:nvPr/>
        </p:nvSpPr>
        <p:spPr>
          <a:xfrm>
            <a:off x="5760720" y="2514600"/>
            <a:ext cx="2194560" cy="274320"/>
          </a:xfrm>
          <a:prstGeom prst="rect">
            <a:avLst/>
          </a:prstGeom>
          <a:noFill/>
          <a:ln/>
        </p:spPr>
        <p:txBody>
          <a:bodyPr wrap="square" lIns="0" tIns="0" rIns="0" bIns="0" rtlCol="0" anchor="t"/>
          <a:lstStyle/>
          <a:p>
            <a:pPr marL="0" indent="0">
              <a:buNone/>
            </a:pPr>
            <a:r>
              <a:rPr lang="en-US" sz="1300" b="1" dirty="0">
                <a:solidFill>
                  <a:schemeClr val="tx1"/>
                </a:solidFill>
              </a:rPr>
              <a:t>Crime and Punishment</a:t>
            </a:r>
            <a:endParaRPr lang="en-US" sz="1300" dirty="0"/>
          </a:p>
        </p:txBody>
      </p:sp>
      <p:sp>
        <p:nvSpPr>
          <p:cNvPr id="44" name="Text 41"/>
          <p:cNvSpPr txBox="1"/>
          <p:nvPr/>
        </p:nvSpPr>
        <p:spPr>
          <a:xfrm>
            <a:off x="5760720" y="2834640"/>
            <a:ext cx="2194560" cy="256032"/>
          </a:xfrm>
          <a:prstGeom prst="rect">
            <a:avLst/>
          </a:prstGeom>
          <a:noFill/>
          <a:ln/>
        </p:spPr>
        <p:txBody>
          <a:bodyPr wrap="square" lIns="0" tIns="0" rIns="0" bIns="0" rtlCol="0" anchor="t"/>
          <a:lstStyle/>
          <a:p>
            <a:pPr marL="0" indent="0">
              <a:buNone/>
            </a:pPr>
            <a:r>
              <a:rPr lang="en-US" sz="1200" dirty="0">
                <a:solidFill>
                  <a:schemeClr val="tx1"/>
                </a:solidFill>
              </a:rPr>
              <a:t>Dostoyevsky</a:t>
            </a:r>
            <a:endParaRPr lang="en-US" sz="1200" dirty="0"/>
          </a:p>
        </p:txBody>
      </p:sp>
      <p:sp>
        <p:nvSpPr>
          <p:cNvPr id="45" name="Text 42"/>
          <p:cNvSpPr txBox="1"/>
          <p:nvPr/>
        </p:nvSpPr>
        <p:spPr>
          <a:xfrm>
            <a:off x="5760720" y="3127248"/>
            <a:ext cx="2194560" cy="256032"/>
          </a:xfrm>
          <a:prstGeom prst="rect">
            <a:avLst/>
          </a:prstGeom>
          <a:noFill/>
          <a:ln/>
        </p:spPr>
        <p:txBody>
          <a:bodyPr wrap="square" lIns="0" tIns="0" rIns="0" bIns="0" rtlCol="0" anchor="t"/>
          <a:lstStyle/>
          <a:p>
            <a:pPr marL="0" indent="0">
              <a:buNone/>
            </a:pPr>
            <a:r>
              <a:rPr lang="en-US" sz="1200" dirty="0">
                <a:solidFill>
                  <a:schemeClr val="tx1"/>
                </a:solidFill>
              </a:rPr>
              <a:t>★ 4.2  •  430 pages</a:t>
            </a:r>
            <a:endParaRPr lang="en-US" sz="1200" dirty="0"/>
          </a:p>
        </p:txBody>
      </p:sp>
      <p:sp>
        <p:nvSpPr>
          <p:cNvPr id="46" name="Drop risk panel"/>
          <p:cNvSpPr/>
          <p:nvPr/>
        </p:nvSpPr>
        <p:spPr>
          <a:xfrm>
            <a:off x="4800600" y="3703320"/>
            <a:ext cx="3200400" cy="1188720"/>
          </a:xfrm>
          <a:prstGeom prst="roundRect">
            <a:avLst>
              <a:gd name="adj" fmla="val 6154"/>
            </a:avLst>
          </a:prstGeom>
          <a:solidFill>
            <a:schemeClr val="accent5">
              <a:alpha val="12000"/>
            </a:schemeClr>
          </a:solidFill>
          <a:ln w="22225">
            <a:solidFill>
              <a:schemeClr val="accent5"/>
            </a:solidFill>
            <a:prstDash val="solid"/>
          </a:ln>
        </p:spPr>
        <p:txBody>
          <a:bodyPr/>
          <a:lstStyle/>
          <a:p>
            <a:endParaRPr lang="en-GB"/>
          </a:p>
        </p:txBody>
      </p:sp>
      <p:sp>
        <p:nvSpPr>
          <p:cNvPr id="47" name="Text 44"/>
          <p:cNvSpPr txBox="1"/>
          <p:nvPr/>
        </p:nvSpPr>
        <p:spPr>
          <a:xfrm>
            <a:off x="4937760" y="3767328"/>
            <a:ext cx="2926080" cy="274320"/>
          </a:xfrm>
          <a:prstGeom prst="rect">
            <a:avLst/>
          </a:prstGeom>
          <a:noFill/>
          <a:ln/>
        </p:spPr>
        <p:txBody>
          <a:bodyPr wrap="square" lIns="0" tIns="0" rIns="0" bIns="0" rtlCol="0" anchor="t"/>
          <a:lstStyle/>
          <a:p>
            <a:pPr marL="0" indent="0">
              <a:buNone/>
            </a:pPr>
            <a:r>
              <a:rPr lang="en-US" sz="1300" b="1" dirty="0">
                <a:solidFill>
                  <a:schemeClr val="accent5"/>
                </a:solidFill>
              </a:rPr>
              <a:t>⚠  DROP RISK: HIGH</a:t>
            </a:r>
            <a:endParaRPr lang="en-US" sz="1300" dirty="0"/>
          </a:p>
        </p:txBody>
      </p:sp>
      <p:sp>
        <p:nvSpPr>
          <p:cNvPr id="48" name="Text 45"/>
          <p:cNvSpPr txBox="1"/>
          <p:nvPr/>
        </p:nvSpPr>
        <p:spPr>
          <a:xfrm>
            <a:off x="4937760" y="4069080"/>
            <a:ext cx="2926080" cy="457200"/>
          </a:xfrm>
          <a:prstGeom prst="rect">
            <a:avLst/>
          </a:prstGeom>
          <a:noFill/>
          <a:ln/>
        </p:spPr>
        <p:txBody>
          <a:bodyPr wrap="square" lIns="0" tIns="0" rIns="0" bIns="0" rtlCol="0" anchor="t"/>
          <a:lstStyle/>
          <a:p>
            <a:pPr marL="0" indent="0">
              <a:buNone/>
            </a:pPr>
            <a:r>
              <a:rPr lang="en-US" sz="1100" dirty="0">
                <a:solidFill>
                  <a:schemeClr val="tx1"/>
                </a:solidFill>
              </a:rPr>
              <a:t>You dropped 3 of 4 long, dense books. Consider a shorter novel.</a:t>
            </a:r>
            <a:endParaRPr lang="en-US" sz="1100" dirty="0"/>
          </a:p>
        </p:txBody>
      </p:sp>
      <p:sp>
        <p:nvSpPr>
          <p:cNvPr id="49" name="Dismiss button"/>
          <p:cNvSpPr/>
          <p:nvPr/>
        </p:nvSpPr>
        <p:spPr>
          <a:xfrm>
            <a:off x="6995160" y="4526280"/>
            <a:ext cx="868680" cy="274320"/>
          </a:xfrm>
          <a:prstGeom prst="roundRect">
            <a:avLst>
              <a:gd name="adj" fmla="val 50000"/>
            </a:avLst>
          </a:prstGeom>
          <a:solidFill>
            <a:schemeClr val="bg2"/>
          </a:solidFill>
          <a:ln w="12700">
            <a:solidFill>
              <a:schemeClr val="accent1"/>
            </a:solidFill>
            <a:prstDash val="solid"/>
          </a:ln>
        </p:spPr>
        <p:txBody>
          <a:bodyPr/>
          <a:lstStyle/>
          <a:p>
            <a:endParaRPr lang="en-GB"/>
          </a:p>
        </p:txBody>
      </p:sp>
      <p:sp>
        <p:nvSpPr>
          <p:cNvPr id="50" name="Text 47"/>
          <p:cNvSpPr txBox="1"/>
          <p:nvPr/>
        </p:nvSpPr>
        <p:spPr>
          <a:xfrm>
            <a:off x="6995160" y="4526280"/>
            <a:ext cx="868680" cy="274320"/>
          </a:xfrm>
          <a:prstGeom prst="rect">
            <a:avLst/>
          </a:prstGeom>
          <a:noFill/>
          <a:ln/>
        </p:spPr>
        <p:txBody>
          <a:bodyPr wrap="square" lIns="0" tIns="0" rIns="0" bIns="0" rtlCol="0" anchor="ctr"/>
          <a:lstStyle/>
          <a:p>
            <a:pPr marL="0" indent="0" algn="ctr">
              <a:buNone/>
            </a:pPr>
            <a:r>
              <a:rPr lang="en-US" sz="1100" b="1" dirty="0">
                <a:solidFill>
                  <a:schemeClr val="tx1"/>
                </a:solidFill>
              </a:rPr>
              <a:t>Dismiss</a:t>
            </a:r>
            <a:endParaRPr lang="en-US" sz="1100" dirty="0"/>
          </a:p>
        </p:txBody>
      </p:sp>
      <p:sp>
        <p:nvSpPr>
          <p:cNvPr id="51" name="Text 48"/>
          <p:cNvSpPr txBox="1"/>
          <p:nvPr/>
        </p:nvSpPr>
        <p:spPr>
          <a:xfrm>
            <a:off x="4846320" y="4983480"/>
            <a:ext cx="3108960" cy="256032"/>
          </a:xfrm>
          <a:prstGeom prst="rect">
            <a:avLst/>
          </a:prstGeom>
          <a:noFill/>
          <a:ln/>
        </p:spPr>
        <p:txBody>
          <a:bodyPr wrap="square" lIns="0" tIns="0" rIns="0" bIns="0" rtlCol="0" anchor="t"/>
          <a:lstStyle/>
          <a:p>
            <a:pPr marL="0" indent="0">
              <a:buNone/>
            </a:pPr>
            <a:r>
              <a:rPr lang="en-US" sz="1200" b="1" dirty="0">
                <a:solidFill>
                  <a:schemeClr val="tx1"/>
                </a:solidFill>
              </a:rPr>
              <a:t>Best price: Seller A · EGP 210</a:t>
            </a:r>
            <a:endParaRPr lang="en-US" sz="1200" dirty="0"/>
          </a:p>
        </p:txBody>
      </p:sp>
      <p:sp>
        <p:nvSpPr>
          <p:cNvPr id="52" name="Compare button"/>
          <p:cNvSpPr/>
          <p:nvPr/>
        </p:nvSpPr>
        <p:spPr>
          <a:xfrm>
            <a:off x="4800600" y="5257800"/>
            <a:ext cx="1874520" cy="310896"/>
          </a:xfrm>
          <a:prstGeom prst="roundRect">
            <a:avLst>
              <a:gd name="adj" fmla="val 50000"/>
            </a:avLst>
          </a:prstGeom>
          <a:solidFill>
            <a:schemeClr val="bg2"/>
          </a:solidFill>
          <a:ln w="12700">
            <a:solidFill>
              <a:schemeClr val="accent1"/>
            </a:solidFill>
            <a:prstDash val="solid"/>
          </a:ln>
        </p:spPr>
        <p:txBody>
          <a:bodyPr/>
          <a:lstStyle/>
          <a:p>
            <a:endParaRPr lang="en-GB"/>
          </a:p>
        </p:txBody>
      </p:sp>
      <p:sp>
        <p:nvSpPr>
          <p:cNvPr id="53" name="Text 50"/>
          <p:cNvSpPr txBox="1"/>
          <p:nvPr/>
        </p:nvSpPr>
        <p:spPr>
          <a:xfrm>
            <a:off x="4800600" y="5257800"/>
            <a:ext cx="1874520" cy="310896"/>
          </a:xfrm>
          <a:prstGeom prst="rect">
            <a:avLst/>
          </a:prstGeom>
          <a:noFill/>
          <a:ln/>
        </p:spPr>
        <p:txBody>
          <a:bodyPr wrap="square" lIns="0" tIns="0" rIns="0" bIns="0" rtlCol="0" anchor="ctr"/>
          <a:lstStyle/>
          <a:p>
            <a:pPr marL="0" indent="0" algn="ctr">
              <a:buNone/>
            </a:pPr>
            <a:r>
              <a:rPr lang="en-US" sz="1100" b="1" dirty="0">
                <a:solidFill>
                  <a:schemeClr val="tx1"/>
                </a:solidFill>
              </a:rPr>
              <a:t>Compare all prices</a:t>
            </a:r>
            <a:endParaRPr lang="en-US" sz="1100" dirty="0"/>
          </a:p>
        </p:txBody>
      </p:sp>
      <p:sp>
        <p:nvSpPr>
          <p:cNvPr id="54" name="Add button"/>
          <p:cNvSpPr/>
          <p:nvPr/>
        </p:nvSpPr>
        <p:spPr>
          <a:xfrm>
            <a:off x="6766560" y="5257800"/>
            <a:ext cx="1234440" cy="310896"/>
          </a:xfrm>
          <a:prstGeom prst="roundRect">
            <a:avLst>
              <a:gd name="adj" fmla="val 50000"/>
            </a:avLst>
          </a:prstGeom>
          <a:solidFill>
            <a:schemeClr val="accent1"/>
          </a:solidFill>
          <a:ln w="12700">
            <a:solidFill>
              <a:schemeClr val="accent1"/>
            </a:solidFill>
            <a:prstDash val="solid"/>
          </a:ln>
        </p:spPr>
        <p:txBody>
          <a:bodyPr/>
          <a:lstStyle/>
          <a:p>
            <a:endParaRPr lang="en-GB"/>
          </a:p>
        </p:txBody>
      </p:sp>
      <p:sp>
        <p:nvSpPr>
          <p:cNvPr id="55" name="Text 52"/>
          <p:cNvSpPr txBox="1"/>
          <p:nvPr/>
        </p:nvSpPr>
        <p:spPr>
          <a:xfrm>
            <a:off x="6766560" y="5257800"/>
            <a:ext cx="1234440" cy="310896"/>
          </a:xfrm>
          <a:prstGeom prst="rect">
            <a:avLst/>
          </a:prstGeom>
          <a:noFill/>
          <a:ln/>
        </p:spPr>
        <p:txBody>
          <a:bodyPr wrap="square" lIns="0" tIns="0" rIns="0" bIns="0" rtlCol="0" anchor="ctr"/>
          <a:lstStyle/>
          <a:p>
            <a:pPr marL="0" indent="0" algn="ctr">
              <a:buNone/>
            </a:pPr>
            <a:r>
              <a:rPr lang="en-US" sz="1100" b="1" dirty="0">
                <a:solidFill>
                  <a:schemeClr val="bg1"/>
                </a:solidFill>
              </a:rPr>
              <a:t>Add to library</a:t>
            </a:r>
            <a:endParaRPr lang="en-US" sz="1100" dirty="0"/>
          </a:p>
        </p:txBody>
      </p:sp>
      <p:sp>
        <p:nvSpPr>
          <p:cNvPr id="56" name="Connector"/>
          <p:cNvSpPr/>
          <p:nvPr/>
        </p:nvSpPr>
        <p:spPr>
          <a:xfrm>
            <a:off x="4800600" y="5623560"/>
            <a:ext cx="3200400" cy="0"/>
          </a:xfrm>
          <a:prstGeom prst="line">
            <a:avLst/>
          </a:prstGeom>
          <a:noFill/>
          <a:ln w="9525">
            <a:solidFill>
              <a:schemeClr val="accent2"/>
            </a:solidFill>
            <a:prstDash val="solid"/>
          </a:ln>
        </p:spPr>
        <p:txBody>
          <a:bodyPr/>
          <a:lstStyle/>
          <a:p>
            <a:endParaRPr lang="en-GB"/>
          </a:p>
        </p:txBody>
      </p:sp>
      <p:sp>
        <p:nvSpPr>
          <p:cNvPr id="57" name="Nav icon placeholder"/>
          <p:cNvSpPr/>
          <p:nvPr/>
        </p:nvSpPr>
        <p:spPr>
          <a:xfrm>
            <a:off x="5102352" y="5687568"/>
            <a:ext cx="182880" cy="182880"/>
          </a:xfrm>
          <a:prstGeom prst="roundRect">
            <a:avLst>
              <a:gd name="adj" fmla="val 40000"/>
            </a:avLst>
          </a:prstGeom>
          <a:solidFill>
            <a:schemeClr val="bg2"/>
          </a:solidFill>
          <a:ln w="12700">
            <a:solidFill>
              <a:schemeClr val="accent2"/>
            </a:solidFill>
            <a:prstDash val="solid"/>
          </a:ln>
        </p:spPr>
        <p:txBody>
          <a:bodyPr/>
          <a:lstStyle/>
          <a:p>
            <a:endParaRPr lang="en-GB"/>
          </a:p>
        </p:txBody>
      </p:sp>
      <p:sp>
        <p:nvSpPr>
          <p:cNvPr id="58" name="Text 55"/>
          <p:cNvSpPr txBox="1"/>
          <p:nvPr/>
        </p:nvSpPr>
        <p:spPr>
          <a:xfrm>
            <a:off x="4800600" y="5907024"/>
            <a:ext cx="800100" cy="228600"/>
          </a:xfrm>
          <a:prstGeom prst="rect">
            <a:avLst/>
          </a:prstGeom>
          <a:noFill/>
          <a:ln/>
        </p:spPr>
        <p:txBody>
          <a:bodyPr wrap="square" lIns="0" tIns="0" rIns="0" bIns="0" rtlCol="0" anchor="t"/>
          <a:lstStyle/>
          <a:p>
            <a:pPr marL="0" indent="0" algn="ctr">
              <a:buNone/>
            </a:pPr>
            <a:r>
              <a:rPr lang="en-US" sz="1100" b="1" dirty="0">
                <a:solidFill>
                  <a:schemeClr val="tx1"/>
                </a:solidFill>
              </a:rPr>
              <a:t>Home</a:t>
            </a:r>
            <a:endParaRPr lang="en-US" sz="1100" dirty="0"/>
          </a:p>
        </p:txBody>
      </p:sp>
      <p:sp>
        <p:nvSpPr>
          <p:cNvPr id="59" name="Nav icon placeholder"/>
          <p:cNvSpPr/>
          <p:nvPr/>
        </p:nvSpPr>
        <p:spPr>
          <a:xfrm>
            <a:off x="5902452" y="5687568"/>
            <a:ext cx="182880" cy="182880"/>
          </a:xfrm>
          <a:prstGeom prst="roundRect">
            <a:avLst>
              <a:gd name="adj" fmla="val 40000"/>
            </a:avLst>
          </a:prstGeom>
          <a:solidFill>
            <a:schemeClr val="bg2"/>
          </a:solidFill>
          <a:ln w="12700">
            <a:solidFill>
              <a:schemeClr val="accent2"/>
            </a:solidFill>
            <a:prstDash val="solid"/>
          </a:ln>
        </p:spPr>
        <p:txBody>
          <a:bodyPr/>
          <a:lstStyle/>
          <a:p>
            <a:endParaRPr lang="en-GB"/>
          </a:p>
        </p:txBody>
      </p:sp>
      <p:sp>
        <p:nvSpPr>
          <p:cNvPr id="60" name="Text 57"/>
          <p:cNvSpPr txBox="1"/>
          <p:nvPr/>
        </p:nvSpPr>
        <p:spPr>
          <a:xfrm>
            <a:off x="5600700" y="5907024"/>
            <a:ext cx="800100" cy="228600"/>
          </a:xfrm>
          <a:prstGeom prst="rect">
            <a:avLst/>
          </a:prstGeom>
          <a:noFill/>
          <a:ln/>
        </p:spPr>
        <p:txBody>
          <a:bodyPr wrap="square" lIns="0" tIns="0" rIns="0" bIns="0" rtlCol="0" anchor="t"/>
          <a:lstStyle/>
          <a:p>
            <a:pPr marL="0" indent="0" algn="ctr">
              <a:buNone/>
            </a:pPr>
            <a:r>
              <a:rPr lang="en-US" sz="1100" b="1" dirty="0">
                <a:solidFill>
                  <a:schemeClr val="tx1"/>
                </a:solidFill>
              </a:rPr>
              <a:t>Search</a:t>
            </a:r>
            <a:endParaRPr lang="en-US" sz="1100" dirty="0"/>
          </a:p>
        </p:txBody>
      </p:sp>
      <p:sp>
        <p:nvSpPr>
          <p:cNvPr id="61" name="Nav icon placeholder"/>
          <p:cNvSpPr/>
          <p:nvPr/>
        </p:nvSpPr>
        <p:spPr>
          <a:xfrm>
            <a:off x="6702552" y="5687568"/>
            <a:ext cx="182880" cy="182880"/>
          </a:xfrm>
          <a:prstGeom prst="roundRect">
            <a:avLst>
              <a:gd name="adj" fmla="val 40000"/>
            </a:avLst>
          </a:prstGeom>
          <a:solidFill>
            <a:schemeClr val="bg2"/>
          </a:solidFill>
          <a:ln w="12700">
            <a:solidFill>
              <a:schemeClr val="accent2"/>
            </a:solidFill>
            <a:prstDash val="solid"/>
          </a:ln>
        </p:spPr>
        <p:txBody>
          <a:bodyPr/>
          <a:lstStyle/>
          <a:p>
            <a:endParaRPr lang="en-GB"/>
          </a:p>
        </p:txBody>
      </p:sp>
      <p:sp>
        <p:nvSpPr>
          <p:cNvPr id="62" name="Text 59"/>
          <p:cNvSpPr txBox="1"/>
          <p:nvPr/>
        </p:nvSpPr>
        <p:spPr>
          <a:xfrm>
            <a:off x="6400800" y="5907024"/>
            <a:ext cx="800100" cy="228600"/>
          </a:xfrm>
          <a:prstGeom prst="rect">
            <a:avLst/>
          </a:prstGeom>
          <a:noFill/>
          <a:ln/>
        </p:spPr>
        <p:txBody>
          <a:bodyPr wrap="square" lIns="0" tIns="0" rIns="0" bIns="0" rtlCol="0" anchor="t"/>
          <a:lstStyle/>
          <a:p>
            <a:pPr marL="0" indent="0" algn="ctr">
              <a:buNone/>
            </a:pPr>
            <a:r>
              <a:rPr lang="en-US" sz="1100" b="1" dirty="0">
                <a:solidFill>
                  <a:schemeClr val="tx1"/>
                </a:solidFill>
              </a:rPr>
              <a:t>Library</a:t>
            </a:r>
            <a:endParaRPr lang="en-US" sz="1100" dirty="0"/>
          </a:p>
        </p:txBody>
      </p:sp>
      <p:sp>
        <p:nvSpPr>
          <p:cNvPr id="63" name="Nav icon placeholder"/>
          <p:cNvSpPr/>
          <p:nvPr/>
        </p:nvSpPr>
        <p:spPr>
          <a:xfrm>
            <a:off x="7502652" y="5687568"/>
            <a:ext cx="182880" cy="182880"/>
          </a:xfrm>
          <a:prstGeom prst="roundRect">
            <a:avLst>
              <a:gd name="adj" fmla="val 40000"/>
            </a:avLst>
          </a:prstGeom>
          <a:solidFill>
            <a:schemeClr val="bg2"/>
          </a:solidFill>
          <a:ln w="12700">
            <a:solidFill>
              <a:schemeClr val="accent2"/>
            </a:solidFill>
            <a:prstDash val="solid"/>
          </a:ln>
        </p:spPr>
        <p:txBody>
          <a:bodyPr/>
          <a:lstStyle/>
          <a:p>
            <a:endParaRPr lang="en-GB"/>
          </a:p>
        </p:txBody>
      </p:sp>
      <p:sp>
        <p:nvSpPr>
          <p:cNvPr id="64" name="Text 61"/>
          <p:cNvSpPr txBox="1"/>
          <p:nvPr/>
        </p:nvSpPr>
        <p:spPr>
          <a:xfrm>
            <a:off x="7200900" y="5907024"/>
            <a:ext cx="800100" cy="228600"/>
          </a:xfrm>
          <a:prstGeom prst="rect">
            <a:avLst/>
          </a:prstGeom>
          <a:noFill/>
          <a:ln/>
        </p:spPr>
        <p:txBody>
          <a:bodyPr wrap="square" lIns="0" tIns="0" rIns="0" bIns="0" rtlCol="0" anchor="t"/>
          <a:lstStyle/>
          <a:p>
            <a:pPr marL="0" indent="0" algn="ctr">
              <a:buNone/>
            </a:pPr>
            <a:r>
              <a:rPr lang="en-US" sz="1100" b="1" dirty="0">
                <a:solidFill>
                  <a:schemeClr val="tx1"/>
                </a:solidFill>
              </a:rPr>
              <a:t>Profile</a:t>
            </a:r>
            <a:endParaRPr lang="en-US" sz="1100" dirty="0"/>
          </a:p>
        </p:txBody>
      </p:sp>
      <p:sp>
        <p:nvSpPr>
          <p:cNvPr id="65" name="Accessibility card"/>
          <p:cNvSpPr/>
          <p:nvPr/>
        </p:nvSpPr>
        <p:spPr>
          <a:xfrm>
            <a:off x="8503920" y="1783080"/>
            <a:ext cx="3044952" cy="4434840"/>
          </a:xfrm>
          <a:prstGeom prst="roundRect">
            <a:avLst>
              <a:gd name="adj" fmla="val 3604"/>
            </a:avLst>
          </a:prstGeom>
          <a:solidFill>
            <a:schemeClr val="bg2"/>
          </a:solidFill>
          <a:ln w="9525">
            <a:solidFill>
              <a:schemeClr val="tx2"/>
            </a:solidFill>
            <a:prstDash val="solid"/>
          </a:ln>
        </p:spPr>
        <p:txBody>
          <a:bodyPr/>
          <a:lstStyle/>
          <a:p>
            <a:endParaRPr lang="en-GB"/>
          </a:p>
        </p:txBody>
      </p:sp>
      <p:sp>
        <p:nvSpPr>
          <p:cNvPr id="66" name="Text 63"/>
          <p:cNvSpPr txBox="1"/>
          <p:nvPr/>
        </p:nvSpPr>
        <p:spPr>
          <a:xfrm>
            <a:off x="8732520" y="1965960"/>
            <a:ext cx="2587752"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KEY A11Y FEATURES</a:t>
            </a:r>
            <a:endParaRPr lang="en-US" sz="1200" dirty="0"/>
          </a:p>
        </p:txBody>
      </p:sp>
      <p:sp>
        <p:nvSpPr>
          <p:cNvPr id="67" name="Text 64"/>
          <p:cNvSpPr txBox="1"/>
          <p:nvPr/>
        </p:nvSpPr>
        <p:spPr>
          <a:xfrm>
            <a:off x="8732520" y="2423160"/>
            <a:ext cx="365760" cy="365760"/>
          </a:xfrm>
          <a:prstGeom prst="rect">
            <a:avLst/>
          </a:prstGeom>
          <a:noFill/>
          <a:ln/>
        </p:spPr>
        <p:txBody>
          <a:bodyPr wrap="square" lIns="0" tIns="0" rIns="0" bIns="0" rtlCol="0" anchor="t"/>
          <a:lstStyle/>
          <a:p>
            <a:pPr marL="0" indent="0">
              <a:buNone/>
            </a:pPr>
            <a:r>
              <a:rPr lang="en-US" sz="2200" b="1" dirty="0">
                <a:solidFill>
                  <a:srgbClr val="44CC44"/>
                </a:solidFill>
              </a:rPr>
              <a:t>✓</a:t>
            </a:r>
            <a:endParaRPr lang="en-US" sz="2200" dirty="0"/>
          </a:p>
        </p:txBody>
      </p:sp>
      <p:sp>
        <p:nvSpPr>
          <p:cNvPr id="68" name="Text 65"/>
          <p:cNvSpPr txBox="1"/>
          <p:nvPr/>
        </p:nvSpPr>
        <p:spPr>
          <a:xfrm>
            <a:off x="9189720" y="2423160"/>
            <a:ext cx="2130552" cy="320040"/>
          </a:xfrm>
          <a:prstGeom prst="rect">
            <a:avLst/>
          </a:prstGeom>
          <a:noFill/>
          <a:ln/>
        </p:spPr>
        <p:txBody>
          <a:bodyPr wrap="square" lIns="0" tIns="0" rIns="0" bIns="0" rtlCol="0" anchor="t"/>
          <a:lstStyle/>
          <a:p>
            <a:pPr marL="0" indent="0">
              <a:buNone/>
            </a:pPr>
            <a:r>
              <a:rPr lang="en-US" sz="1600" b="1" dirty="0">
                <a:solidFill>
                  <a:schemeClr val="tx1"/>
                </a:solidFill>
              </a:rPr>
              <a:t>Labelled nav</a:t>
            </a:r>
            <a:endParaRPr lang="en-US" sz="1600" dirty="0"/>
          </a:p>
        </p:txBody>
      </p:sp>
      <p:sp>
        <p:nvSpPr>
          <p:cNvPr id="69" name="Text 66"/>
          <p:cNvSpPr txBox="1"/>
          <p:nvPr/>
        </p:nvSpPr>
        <p:spPr>
          <a:xfrm>
            <a:off x="9189720" y="2770632"/>
            <a:ext cx="2130552" cy="731520"/>
          </a:xfrm>
          <a:prstGeom prst="rect">
            <a:avLst/>
          </a:prstGeom>
          <a:noFill/>
          <a:ln/>
        </p:spPr>
        <p:txBody>
          <a:bodyPr wrap="square" lIns="0" tIns="0" rIns="0" bIns="0" rtlCol="0" anchor="t"/>
          <a:lstStyle/>
          <a:p>
            <a:pPr marL="0" indent="0">
              <a:buNone/>
            </a:pPr>
            <a:r>
              <a:rPr lang="en-US" sz="1400" dirty="0">
                <a:solidFill>
                  <a:schemeClr val="accent2"/>
                </a:solidFill>
              </a:rPr>
              <a:t>Text + icon under every nav item</a:t>
            </a:r>
            <a:endParaRPr lang="en-US" sz="1400" dirty="0"/>
          </a:p>
        </p:txBody>
      </p:sp>
      <p:sp>
        <p:nvSpPr>
          <p:cNvPr id="70" name="Text 67"/>
          <p:cNvSpPr txBox="1"/>
          <p:nvPr/>
        </p:nvSpPr>
        <p:spPr>
          <a:xfrm>
            <a:off x="8732520" y="3657600"/>
            <a:ext cx="365760" cy="365760"/>
          </a:xfrm>
          <a:prstGeom prst="rect">
            <a:avLst/>
          </a:prstGeom>
          <a:noFill/>
          <a:ln/>
        </p:spPr>
        <p:txBody>
          <a:bodyPr wrap="square" lIns="0" tIns="0" rIns="0" bIns="0" rtlCol="0" anchor="t"/>
          <a:lstStyle/>
          <a:p>
            <a:pPr marL="0" indent="0">
              <a:buNone/>
            </a:pPr>
            <a:r>
              <a:rPr lang="en-US" sz="2200" b="1" dirty="0">
                <a:solidFill>
                  <a:srgbClr val="44CC44"/>
                </a:solidFill>
              </a:rPr>
              <a:t>✓</a:t>
            </a:r>
            <a:endParaRPr lang="en-US" sz="2200" dirty="0"/>
          </a:p>
        </p:txBody>
      </p:sp>
      <p:sp>
        <p:nvSpPr>
          <p:cNvPr id="71" name="Text 68"/>
          <p:cNvSpPr txBox="1"/>
          <p:nvPr/>
        </p:nvSpPr>
        <p:spPr>
          <a:xfrm>
            <a:off x="9189720" y="3657600"/>
            <a:ext cx="2130552" cy="320040"/>
          </a:xfrm>
          <a:prstGeom prst="rect">
            <a:avLst/>
          </a:prstGeom>
          <a:noFill/>
          <a:ln/>
        </p:spPr>
        <p:txBody>
          <a:bodyPr wrap="square" lIns="0" tIns="0" rIns="0" bIns="0" rtlCol="0" anchor="t"/>
          <a:lstStyle/>
          <a:p>
            <a:pPr marL="0" indent="0">
              <a:buNone/>
            </a:pPr>
            <a:r>
              <a:rPr lang="en-US" sz="1600" b="1" dirty="0">
                <a:solidFill>
                  <a:schemeClr val="tx1"/>
                </a:solidFill>
              </a:rPr>
              <a:t>Not colour alone</a:t>
            </a:r>
            <a:endParaRPr lang="en-US" sz="1600" dirty="0"/>
          </a:p>
        </p:txBody>
      </p:sp>
      <p:sp>
        <p:nvSpPr>
          <p:cNvPr id="72" name="Text 69"/>
          <p:cNvSpPr txBox="1"/>
          <p:nvPr/>
        </p:nvSpPr>
        <p:spPr>
          <a:xfrm>
            <a:off x="9189720" y="4005072"/>
            <a:ext cx="2130552" cy="731520"/>
          </a:xfrm>
          <a:prstGeom prst="rect">
            <a:avLst/>
          </a:prstGeom>
          <a:noFill/>
          <a:ln/>
        </p:spPr>
        <p:txBody>
          <a:bodyPr wrap="square" lIns="0" tIns="0" rIns="0" bIns="0" rtlCol="0" anchor="t"/>
          <a:lstStyle/>
          <a:p>
            <a:pPr marL="0" indent="0">
              <a:buNone/>
            </a:pPr>
            <a:r>
              <a:rPr lang="en-US" sz="1400" dirty="0">
                <a:solidFill>
                  <a:schemeClr val="accent2"/>
                </a:solidFill>
              </a:rPr>
              <a:t>Drop risk = icon + text + reason</a:t>
            </a:r>
            <a:endParaRPr lang="en-US" sz="1400" dirty="0"/>
          </a:p>
        </p:txBody>
      </p:sp>
      <p:sp>
        <p:nvSpPr>
          <p:cNvPr id="73" name="Text 70"/>
          <p:cNvSpPr txBox="1"/>
          <p:nvPr/>
        </p:nvSpPr>
        <p:spPr>
          <a:xfrm>
            <a:off x="8732520" y="4892040"/>
            <a:ext cx="365760" cy="365760"/>
          </a:xfrm>
          <a:prstGeom prst="rect">
            <a:avLst/>
          </a:prstGeom>
          <a:noFill/>
          <a:ln/>
        </p:spPr>
        <p:txBody>
          <a:bodyPr wrap="square" lIns="0" tIns="0" rIns="0" bIns="0" rtlCol="0" anchor="t"/>
          <a:lstStyle/>
          <a:p>
            <a:pPr marL="0" indent="0">
              <a:buNone/>
            </a:pPr>
            <a:r>
              <a:rPr lang="en-US" sz="2200" b="1" dirty="0">
                <a:solidFill>
                  <a:srgbClr val="44CC44"/>
                </a:solidFill>
              </a:rPr>
              <a:t>✓</a:t>
            </a:r>
            <a:endParaRPr lang="en-US" sz="2200" dirty="0"/>
          </a:p>
        </p:txBody>
      </p:sp>
      <p:sp>
        <p:nvSpPr>
          <p:cNvPr id="74" name="Text 71"/>
          <p:cNvSpPr txBox="1"/>
          <p:nvPr/>
        </p:nvSpPr>
        <p:spPr>
          <a:xfrm>
            <a:off x="9189720" y="4892040"/>
            <a:ext cx="2130552" cy="320040"/>
          </a:xfrm>
          <a:prstGeom prst="rect">
            <a:avLst/>
          </a:prstGeom>
          <a:noFill/>
          <a:ln/>
        </p:spPr>
        <p:txBody>
          <a:bodyPr wrap="square" lIns="0" tIns="0" rIns="0" bIns="0" rtlCol="0" anchor="t"/>
          <a:lstStyle/>
          <a:p>
            <a:pPr marL="0" indent="0">
              <a:buNone/>
            </a:pPr>
            <a:r>
              <a:rPr lang="en-US" sz="1600" b="1" dirty="0">
                <a:solidFill>
                  <a:schemeClr val="tx1"/>
                </a:solidFill>
              </a:rPr>
              <a:t>Touch targets</a:t>
            </a:r>
            <a:endParaRPr lang="en-US" sz="1600" dirty="0"/>
          </a:p>
        </p:txBody>
      </p:sp>
      <p:sp>
        <p:nvSpPr>
          <p:cNvPr id="75" name="Text 72"/>
          <p:cNvSpPr txBox="1"/>
          <p:nvPr/>
        </p:nvSpPr>
        <p:spPr>
          <a:xfrm>
            <a:off x="9189720" y="5239512"/>
            <a:ext cx="2130552" cy="731520"/>
          </a:xfrm>
          <a:prstGeom prst="rect">
            <a:avLst/>
          </a:prstGeom>
          <a:noFill/>
          <a:ln/>
        </p:spPr>
        <p:txBody>
          <a:bodyPr wrap="square" lIns="0" tIns="0" rIns="0" bIns="0" rtlCol="0" anchor="t"/>
          <a:lstStyle/>
          <a:p>
            <a:pPr marL="0" indent="0">
              <a:buNone/>
            </a:pPr>
            <a:r>
              <a:rPr lang="en-US" sz="1400" dirty="0">
                <a:solidFill>
                  <a:schemeClr val="accent2"/>
                </a:solidFill>
              </a:rPr>
              <a:t>≥56dp for all tappable items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06 · WIREFRAMES &amp; USABILITY HEURISTICS</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Nielsen’s 10 Usability Heuristics</a:t>
            </a:r>
            <a:endParaRPr lang="en-US" sz="3200" dirty="0"/>
          </a:p>
        </p:txBody>
      </p:sp>
      <p:sp>
        <p:nvSpPr>
          <p:cNvPr id="5" name="Heuristic 1"/>
          <p:cNvSpPr/>
          <p:nvPr/>
        </p:nvSpPr>
        <p:spPr>
          <a:xfrm>
            <a:off x="640080" y="1554480"/>
            <a:ext cx="5349240" cy="841248"/>
          </a:xfrm>
          <a:prstGeom prst="roundRect">
            <a:avLst>
              <a:gd name="adj" fmla="val 13043"/>
            </a:avLst>
          </a:prstGeom>
          <a:solidFill>
            <a:schemeClr val="bg2"/>
          </a:solidFill>
          <a:ln w="19050">
            <a:solidFill>
              <a:schemeClr val="accent1"/>
            </a:solidFill>
            <a:prstDash val="solid"/>
          </a:ln>
        </p:spPr>
        <p:txBody>
          <a:bodyPr/>
          <a:lstStyle/>
          <a:p>
            <a:endParaRPr lang="en-GB"/>
          </a:p>
        </p:txBody>
      </p:sp>
      <p:sp>
        <p:nvSpPr>
          <p:cNvPr id="6" name="Number"/>
          <p:cNvSpPr/>
          <p:nvPr/>
        </p:nvSpPr>
        <p:spPr>
          <a:xfrm>
            <a:off x="822960" y="1719072"/>
            <a:ext cx="512064" cy="512064"/>
          </a:xfrm>
          <a:prstGeom prst="ellipse">
            <a:avLst/>
          </a:prstGeom>
          <a:solidFill>
            <a:schemeClr val="accent1"/>
          </a:solidFill>
          <a:ln/>
        </p:spPr>
        <p:txBody>
          <a:bodyPr/>
          <a:lstStyle/>
          <a:p>
            <a:endParaRPr lang="en-GB"/>
          </a:p>
        </p:txBody>
      </p:sp>
      <p:sp>
        <p:nvSpPr>
          <p:cNvPr id="7" name="Text 4"/>
          <p:cNvSpPr txBox="1"/>
          <p:nvPr/>
        </p:nvSpPr>
        <p:spPr>
          <a:xfrm>
            <a:off x="822960" y="1719072"/>
            <a:ext cx="512064" cy="512064"/>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5"/>
          <p:cNvSpPr txBox="1"/>
          <p:nvPr/>
        </p:nvSpPr>
        <p:spPr>
          <a:xfrm>
            <a:off x="1508760" y="1645920"/>
            <a:ext cx="3291840" cy="365760"/>
          </a:xfrm>
          <a:prstGeom prst="rect">
            <a:avLst/>
          </a:prstGeom>
          <a:noFill/>
          <a:ln/>
        </p:spPr>
        <p:txBody>
          <a:bodyPr wrap="square" lIns="0" tIns="0" rIns="0" bIns="0" rtlCol="0" anchor="ctr"/>
          <a:lstStyle/>
          <a:p>
            <a:pPr marL="0" indent="0">
              <a:buNone/>
            </a:pPr>
            <a:r>
              <a:rPr lang="en-US" sz="1600" b="1" dirty="0">
                <a:solidFill>
                  <a:schemeClr val="tx1"/>
                </a:solidFill>
              </a:rPr>
              <a:t>Visibility of system status</a:t>
            </a:r>
            <a:endParaRPr lang="en-US" sz="1600" dirty="0"/>
          </a:p>
        </p:txBody>
      </p:sp>
      <p:sp>
        <p:nvSpPr>
          <p:cNvPr id="9" name="Text 6"/>
          <p:cNvSpPr txBox="1"/>
          <p:nvPr/>
        </p:nvSpPr>
        <p:spPr>
          <a:xfrm>
            <a:off x="1508760" y="2011680"/>
            <a:ext cx="4297680" cy="274320"/>
          </a:xfrm>
          <a:prstGeom prst="rect">
            <a:avLst/>
          </a:prstGeom>
          <a:noFill/>
          <a:ln/>
        </p:spPr>
        <p:txBody>
          <a:bodyPr wrap="square" lIns="0" tIns="0" rIns="0" bIns="0" rtlCol="0" anchor="t"/>
          <a:lstStyle/>
          <a:p>
            <a:pPr marL="0" indent="0">
              <a:buNone/>
            </a:pPr>
            <a:r>
              <a:rPr lang="en-US" sz="1400" dirty="0">
                <a:solidFill>
                  <a:schemeClr val="accent2"/>
                </a:solidFill>
              </a:rPr>
              <a:t>Keep users informed</a:t>
            </a:r>
            <a:endParaRPr lang="en-US" sz="1400" dirty="0"/>
          </a:p>
        </p:txBody>
      </p:sp>
      <p:sp>
        <p:nvSpPr>
          <p:cNvPr id="10" name="Applied tag"/>
          <p:cNvSpPr/>
          <p:nvPr/>
        </p:nvSpPr>
        <p:spPr>
          <a:xfrm>
            <a:off x="4892040" y="1737360"/>
            <a:ext cx="914400" cy="292608"/>
          </a:xfrm>
          <a:prstGeom prst="roundRect">
            <a:avLst>
              <a:gd name="adj" fmla="val 50000"/>
            </a:avLst>
          </a:prstGeom>
          <a:solidFill>
            <a:schemeClr val="accent1"/>
          </a:solidFill>
          <a:ln/>
        </p:spPr>
        <p:txBody>
          <a:bodyPr/>
          <a:lstStyle/>
          <a:p>
            <a:endParaRPr lang="en-GB"/>
          </a:p>
        </p:txBody>
      </p:sp>
      <p:sp>
        <p:nvSpPr>
          <p:cNvPr id="11" name="Text 8"/>
          <p:cNvSpPr txBox="1"/>
          <p:nvPr/>
        </p:nvSpPr>
        <p:spPr>
          <a:xfrm>
            <a:off x="4892040" y="1737360"/>
            <a:ext cx="914400" cy="292608"/>
          </a:xfrm>
          <a:prstGeom prst="rect">
            <a:avLst/>
          </a:prstGeom>
          <a:noFill/>
          <a:ln/>
        </p:spPr>
        <p:txBody>
          <a:bodyPr wrap="square" lIns="0" tIns="0" rIns="0" bIns="0" rtlCol="0" anchor="ctr"/>
          <a:lstStyle/>
          <a:p>
            <a:pPr marL="0" indent="0" algn="ctr">
              <a:buNone/>
            </a:pPr>
            <a:r>
              <a:rPr lang="en-US" sz="1000" b="1" kern="0" spc="100" dirty="0">
                <a:solidFill>
                  <a:schemeClr val="bg1"/>
                </a:solidFill>
              </a:rPr>
              <a:t>APPLIED</a:t>
            </a:r>
            <a:endParaRPr lang="en-US" sz="1000" dirty="0"/>
          </a:p>
        </p:txBody>
      </p:sp>
      <p:sp>
        <p:nvSpPr>
          <p:cNvPr id="12" name="Heuristic 2"/>
          <p:cNvSpPr/>
          <p:nvPr/>
        </p:nvSpPr>
        <p:spPr>
          <a:xfrm>
            <a:off x="640080" y="2505456"/>
            <a:ext cx="5349240" cy="841248"/>
          </a:xfrm>
          <a:prstGeom prst="roundRect">
            <a:avLst>
              <a:gd name="adj" fmla="val 13043"/>
            </a:avLst>
          </a:prstGeom>
          <a:solidFill>
            <a:schemeClr val="bg2"/>
          </a:solidFill>
          <a:ln w="9525">
            <a:solidFill>
              <a:schemeClr val="tx2"/>
            </a:solidFill>
            <a:prstDash val="solid"/>
          </a:ln>
        </p:spPr>
        <p:txBody>
          <a:bodyPr/>
          <a:lstStyle/>
          <a:p>
            <a:endParaRPr lang="en-GB"/>
          </a:p>
        </p:txBody>
      </p:sp>
      <p:sp>
        <p:nvSpPr>
          <p:cNvPr id="13" name="Number"/>
          <p:cNvSpPr/>
          <p:nvPr/>
        </p:nvSpPr>
        <p:spPr>
          <a:xfrm>
            <a:off x="822960" y="2670048"/>
            <a:ext cx="512064" cy="512064"/>
          </a:xfrm>
          <a:prstGeom prst="ellipse">
            <a:avLst/>
          </a:prstGeom>
          <a:solidFill>
            <a:schemeClr val="tx2"/>
          </a:solidFill>
          <a:ln/>
        </p:spPr>
        <p:txBody>
          <a:bodyPr/>
          <a:lstStyle/>
          <a:p>
            <a:endParaRPr lang="en-GB"/>
          </a:p>
        </p:txBody>
      </p:sp>
      <p:sp>
        <p:nvSpPr>
          <p:cNvPr id="14" name="Text 11"/>
          <p:cNvSpPr txBox="1"/>
          <p:nvPr/>
        </p:nvSpPr>
        <p:spPr>
          <a:xfrm>
            <a:off x="822960" y="2670048"/>
            <a:ext cx="512064" cy="512064"/>
          </a:xfrm>
          <a:prstGeom prst="rect">
            <a:avLst/>
          </a:prstGeom>
          <a:no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5" name="Text 12"/>
          <p:cNvSpPr txBox="1"/>
          <p:nvPr/>
        </p:nvSpPr>
        <p:spPr>
          <a:xfrm>
            <a:off x="1508760" y="2596896"/>
            <a:ext cx="4297680" cy="365760"/>
          </a:xfrm>
          <a:prstGeom prst="rect">
            <a:avLst/>
          </a:prstGeom>
          <a:noFill/>
          <a:ln/>
        </p:spPr>
        <p:txBody>
          <a:bodyPr wrap="square" lIns="0" tIns="0" rIns="0" bIns="0" rtlCol="0" anchor="ctr"/>
          <a:lstStyle/>
          <a:p>
            <a:pPr marL="0" indent="0">
              <a:buNone/>
            </a:pPr>
            <a:r>
              <a:rPr lang="en-US" sz="1600" b="1" dirty="0">
                <a:solidFill>
                  <a:schemeClr val="tx1"/>
                </a:solidFill>
              </a:rPr>
              <a:t>Match system &amp; real world</a:t>
            </a:r>
            <a:endParaRPr lang="en-US" sz="1600" dirty="0"/>
          </a:p>
        </p:txBody>
      </p:sp>
      <p:sp>
        <p:nvSpPr>
          <p:cNvPr id="16" name="Text 13"/>
          <p:cNvSpPr txBox="1"/>
          <p:nvPr/>
        </p:nvSpPr>
        <p:spPr>
          <a:xfrm>
            <a:off x="1508760" y="2962656"/>
            <a:ext cx="4297680" cy="274320"/>
          </a:xfrm>
          <a:prstGeom prst="rect">
            <a:avLst/>
          </a:prstGeom>
          <a:noFill/>
          <a:ln/>
        </p:spPr>
        <p:txBody>
          <a:bodyPr wrap="square" lIns="0" tIns="0" rIns="0" bIns="0" rtlCol="0" anchor="t"/>
          <a:lstStyle/>
          <a:p>
            <a:pPr marL="0" indent="0">
              <a:buNone/>
            </a:pPr>
            <a:r>
              <a:rPr lang="en-US" sz="1400" dirty="0">
                <a:solidFill>
                  <a:schemeClr val="accent2"/>
                </a:solidFill>
              </a:rPr>
              <a:t>Familiar language, conventions</a:t>
            </a:r>
            <a:endParaRPr lang="en-US" sz="1400" dirty="0"/>
          </a:p>
        </p:txBody>
      </p:sp>
      <p:sp>
        <p:nvSpPr>
          <p:cNvPr id="17" name="Heuristic 3"/>
          <p:cNvSpPr/>
          <p:nvPr/>
        </p:nvSpPr>
        <p:spPr>
          <a:xfrm>
            <a:off x="640080" y="3456432"/>
            <a:ext cx="5349240" cy="841248"/>
          </a:xfrm>
          <a:prstGeom prst="roundRect">
            <a:avLst>
              <a:gd name="adj" fmla="val 13043"/>
            </a:avLst>
          </a:prstGeom>
          <a:solidFill>
            <a:schemeClr val="bg2"/>
          </a:solidFill>
          <a:ln w="9525">
            <a:solidFill>
              <a:schemeClr val="tx2"/>
            </a:solidFill>
            <a:prstDash val="solid"/>
          </a:ln>
        </p:spPr>
        <p:txBody>
          <a:bodyPr/>
          <a:lstStyle/>
          <a:p>
            <a:endParaRPr lang="en-GB"/>
          </a:p>
        </p:txBody>
      </p:sp>
      <p:sp>
        <p:nvSpPr>
          <p:cNvPr id="18" name="Number"/>
          <p:cNvSpPr/>
          <p:nvPr/>
        </p:nvSpPr>
        <p:spPr>
          <a:xfrm>
            <a:off x="822960" y="3621024"/>
            <a:ext cx="512064" cy="512064"/>
          </a:xfrm>
          <a:prstGeom prst="ellipse">
            <a:avLst/>
          </a:prstGeom>
          <a:solidFill>
            <a:schemeClr val="tx2"/>
          </a:solidFill>
          <a:ln/>
        </p:spPr>
        <p:txBody>
          <a:bodyPr/>
          <a:lstStyle/>
          <a:p>
            <a:endParaRPr lang="en-GB"/>
          </a:p>
        </p:txBody>
      </p:sp>
      <p:sp>
        <p:nvSpPr>
          <p:cNvPr id="19" name="Text 16"/>
          <p:cNvSpPr txBox="1"/>
          <p:nvPr/>
        </p:nvSpPr>
        <p:spPr>
          <a:xfrm>
            <a:off x="822960" y="3621024"/>
            <a:ext cx="512064" cy="512064"/>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20" name="Text 17"/>
          <p:cNvSpPr txBox="1"/>
          <p:nvPr/>
        </p:nvSpPr>
        <p:spPr>
          <a:xfrm>
            <a:off x="1508760" y="3547872"/>
            <a:ext cx="4297680" cy="365760"/>
          </a:xfrm>
          <a:prstGeom prst="rect">
            <a:avLst/>
          </a:prstGeom>
          <a:noFill/>
          <a:ln/>
        </p:spPr>
        <p:txBody>
          <a:bodyPr wrap="square" lIns="0" tIns="0" rIns="0" bIns="0" rtlCol="0" anchor="ctr"/>
          <a:lstStyle/>
          <a:p>
            <a:pPr marL="0" indent="0">
              <a:buNone/>
            </a:pPr>
            <a:r>
              <a:rPr lang="en-US" sz="1600" b="1" dirty="0">
                <a:solidFill>
                  <a:schemeClr val="tx1"/>
                </a:solidFill>
              </a:rPr>
              <a:t>User control &amp; freedom</a:t>
            </a:r>
            <a:endParaRPr lang="en-US" sz="1600" dirty="0"/>
          </a:p>
        </p:txBody>
      </p:sp>
      <p:sp>
        <p:nvSpPr>
          <p:cNvPr id="21" name="Text 18"/>
          <p:cNvSpPr txBox="1"/>
          <p:nvPr/>
        </p:nvSpPr>
        <p:spPr>
          <a:xfrm>
            <a:off x="1508760" y="3913632"/>
            <a:ext cx="4297680" cy="274320"/>
          </a:xfrm>
          <a:prstGeom prst="rect">
            <a:avLst/>
          </a:prstGeom>
          <a:noFill/>
          <a:ln/>
        </p:spPr>
        <p:txBody>
          <a:bodyPr wrap="square" lIns="0" tIns="0" rIns="0" bIns="0" rtlCol="0" anchor="t"/>
          <a:lstStyle/>
          <a:p>
            <a:pPr marL="0" indent="0">
              <a:buNone/>
            </a:pPr>
            <a:r>
              <a:rPr lang="en-US" sz="1400" dirty="0">
                <a:solidFill>
                  <a:schemeClr val="accent2"/>
                </a:solidFill>
              </a:rPr>
              <a:t>Emergency exits, undo</a:t>
            </a:r>
            <a:endParaRPr lang="en-US" sz="1400" dirty="0"/>
          </a:p>
        </p:txBody>
      </p:sp>
      <p:sp>
        <p:nvSpPr>
          <p:cNvPr id="22" name="Heuristic 4"/>
          <p:cNvSpPr/>
          <p:nvPr/>
        </p:nvSpPr>
        <p:spPr>
          <a:xfrm>
            <a:off x="640080" y="4407408"/>
            <a:ext cx="5349240" cy="841248"/>
          </a:xfrm>
          <a:prstGeom prst="roundRect">
            <a:avLst>
              <a:gd name="adj" fmla="val 13043"/>
            </a:avLst>
          </a:prstGeom>
          <a:solidFill>
            <a:schemeClr val="bg2"/>
          </a:solidFill>
          <a:ln w="9525">
            <a:solidFill>
              <a:schemeClr val="tx2"/>
            </a:solidFill>
            <a:prstDash val="solid"/>
          </a:ln>
        </p:spPr>
        <p:txBody>
          <a:bodyPr/>
          <a:lstStyle/>
          <a:p>
            <a:endParaRPr lang="en-GB"/>
          </a:p>
        </p:txBody>
      </p:sp>
      <p:sp>
        <p:nvSpPr>
          <p:cNvPr id="23" name="Number"/>
          <p:cNvSpPr/>
          <p:nvPr/>
        </p:nvSpPr>
        <p:spPr>
          <a:xfrm>
            <a:off x="822960" y="4572000"/>
            <a:ext cx="512064" cy="512064"/>
          </a:xfrm>
          <a:prstGeom prst="ellipse">
            <a:avLst/>
          </a:prstGeom>
          <a:solidFill>
            <a:schemeClr val="tx2"/>
          </a:solidFill>
          <a:ln/>
        </p:spPr>
        <p:txBody>
          <a:bodyPr/>
          <a:lstStyle/>
          <a:p>
            <a:endParaRPr lang="en-GB"/>
          </a:p>
        </p:txBody>
      </p:sp>
      <p:sp>
        <p:nvSpPr>
          <p:cNvPr id="24" name="Text 21"/>
          <p:cNvSpPr txBox="1"/>
          <p:nvPr/>
        </p:nvSpPr>
        <p:spPr>
          <a:xfrm>
            <a:off x="822960" y="4572000"/>
            <a:ext cx="512064" cy="512064"/>
          </a:xfrm>
          <a:prstGeom prst="rect">
            <a:avLst/>
          </a:prstGeom>
          <a:no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25" name="Text 22"/>
          <p:cNvSpPr txBox="1"/>
          <p:nvPr/>
        </p:nvSpPr>
        <p:spPr>
          <a:xfrm>
            <a:off x="1508760" y="4498848"/>
            <a:ext cx="4297680" cy="365760"/>
          </a:xfrm>
          <a:prstGeom prst="rect">
            <a:avLst/>
          </a:prstGeom>
          <a:noFill/>
          <a:ln/>
        </p:spPr>
        <p:txBody>
          <a:bodyPr wrap="square" lIns="0" tIns="0" rIns="0" bIns="0" rtlCol="0" anchor="ctr"/>
          <a:lstStyle/>
          <a:p>
            <a:pPr marL="0" indent="0">
              <a:buNone/>
            </a:pPr>
            <a:r>
              <a:rPr lang="en-US" sz="1600" b="1" dirty="0">
                <a:solidFill>
                  <a:schemeClr val="tx1"/>
                </a:solidFill>
              </a:rPr>
              <a:t>Consistency &amp; standards</a:t>
            </a:r>
            <a:endParaRPr lang="en-US" sz="1600" dirty="0"/>
          </a:p>
        </p:txBody>
      </p:sp>
      <p:sp>
        <p:nvSpPr>
          <p:cNvPr id="26" name="Text 23"/>
          <p:cNvSpPr txBox="1"/>
          <p:nvPr/>
        </p:nvSpPr>
        <p:spPr>
          <a:xfrm>
            <a:off x="1508760" y="4864608"/>
            <a:ext cx="4297680" cy="274320"/>
          </a:xfrm>
          <a:prstGeom prst="rect">
            <a:avLst/>
          </a:prstGeom>
          <a:noFill/>
          <a:ln/>
        </p:spPr>
        <p:txBody>
          <a:bodyPr wrap="square" lIns="0" tIns="0" rIns="0" bIns="0" rtlCol="0" anchor="t"/>
          <a:lstStyle/>
          <a:p>
            <a:pPr marL="0" indent="0">
              <a:buNone/>
            </a:pPr>
            <a:r>
              <a:rPr lang="en-US" sz="1400" dirty="0">
                <a:solidFill>
                  <a:schemeClr val="accent2"/>
                </a:solidFill>
              </a:rPr>
              <a:t>Platform conventions, internal consistency</a:t>
            </a:r>
            <a:endParaRPr lang="en-US" sz="1400" dirty="0"/>
          </a:p>
        </p:txBody>
      </p:sp>
      <p:sp>
        <p:nvSpPr>
          <p:cNvPr id="27" name="Heuristic 5"/>
          <p:cNvSpPr/>
          <p:nvPr/>
        </p:nvSpPr>
        <p:spPr>
          <a:xfrm>
            <a:off x="640080" y="5358384"/>
            <a:ext cx="5349240" cy="841248"/>
          </a:xfrm>
          <a:prstGeom prst="roundRect">
            <a:avLst>
              <a:gd name="adj" fmla="val 13043"/>
            </a:avLst>
          </a:prstGeom>
          <a:solidFill>
            <a:schemeClr val="bg2"/>
          </a:solidFill>
          <a:ln w="19050">
            <a:solidFill>
              <a:schemeClr val="accent1"/>
            </a:solidFill>
            <a:prstDash val="solid"/>
          </a:ln>
        </p:spPr>
        <p:txBody>
          <a:bodyPr/>
          <a:lstStyle/>
          <a:p>
            <a:endParaRPr lang="en-GB"/>
          </a:p>
        </p:txBody>
      </p:sp>
      <p:sp>
        <p:nvSpPr>
          <p:cNvPr id="28" name="Number"/>
          <p:cNvSpPr/>
          <p:nvPr/>
        </p:nvSpPr>
        <p:spPr>
          <a:xfrm>
            <a:off x="822960" y="5522976"/>
            <a:ext cx="512064" cy="512064"/>
          </a:xfrm>
          <a:prstGeom prst="ellipse">
            <a:avLst/>
          </a:prstGeom>
          <a:solidFill>
            <a:schemeClr val="accent1"/>
          </a:solidFill>
          <a:ln/>
        </p:spPr>
        <p:txBody>
          <a:bodyPr/>
          <a:lstStyle/>
          <a:p>
            <a:endParaRPr lang="en-GB"/>
          </a:p>
        </p:txBody>
      </p:sp>
      <p:sp>
        <p:nvSpPr>
          <p:cNvPr id="29" name="Text 26"/>
          <p:cNvSpPr txBox="1"/>
          <p:nvPr/>
        </p:nvSpPr>
        <p:spPr>
          <a:xfrm>
            <a:off x="822960" y="5522976"/>
            <a:ext cx="512064" cy="512064"/>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30" name="Text 27"/>
          <p:cNvSpPr txBox="1"/>
          <p:nvPr/>
        </p:nvSpPr>
        <p:spPr>
          <a:xfrm>
            <a:off x="1508760" y="5449824"/>
            <a:ext cx="3291840" cy="365760"/>
          </a:xfrm>
          <a:prstGeom prst="rect">
            <a:avLst/>
          </a:prstGeom>
          <a:noFill/>
          <a:ln/>
        </p:spPr>
        <p:txBody>
          <a:bodyPr wrap="square" lIns="0" tIns="0" rIns="0" bIns="0" rtlCol="0" anchor="ctr"/>
          <a:lstStyle/>
          <a:p>
            <a:pPr marL="0" indent="0">
              <a:buNone/>
            </a:pPr>
            <a:r>
              <a:rPr lang="en-US" sz="1600" b="1" dirty="0">
                <a:solidFill>
                  <a:schemeClr val="tx1"/>
                </a:solidFill>
              </a:rPr>
              <a:t>Error prevention</a:t>
            </a:r>
            <a:endParaRPr lang="en-US" sz="1600" dirty="0"/>
          </a:p>
        </p:txBody>
      </p:sp>
      <p:sp>
        <p:nvSpPr>
          <p:cNvPr id="31" name="Text 28"/>
          <p:cNvSpPr txBox="1"/>
          <p:nvPr/>
        </p:nvSpPr>
        <p:spPr>
          <a:xfrm>
            <a:off x="1508760" y="5815584"/>
            <a:ext cx="4297680" cy="274320"/>
          </a:xfrm>
          <a:prstGeom prst="rect">
            <a:avLst/>
          </a:prstGeom>
          <a:noFill/>
          <a:ln/>
        </p:spPr>
        <p:txBody>
          <a:bodyPr wrap="square" lIns="0" tIns="0" rIns="0" bIns="0" rtlCol="0" anchor="t"/>
          <a:lstStyle/>
          <a:p>
            <a:pPr marL="0" indent="0">
              <a:buNone/>
            </a:pPr>
            <a:r>
              <a:rPr lang="en-US" sz="1400" dirty="0">
                <a:solidFill>
                  <a:schemeClr val="accent2"/>
                </a:solidFill>
              </a:rPr>
              <a:t>Prevent errors before they happen</a:t>
            </a:r>
            <a:endParaRPr lang="en-US" sz="1400" dirty="0"/>
          </a:p>
        </p:txBody>
      </p:sp>
      <p:sp>
        <p:nvSpPr>
          <p:cNvPr id="32" name="Applied tag"/>
          <p:cNvSpPr/>
          <p:nvPr/>
        </p:nvSpPr>
        <p:spPr>
          <a:xfrm>
            <a:off x="4892040" y="5541264"/>
            <a:ext cx="914400" cy="292608"/>
          </a:xfrm>
          <a:prstGeom prst="roundRect">
            <a:avLst>
              <a:gd name="adj" fmla="val 50000"/>
            </a:avLst>
          </a:prstGeom>
          <a:solidFill>
            <a:schemeClr val="accent1"/>
          </a:solidFill>
          <a:ln/>
        </p:spPr>
        <p:txBody>
          <a:bodyPr/>
          <a:lstStyle/>
          <a:p>
            <a:endParaRPr lang="en-GB"/>
          </a:p>
        </p:txBody>
      </p:sp>
      <p:sp>
        <p:nvSpPr>
          <p:cNvPr id="33" name="Text 30"/>
          <p:cNvSpPr txBox="1"/>
          <p:nvPr/>
        </p:nvSpPr>
        <p:spPr>
          <a:xfrm>
            <a:off x="4892040" y="5541264"/>
            <a:ext cx="914400" cy="292608"/>
          </a:xfrm>
          <a:prstGeom prst="rect">
            <a:avLst/>
          </a:prstGeom>
          <a:noFill/>
          <a:ln/>
        </p:spPr>
        <p:txBody>
          <a:bodyPr wrap="square" lIns="0" tIns="0" rIns="0" bIns="0" rtlCol="0" anchor="ctr"/>
          <a:lstStyle/>
          <a:p>
            <a:pPr marL="0" indent="0" algn="ctr">
              <a:buNone/>
            </a:pPr>
            <a:r>
              <a:rPr lang="en-US" sz="1000" b="1" kern="0" spc="100" dirty="0">
                <a:solidFill>
                  <a:schemeClr val="bg1"/>
                </a:solidFill>
              </a:rPr>
              <a:t>APPLIED</a:t>
            </a:r>
            <a:endParaRPr lang="en-US" sz="1000" dirty="0"/>
          </a:p>
        </p:txBody>
      </p:sp>
      <p:sp>
        <p:nvSpPr>
          <p:cNvPr id="34" name="Heuristic 6"/>
          <p:cNvSpPr/>
          <p:nvPr/>
        </p:nvSpPr>
        <p:spPr>
          <a:xfrm>
            <a:off x="6199632" y="1554480"/>
            <a:ext cx="5349240" cy="841248"/>
          </a:xfrm>
          <a:prstGeom prst="roundRect">
            <a:avLst>
              <a:gd name="adj" fmla="val 13043"/>
            </a:avLst>
          </a:prstGeom>
          <a:solidFill>
            <a:schemeClr val="bg2"/>
          </a:solidFill>
          <a:ln w="19050">
            <a:solidFill>
              <a:schemeClr val="accent1"/>
            </a:solidFill>
            <a:prstDash val="solid"/>
          </a:ln>
        </p:spPr>
        <p:txBody>
          <a:bodyPr/>
          <a:lstStyle/>
          <a:p>
            <a:endParaRPr lang="en-GB"/>
          </a:p>
        </p:txBody>
      </p:sp>
      <p:sp>
        <p:nvSpPr>
          <p:cNvPr id="35" name="Number"/>
          <p:cNvSpPr/>
          <p:nvPr/>
        </p:nvSpPr>
        <p:spPr>
          <a:xfrm>
            <a:off x="6382512" y="1719072"/>
            <a:ext cx="512064" cy="512064"/>
          </a:xfrm>
          <a:prstGeom prst="ellipse">
            <a:avLst/>
          </a:prstGeom>
          <a:solidFill>
            <a:schemeClr val="accent1"/>
          </a:solidFill>
          <a:ln/>
        </p:spPr>
        <p:txBody>
          <a:bodyPr/>
          <a:lstStyle/>
          <a:p>
            <a:endParaRPr lang="en-GB"/>
          </a:p>
        </p:txBody>
      </p:sp>
      <p:sp>
        <p:nvSpPr>
          <p:cNvPr id="36" name="Text 33"/>
          <p:cNvSpPr txBox="1"/>
          <p:nvPr/>
        </p:nvSpPr>
        <p:spPr>
          <a:xfrm>
            <a:off x="6382512" y="1719072"/>
            <a:ext cx="512064" cy="512064"/>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37" name="Text 34"/>
          <p:cNvSpPr txBox="1"/>
          <p:nvPr/>
        </p:nvSpPr>
        <p:spPr>
          <a:xfrm>
            <a:off x="7068312" y="1645920"/>
            <a:ext cx="3291840" cy="365760"/>
          </a:xfrm>
          <a:prstGeom prst="rect">
            <a:avLst/>
          </a:prstGeom>
          <a:noFill/>
          <a:ln/>
        </p:spPr>
        <p:txBody>
          <a:bodyPr wrap="square" lIns="0" tIns="0" rIns="0" bIns="0" rtlCol="0" anchor="ctr"/>
          <a:lstStyle/>
          <a:p>
            <a:pPr marL="0" indent="0">
              <a:buNone/>
            </a:pPr>
            <a:r>
              <a:rPr lang="en-US" sz="1600" b="1" dirty="0">
                <a:solidFill>
                  <a:schemeClr val="tx1"/>
                </a:solidFill>
              </a:rPr>
              <a:t>Recognition over recall</a:t>
            </a:r>
            <a:endParaRPr lang="en-US" sz="1600" dirty="0"/>
          </a:p>
        </p:txBody>
      </p:sp>
      <p:sp>
        <p:nvSpPr>
          <p:cNvPr id="38" name="Text 35"/>
          <p:cNvSpPr txBox="1"/>
          <p:nvPr/>
        </p:nvSpPr>
        <p:spPr>
          <a:xfrm>
            <a:off x="7068312" y="2011680"/>
            <a:ext cx="4297680" cy="274320"/>
          </a:xfrm>
          <a:prstGeom prst="rect">
            <a:avLst/>
          </a:prstGeom>
          <a:noFill/>
          <a:ln/>
        </p:spPr>
        <p:txBody>
          <a:bodyPr wrap="square" lIns="0" tIns="0" rIns="0" bIns="0" rtlCol="0" anchor="t"/>
          <a:lstStyle/>
          <a:p>
            <a:pPr marL="0" indent="0">
              <a:buNone/>
            </a:pPr>
            <a:r>
              <a:rPr lang="en-US" sz="1400" dirty="0">
                <a:solidFill>
                  <a:schemeClr val="accent2"/>
                </a:solidFill>
              </a:rPr>
              <a:t>Make options visible</a:t>
            </a:r>
            <a:endParaRPr lang="en-US" sz="1400" dirty="0"/>
          </a:p>
        </p:txBody>
      </p:sp>
      <p:sp>
        <p:nvSpPr>
          <p:cNvPr id="39" name="Applied tag"/>
          <p:cNvSpPr/>
          <p:nvPr/>
        </p:nvSpPr>
        <p:spPr>
          <a:xfrm>
            <a:off x="10451592" y="1737360"/>
            <a:ext cx="914400" cy="292608"/>
          </a:xfrm>
          <a:prstGeom prst="roundRect">
            <a:avLst>
              <a:gd name="adj" fmla="val 50000"/>
            </a:avLst>
          </a:prstGeom>
          <a:solidFill>
            <a:schemeClr val="accent1"/>
          </a:solidFill>
          <a:ln/>
        </p:spPr>
        <p:txBody>
          <a:bodyPr/>
          <a:lstStyle/>
          <a:p>
            <a:endParaRPr lang="en-GB"/>
          </a:p>
        </p:txBody>
      </p:sp>
      <p:sp>
        <p:nvSpPr>
          <p:cNvPr id="40" name="Text 37"/>
          <p:cNvSpPr txBox="1"/>
          <p:nvPr/>
        </p:nvSpPr>
        <p:spPr>
          <a:xfrm>
            <a:off x="10451592" y="1737360"/>
            <a:ext cx="914400" cy="292608"/>
          </a:xfrm>
          <a:prstGeom prst="rect">
            <a:avLst/>
          </a:prstGeom>
          <a:noFill/>
          <a:ln/>
        </p:spPr>
        <p:txBody>
          <a:bodyPr wrap="square" lIns="0" tIns="0" rIns="0" bIns="0" rtlCol="0" anchor="ctr"/>
          <a:lstStyle/>
          <a:p>
            <a:pPr marL="0" indent="0" algn="ctr">
              <a:buNone/>
            </a:pPr>
            <a:r>
              <a:rPr lang="en-US" sz="1000" b="1" kern="0" spc="100" dirty="0">
                <a:solidFill>
                  <a:schemeClr val="bg1"/>
                </a:solidFill>
              </a:rPr>
              <a:t>APPLIED</a:t>
            </a:r>
            <a:endParaRPr lang="en-US" sz="1000" dirty="0"/>
          </a:p>
        </p:txBody>
      </p:sp>
      <p:sp>
        <p:nvSpPr>
          <p:cNvPr id="41" name="Heuristic 7"/>
          <p:cNvSpPr/>
          <p:nvPr/>
        </p:nvSpPr>
        <p:spPr>
          <a:xfrm>
            <a:off x="6199632" y="2505456"/>
            <a:ext cx="5349240" cy="841248"/>
          </a:xfrm>
          <a:prstGeom prst="roundRect">
            <a:avLst>
              <a:gd name="adj" fmla="val 13043"/>
            </a:avLst>
          </a:prstGeom>
          <a:solidFill>
            <a:schemeClr val="bg2"/>
          </a:solidFill>
          <a:ln w="9525">
            <a:solidFill>
              <a:schemeClr val="tx2"/>
            </a:solidFill>
            <a:prstDash val="solid"/>
          </a:ln>
        </p:spPr>
        <p:txBody>
          <a:bodyPr/>
          <a:lstStyle/>
          <a:p>
            <a:endParaRPr lang="en-GB"/>
          </a:p>
        </p:txBody>
      </p:sp>
      <p:sp>
        <p:nvSpPr>
          <p:cNvPr id="42" name="Number"/>
          <p:cNvSpPr/>
          <p:nvPr/>
        </p:nvSpPr>
        <p:spPr>
          <a:xfrm>
            <a:off x="6382512" y="2670048"/>
            <a:ext cx="512064" cy="512064"/>
          </a:xfrm>
          <a:prstGeom prst="ellipse">
            <a:avLst/>
          </a:prstGeom>
          <a:solidFill>
            <a:schemeClr val="tx2"/>
          </a:solidFill>
          <a:ln/>
        </p:spPr>
        <p:txBody>
          <a:bodyPr/>
          <a:lstStyle/>
          <a:p>
            <a:endParaRPr lang="en-GB"/>
          </a:p>
        </p:txBody>
      </p:sp>
      <p:sp>
        <p:nvSpPr>
          <p:cNvPr id="43" name="Text 40"/>
          <p:cNvSpPr txBox="1"/>
          <p:nvPr/>
        </p:nvSpPr>
        <p:spPr>
          <a:xfrm>
            <a:off x="6382512" y="2670048"/>
            <a:ext cx="512064" cy="512064"/>
          </a:xfrm>
          <a:prstGeom prst="rect">
            <a:avLst/>
          </a:prstGeom>
          <a:noFill/>
          <a:ln/>
        </p:spPr>
        <p:txBody>
          <a:bodyPr wrap="square" lIns="0" tIns="0" rIns="0" bIns="0" rtlCol="0" anchor="ctr"/>
          <a:lstStyle/>
          <a:p>
            <a:pPr marL="0" indent="0" algn="ctr">
              <a:buNone/>
            </a:pPr>
            <a:r>
              <a:rPr lang="en-US" sz="1600" b="1" dirty="0">
                <a:solidFill>
                  <a:schemeClr val="tx1"/>
                </a:solidFill>
              </a:rPr>
              <a:t>7</a:t>
            </a:r>
            <a:endParaRPr lang="en-US" sz="1600" dirty="0"/>
          </a:p>
        </p:txBody>
      </p:sp>
      <p:sp>
        <p:nvSpPr>
          <p:cNvPr id="44" name="Text 41"/>
          <p:cNvSpPr txBox="1"/>
          <p:nvPr/>
        </p:nvSpPr>
        <p:spPr>
          <a:xfrm>
            <a:off x="7068312" y="2596896"/>
            <a:ext cx="4297680" cy="365760"/>
          </a:xfrm>
          <a:prstGeom prst="rect">
            <a:avLst/>
          </a:prstGeom>
          <a:noFill/>
          <a:ln/>
        </p:spPr>
        <p:txBody>
          <a:bodyPr wrap="square" lIns="0" tIns="0" rIns="0" bIns="0" rtlCol="0" anchor="ctr"/>
          <a:lstStyle/>
          <a:p>
            <a:pPr marL="0" indent="0">
              <a:buNone/>
            </a:pPr>
            <a:r>
              <a:rPr lang="en-US" sz="1600" b="1" dirty="0">
                <a:solidFill>
                  <a:schemeClr val="tx1"/>
                </a:solidFill>
              </a:rPr>
              <a:t>Flexibility &amp; efficiency</a:t>
            </a:r>
            <a:endParaRPr lang="en-US" sz="1600" dirty="0"/>
          </a:p>
        </p:txBody>
      </p:sp>
      <p:sp>
        <p:nvSpPr>
          <p:cNvPr id="45" name="Text 42"/>
          <p:cNvSpPr txBox="1"/>
          <p:nvPr/>
        </p:nvSpPr>
        <p:spPr>
          <a:xfrm>
            <a:off x="7068312" y="2962656"/>
            <a:ext cx="4297680" cy="274320"/>
          </a:xfrm>
          <a:prstGeom prst="rect">
            <a:avLst/>
          </a:prstGeom>
          <a:noFill/>
          <a:ln/>
        </p:spPr>
        <p:txBody>
          <a:bodyPr wrap="square" lIns="0" tIns="0" rIns="0" bIns="0" rtlCol="0" anchor="t"/>
          <a:lstStyle/>
          <a:p>
            <a:pPr marL="0" indent="0">
              <a:buNone/>
            </a:pPr>
            <a:r>
              <a:rPr lang="en-US" sz="1400" dirty="0">
                <a:solidFill>
                  <a:schemeClr val="accent2"/>
                </a:solidFill>
              </a:rPr>
              <a:t>Shortcuts for experts</a:t>
            </a:r>
            <a:endParaRPr lang="en-US" sz="1400" dirty="0"/>
          </a:p>
        </p:txBody>
      </p:sp>
      <p:sp>
        <p:nvSpPr>
          <p:cNvPr id="46" name="Heuristic 8"/>
          <p:cNvSpPr/>
          <p:nvPr/>
        </p:nvSpPr>
        <p:spPr>
          <a:xfrm>
            <a:off x="6199632" y="3456432"/>
            <a:ext cx="5349240" cy="841248"/>
          </a:xfrm>
          <a:prstGeom prst="roundRect">
            <a:avLst>
              <a:gd name="adj" fmla="val 13043"/>
            </a:avLst>
          </a:prstGeom>
          <a:solidFill>
            <a:schemeClr val="bg2"/>
          </a:solidFill>
          <a:ln w="9525">
            <a:solidFill>
              <a:schemeClr val="tx2"/>
            </a:solidFill>
            <a:prstDash val="solid"/>
          </a:ln>
        </p:spPr>
        <p:txBody>
          <a:bodyPr/>
          <a:lstStyle/>
          <a:p>
            <a:endParaRPr lang="en-GB"/>
          </a:p>
        </p:txBody>
      </p:sp>
      <p:sp>
        <p:nvSpPr>
          <p:cNvPr id="47" name="Number"/>
          <p:cNvSpPr/>
          <p:nvPr/>
        </p:nvSpPr>
        <p:spPr>
          <a:xfrm>
            <a:off x="6382512" y="3621024"/>
            <a:ext cx="512064" cy="512064"/>
          </a:xfrm>
          <a:prstGeom prst="ellipse">
            <a:avLst/>
          </a:prstGeom>
          <a:solidFill>
            <a:schemeClr val="tx2"/>
          </a:solidFill>
          <a:ln/>
        </p:spPr>
        <p:txBody>
          <a:bodyPr/>
          <a:lstStyle/>
          <a:p>
            <a:endParaRPr lang="en-GB"/>
          </a:p>
        </p:txBody>
      </p:sp>
      <p:sp>
        <p:nvSpPr>
          <p:cNvPr id="48" name="Text 45"/>
          <p:cNvSpPr txBox="1"/>
          <p:nvPr/>
        </p:nvSpPr>
        <p:spPr>
          <a:xfrm>
            <a:off x="6382512" y="3621024"/>
            <a:ext cx="512064" cy="512064"/>
          </a:xfrm>
          <a:prstGeom prst="rect">
            <a:avLst/>
          </a:prstGeom>
          <a:noFill/>
          <a:ln/>
        </p:spPr>
        <p:txBody>
          <a:bodyPr wrap="square" lIns="0" tIns="0" rIns="0" bIns="0" rtlCol="0" anchor="ctr"/>
          <a:lstStyle/>
          <a:p>
            <a:pPr marL="0" indent="0" algn="ctr">
              <a:buNone/>
            </a:pPr>
            <a:r>
              <a:rPr lang="en-US" sz="1600" b="1" dirty="0">
                <a:solidFill>
                  <a:schemeClr val="tx1"/>
                </a:solidFill>
              </a:rPr>
              <a:t>8</a:t>
            </a:r>
            <a:endParaRPr lang="en-US" sz="1600" dirty="0"/>
          </a:p>
        </p:txBody>
      </p:sp>
      <p:sp>
        <p:nvSpPr>
          <p:cNvPr id="49" name="Text 46"/>
          <p:cNvSpPr txBox="1"/>
          <p:nvPr/>
        </p:nvSpPr>
        <p:spPr>
          <a:xfrm>
            <a:off x="7068312" y="3547872"/>
            <a:ext cx="4297680" cy="365760"/>
          </a:xfrm>
          <a:prstGeom prst="rect">
            <a:avLst/>
          </a:prstGeom>
          <a:noFill/>
          <a:ln/>
        </p:spPr>
        <p:txBody>
          <a:bodyPr wrap="square" lIns="0" tIns="0" rIns="0" bIns="0" rtlCol="0" anchor="ctr"/>
          <a:lstStyle/>
          <a:p>
            <a:pPr marL="0" indent="0">
              <a:buNone/>
            </a:pPr>
            <a:r>
              <a:rPr lang="en-US" sz="1600" b="1" dirty="0">
                <a:solidFill>
                  <a:schemeClr val="tx1"/>
                </a:solidFill>
              </a:rPr>
              <a:t>Aesthetic &amp; minimalist design</a:t>
            </a:r>
            <a:endParaRPr lang="en-US" sz="1600" dirty="0"/>
          </a:p>
        </p:txBody>
      </p:sp>
      <p:sp>
        <p:nvSpPr>
          <p:cNvPr id="50" name="Text 47"/>
          <p:cNvSpPr txBox="1"/>
          <p:nvPr/>
        </p:nvSpPr>
        <p:spPr>
          <a:xfrm>
            <a:off x="7068312" y="3913632"/>
            <a:ext cx="4297680" cy="274320"/>
          </a:xfrm>
          <a:prstGeom prst="rect">
            <a:avLst/>
          </a:prstGeom>
          <a:noFill/>
          <a:ln/>
        </p:spPr>
        <p:txBody>
          <a:bodyPr wrap="square" lIns="0" tIns="0" rIns="0" bIns="0" rtlCol="0" anchor="t"/>
          <a:lstStyle/>
          <a:p>
            <a:pPr marL="0" indent="0">
              <a:buNone/>
            </a:pPr>
            <a:r>
              <a:rPr lang="en-US" sz="1400" dirty="0">
                <a:solidFill>
                  <a:schemeClr val="accent2"/>
                </a:solidFill>
              </a:rPr>
              <a:t>No irrelevant info</a:t>
            </a:r>
            <a:endParaRPr lang="en-US" sz="1400" dirty="0"/>
          </a:p>
        </p:txBody>
      </p:sp>
      <p:sp>
        <p:nvSpPr>
          <p:cNvPr id="51" name="Heuristic 9"/>
          <p:cNvSpPr/>
          <p:nvPr/>
        </p:nvSpPr>
        <p:spPr>
          <a:xfrm>
            <a:off x="6199632" y="4407408"/>
            <a:ext cx="5349240" cy="841248"/>
          </a:xfrm>
          <a:prstGeom prst="roundRect">
            <a:avLst>
              <a:gd name="adj" fmla="val 13043"/>
            </a:avLst>
          </a:prstGeom>
          <a:solidFill>
            <a:schemeClr val="bg2"/>
          </a:solidFill>
          <a:ln w="9525">
            <a:solidFill>
              <a:schemeClr val="tx2"/>
            </a:solidFill>
            <a:prstDash val="solid"/>
          </a:ln>
        </p:spPr>
        <p:txBody>
          <a:bodyPr/>
          <a:lstStyle/>
          <a:p>
            <a:endParaRPr lang="en-GB"/>
          </a:p>
        </p:txBody>
      </p:sp>
      <p:sp>
        <p:nvSpPr>
          <p:cNvPr id="52" name="Number"/>
          <p:cNvSpPr/>
          <p:nvPr/>
        </p:nvSpPr>
        <p:spPr>
          <a:xfrm>
            <a:off x="6382512" y="4572000"/>
            <a:ext cx="512064" cy="512064"/>
          </a:xfrm>
          <a:prstGeom prst="ellipse">
            <a:avLst/>
          </a:prstGeom>
          <a:solidFill>
            <a:schemeClr val="tx2"/>
          </a:solidFill>
          <a:ln/>
        </p:spPr>
        <p:txBody>
          <a:bodyPr/>
          <a:lstStyle/>
          <a:p>
            <a:endParaRPr lang="en-GB"/>
          </a:p>
        </p:txBody>
      </p:sp>
      <p:sp>
        <p:nvSpPr>
          <p:cNvPr id="53" name="Text 50"/>
          <p:cNvSpPr txBox="1"/>
          <p:nvPr/>
        </p:nvSpPr>
        <p:spPr>
          <a:xfrm>
            <a:off x="6382512" y="4572000"/>
            <a:ext cx="512064" cy="512064"/>
          </a:xfrm>
          <a:prstGeom prst="rect">
            <a:avLst/>
          </a:prstGeom>
          <a:noFill/>
          <a:ln/>
        </p:spPr>
        <p:txBody>
          <a:bodyPr wrap="square" lIns="0" tIns="0" rIns="0" bIns="0" rtlCol="0" anchor="ctr"/>
          <a:lstStyle/>
          <a:p>
            <a:pPr marL="0" indent="0" algn="ctr">
              <a:buNone/>
            </a:pPr>
            <a:r>
              <a:rPr lang="en-US" sz="1600" b="1" dirty="0">
                <a:solidFill>
                  <a:schemeClr val="tx1"/>
                </a:solidFill>
              </a:rPr>
              <a:t>9</a:t>
            </a:r>
            <a:endParaRPr lang="en-US" sz="1600" dirty="0"/>
          </a:p>
        </p:txBody>
      </p:sp>
      <p:sp>
        <p:nvSpPr>
          <p:cNvPr id="54" name="Text 51"/>
          <p:cNvSpPr txBox="1"/>
          <p:nvPr/>
        </p:nvSpPr>
        <p:spPr>
          <a:xfrm>
            <a:off x="7068312" y="4498848"/>
            <a:ext cx="4297680" cy="365760"/>
          </a:xfrm>
          <a:prstGeom prst="rect">
            <a:avLst/>
          </a:prstGeom>
          <a:noFill/>
          <a:ln/>
        </p:spPr>
        <p:txBody>
          <a:bodyPr wrap="square" lIns="0" tIns="0" rIns="0" bIns="0" rtlCol="0" anchor="ctr"/>
          <a:lstStyle/>
          <a:p>
            <a:pPr marL="0" indent="0">
              <a:buNone/>
            </a:pPr>
            <a:r>
              <a:rPr lang="en-US" sz="1600" b="1" dirty="0">
                <a:solidFill>
                  <a:schemeClr val="tx1"/>
                </a:solidFill>
              </a:rPr>
              <a:t>Help recognise, diagnose, recover errors</a:t>
            </a:r>
            <a:endParaRPr lang="en-US" sz="1600" dirty="0"/>
          </a:p>
        </p:txBody>
      </p:sp>
      <p:sp>
        <p:nvSpPr>
          <p:cNvPr id="55" name="Text 52"/>
          <p:cNvSpPr txBox="1"/>
          <p:nvPr/>
        </p:nvSpPr>
        <p:spPr>
          <a:xfrm>
            <a:off x="7068312" y="4864608"/>
            <a:ext cx="4297680" cy="274320"/>
          </a:xfrm>
          <a:prstGeom prst="rect">
            <a:avLst/>
          </a:prstGeom>
          <a:noFill/>
          <a:ln/>
        </p:spPr>
        <p:txBody>
          <a:bodyPr wrap="square" lIns="0" tIns="0" rIns="0" bIns="0" rtlCol="0" anchor="t"/>
          <a:lstStyle/>
          <a:p>
            <a:pPr marL="0" indent="0">
              <a:buNone/>
            </a:pPr>
            <a:r>
              <a:rPr lang="en-US" sz="1400" dirty="0">
                <a:solidFill>
                  <a:schemeClr val="accent2"/>
                </a:solidFill>
              </a:rPr>
              <a:t>Plain language, constructive</a:t>
            </a:r>
            <a:endParaRPr lang="en-US" sz="1400" dirty="0"/>
          </a:p>
        </p:txBody>
      </p:sp>
      <p:sp>
        <p:nvSpPr>
          <p:cNvPr id="56" name="Heuristic 10"/>
          <p:cNvSpPr/>
          <p:nvPr/>
        </p:nvSpPr>
        <p:spPr>
          <a:xfrm>
            <a:off x="6199632" y="5358384"/>
            <a:ext cx="5349240" cy="841248"/>
          </a:xfrm>
          <a:prstGeom prst="roundRect">
            <a:avLst>
              <a:gd name="adj" fmla="val 13043"/>
            </a:avLst>
          </a:prstGeom>
          <a:solidFill>
            <a:schemeClr val="bg2"/>
          </a:solidFill>
          <a:ln w="9525">
            <a:solidFill>
              <a:schemeClr val="tx2"/>
            </a:solidFill>
            <a:prstDash val="solid"/>
          </a:ln>
        </p:spPr>
        <p:txBody>
          <a:bodyPr/>
          <a:lstStyle/>
          <a:p>
            <a:endParaRPr lang="en-GB"/>
          </a:p>
        </p:txBody>
      </p:sp>
      <p:sp>
        <p:nvSpPr>
          <p:cNvPr id="57" name="Number"/>
          <p:cNvSpPr/>
          <p:nvPr/>
        </p:nvSpPr>
        <p:spPr>
          <a:xfrm>
            <a:off x="6382512" y="5522976"/>
            <a:ext cx="512064" cy="512064"/>
          </a:xfrm>
          <a:prstGeom prst="ellipse">
            <a:avLst/>
          </a:prstGeom>
          <a:solidFill>
            <a:schemeClr val="tx2"/>
          </a:solidFill>
          <a:ln/>
        </p:spPr>
        <p:txBody>
          <a:bodyPr/>
          <a:lstStyle/>
          <a:p>
            <a:endParaRPr lang="en-GB"/>
          </a:p>
        </p:txBody>
      </p:sp>
      <p:sp>
        <p:nvSpPr>
          <p:cNvPr id="58" name="Text 55"/>
          <p:cNvSpPr txBox="1"/>
          <p:nvPr/>
        </p:nvSpPr>
        <p:spPr>
          <a:xfrm>
            <a:off x="6382512" y="5522976"/>
            <a:ext cx="512064" cy="512064"/>
          </a:xfrm>
          <a:prstGeom prst="rect">
            <a:avLst/>
          </a:prstGeom>
          <a:noFill/>
          <a:ln/>
        </p:spPr>
        <p:txBody>
          <a:bodyPr wrap="square" lIns="0" tIns="0" rIns="0" bIns="0" rtlCol="0" anchor="ctr"/>
          <a:lstStyle/>
          <a:p>
            <a:pPr marL="0" indent="0" algn="ctr">
              <a:buNone/>
            </a:pPr>
            <a:r>
              <a:rPr lang="en-US" sz="1600" b="1" dirty="0">
                <a:solidFill>
                  <a:schemeClr val="tx1"/>
                </a:solidFill>
              </a:rPr>
              <a:t>10</a:t>
            </a:r>
            <a:endParaRPr lang="en-US" sz="1600" dirty="0"/>
          </a:p>
        </p:txBody>
      </p:sp>
      <p:sp>
        <p:nvSpPr>
          <p:cNvPr id="59" name="Text 56"/>
          <p:cNvSpPr txBox="1"/>
          <p:nvPr/>
        </p:nvSpPr>
        <p:spPr>
          <a:xfrm>
            <a:off x="7068312" y="5449824"/>
            <a:ext cx="4297680" cy="365760"/>
          </a:xfrm>
          <a:prstGeom prst="rect">
            <a:avLst/>
          </a:prstGeom>
          <a:noFill/>
          <a:ln/>
        </p:spPr>
        <p:txBody>
          <a:bodyPr wrap="square" lIns="0" tIns="0" rIns="0" bIns="0" rtlCol="0" anchor="ctr"/>
          <a:lstStyle/>
          <a:p>
            <a:pPr marL="0" indent="0">
              <a:buNone/>
            </a:pPr>
            <a:r>
              <a:rPr lang="en-US" sz="1600" b="1" dirty="0">
                <a:solidFill>
                  <a:schemeClr val="tx1"/>
                </a:solidFill>
              </a:rPr>
              <a:t>Help &amp; documentation</a:t>
            </a:r>
            <a:endParaRPr lang="en-US" sz="1600" dirty="0"/>
          </a:p>
        </p:txBody>
      </p:sp>
      <p:sp>
        <p:nvSpPr>
          <p:cNvPr id="60" name="Text 57"/>
          <p:cNvSpPr txBox="1"/>
          <p:nvPr/>
        </p:nvSpPr>
        <p:spPr>
          <a:xfrm>
            <a:off x="7068312" y="5815584"/>
            <a:ext cx="4297680" cy="274320"/>
          </a:xfrm>
          <a:prstGeom prst="rect">
            <a:avLst/>
          </a:prstGeom>
          <a:noFill/>
          <a:ln/>
        </p:spPr>
        <p:txBody>
          <a:bodyPr wrap="square" lIns="0" tIns="0" rIns="0" bIns="0" rtlCol="0" anchor="t"/>
          <a:lstStyle/>
          <a:p>
            <a:pPr marL="0" indent="0">
              <a:buNone/>
            </a:pPr>
            <a:r>
              <a:rPr lang="en-US" sz="1400" dirty="0">
                <a:solidFill>
                  <a:schemeClr val="accent2"/>
                </a:solidFill>
              </a:rPr>
              <a:t>Searchable, task-focused</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06 · WIREFRAMES &amp; USABILITY HEURISTICS</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Three Heuristics Applied to Our Wireframes</a:t>
            </a:r>
            <a:endParaRPr lang="en-US" sz="3200" dirty="0"/>
          </a:p>
        </p:txBody>
      </p:sp>
      <p:graphicFrame>
        <p:nvGraphicFramePr>
          <p:cNvPr id="29" name="Heuristics table"/>
          <p:cNvGraphicFramePr>
            <a:graphicFrameLocks noGrp="1"/>
          </p:cNvGraphicFramePr>
          <p:nvPr>
            <p:extLst>
              <p:ext uri="{D42A27DB-BD31-4B8C-83A1-F6EECF244321}">
                <p14:modId xmlns:p14="http://schemas.microsoft.com/office/powerpoint/2010/main" val="1579011935"/>
              </p:ext>
            </p:extLst>
          </p:nvPr>
        </p:nvGraphicFramePr>
        <p:xfrm>
          <a:off x="640080" y="1554480"/>
          <a:ext cx="10908792" cy="914400"/>
        </p:xfrm>
        <a:graphic>
          <a:graphicData uri="http://schemas.openxmlformats.org/drawingml/2006/table">
            <a:tbl>
              <a:tblPr/>
              <a:tblGrid>
                <a:gridCol w="256032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096512">
                  <a:extLst>
                    <a:ext uri="{9D8B030D-6E8A-4147-A177-3AD203B41FA5}">
                      <a16:colId xmlns:a16="http://schemas.microsoft.com/office/drawing/2014/main" val="20002"/>
                    </a:ext>
                  </a:extLst>
                </a:gridCol>
              </a:tblGrid>
              <a:tr h="502920">
                <a:tc>
                  <a:txBody>
                    <a:bodyPr/>
                    <a:lstStyle/>
                    <a:p>
                      <a:pPr marL="0" indent="0">
                        <a:buNone/>
                      </a:pPr>
                      <a:r>
                        <a:rPr lang="en-US" sz="1600" b="1" dirty="0">
                          <a:solidFill>
                            <a:srgbClr val="0D0D0D"/>
                          </a:solidFill>
                        </a:rPr>
                        <a:t>Heuristic</a:t>
                      </a:r>
                      <a:endParaRPr lang="en-US" sz="1600" dirty="0"/>
                    </a:p>
                  </a:txBody>
                  <a:tcPr marL="128016" marR="128016" marT="73152" marB="7315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buNone/>
                      </a:pPr>
                      <a:r>
                        <a:rPr lang="en-US" sz="1600" b="1" dirty="0">
                          <a:solidFill>
                            <a:srgbClr val="0D0D0D"/>
                          </a:solidFill>
                        </a:rPr>
                        <a:t>v1 Problem (Existing Hi-Fi)</a:t>
                      </a:r>
                      <a:endParaRPr lang="en-US" sz="1600" dirty="0"/>
                    </a:p>
                  </a:txBody>
                  <a:tcPr marL="128016" marR="128016" marT="73152" marB="7315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buNone/>
                      </a:pPr>
                      <a:r>
                        <a:rPr lang="en-US" sz="1600" b="1" dirty="0">
                          <a:solidFill>
                            <a:srgbClr val="0D0D0D"/>
                          </a:solidFill>
                        </a:rPr>
                        <a:t>v2 Fix (New Lo-Fi / Planned)</a:t>
                      </a:r>
                      <a:endParaRPr lang="en-US" sz="1600" dirty="0"/>
                    </a:p>
                  </a:txBody>
                  <a:tcPr marL="128016" marR="128016" marT="73152" marB="7315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extLst>
                  <a:ext uri="{0D108BD9-81ED-4DB2-BD59-A6C34878D82A}">
                    <a16:rowId xmlns:a16="http://schemas.microsoft.com/office/drawing/2014/main" val="10000"/>
                  </a:ext>
                </a:extLst>
              </a:tr>
              <a:tr h="1188720">
                <a:tc>
                  <a:txBody>
                    <a:bodyPr/>
                    <a:lstStyle/>
                    <a:p>
                      <a:pPr marL="0" indent="0">
                        <a:buNone/>
                      </a:pPr>
                      <a:r>
                        <a:rPr lang="en-US" sz="1600" b="1" dirty="0">
                          <a:solidFill>
                            <a:srgbClr val="F5F0E8"/>
                          </a:solidFill>
                        </a:rPr>
                        <a:t>#5 Error Prevention</a:t>
                      </a:r>
                      <a:endParaRPr lang="en-US" sz="1600" dirty="0"/>
                    </a:p>
                  </a:txBody>
                  <a:tcPr marL="128016" marR="128016" marT="73152" marB="7315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buNone/>
                      </a:pPr>
                      <a:r>
                        <a:rPr lang="en-US" sz="1600" dirty="0">
                          <a:solidFill>
                            <a:srgbClr val="F5F0E8"/>
                          </a:solidFill>
                        </a:rPr>
                        <a:t>Logout icon in bottom nav next to Profile/Settings — easy accidental tap. Sign Out duplicated on Profile.</a:t>
                      </a:r>
                      <a:endParaRPr lang="en-US" sz="1600" dirty="0"/>
                    </a:p>
                  </a:txBody>
                  <a:tcPr marL="128016" marR="128016" marT="73152" marB="7315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A1A1A"/>
                    </a:solidFill>
                  </a:tcPr>
                </a:tc>
                <a:tc>
                  <a:txBody>
                    <a:bodyPr/>
                    <a:lstStyle/>
                    <a:p>
                      <a:pPr marL="0" indent="0">
                        <a:buNone/>
                      </a:pPr>
                      <a:r>
                        <a:rPr lang="en-US" sz="1600" dirty="0">
                          <a:solidFill>
                            <a:srgbClr val="F5F0E8"/>
                          </a:solidFill>
                        </a:rPr>
                        <a:t>Removed from bottom nav. Single “Sign Out” on Profile with confirmation modal.</a:t>
                      </a:r>
                      <a:endParaRPr lang="en-US" sz="1600" dirty="0"/>
                    </a:p>
                  </a:txBody>
                  <a:tcPr marL="128016" marR="128016" marT="73152" marB="7315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0D2A1A"/>
                    </a:solidFill>
                  </a:tcPr>
                </a:tc>
                <a:extLst>
                  <a:ext uri="{0D108BD9-81ED-4DB2-BD59-A6C34878D82A}">
                    <a16:rowId xmlns:a16="http://schemas.microsoft.com/office/drawing/2014/main" val="10001"/>
                  </a:ext>
                </a:extLst>
              </a:tr>
              <a:tr h="1188720">
                <a:tc>
                  <a:txBody>
                    <a:bodyPr/>
                    <a:lstStyle/>
                    <a:p>
                      <a:pPr marL="0" indent="0">
                        <a:buNone/>
                      </a:pPr>
                      <a:r>
                        <a:rPr lang="en-US" sz="1600" b="1" dirty="0">
                          <a:solidFill>
                            <a:srgbClr val="F5F0E8"/>
                          </a:solidFill>
                        </a:rPr>
                        <a:t>#1 Visibility of System Status</a:t>
                      </a:r>
                      <a:endParaRPr lang="en-US" sz="1600" dirty="0"/>
                    </a:p>
                  </a:txBody>
                  <a:tcPr marL="128016" marR="128016" marT="73152" marB="7315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buNone/>
                      </a:pPr>
                      <a:r>
                        <a:rPr lang="en-US" sz="1600" dirty="0">
                          <a:solidFill>
                            <a:srgbClr val="F5F0E8"/>
                          </a:solidFill>
                        </a:rPr>
                        <a:t>Progress shown only as “100 / 367” text. No sync indicator.</a:t>
                      </a:r>
                      <a:endParaRPr lang="en-US" sz="1600" dirty="0"/>
                    </a:p>
                  </a:txBody>
                  <a:tcPr marL="128016" marR="128016" marT="73152" marB="7315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A1A1A"/>
                    </a:solidFill>
                  </a:tcPr>
                </a:tc>
                <a:tc>
                  <a:txBody>
                    <a:bodyPr/>
                    <a:lstStyle/>
                    <a:p>
                      <a:pPr marL="0" indent="0">
                        <a:buNone/>
                      </a:pPr>
                      <a:r>
                        <a:rPr lang="en-US" sz="1600" dirty="0">
                          <a:solidFill>
                            <a:srgbClr val="F5F0E8"/>
                          </a:solidFill>
                        </a:rPr>
                        <a:t>Progress bar + percentage. “Synced ✓” / “Syncing…” indicator. </a:t>
                      </a:r>
                      <a:r>
                        <a:rPr lang="en-US" sz="1600" i="1" dirty="0">
                          <a:solidFill>
                            <a:srgbClr val="A89E90"/>
                          </a:solidFill>
                        </a:rPr>
                        <a:t>(Planned — not yet in hi-fi)</a:t>
                      </a:r>
                      <a:endParaRPr lang="en-US" sz="1600" dirty="0"/>
                    </a:p>
                  </a:txBody>
                  <a:tcPr marL="128016" marR="128016" marT="73152" marB="7315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0D2A1A"/>
                    </a:solidFill>
                  </a:tcPr>
                </a:tc>
                <a:extLst>
                  <a:ext uri="{0D108BD9-81ED-4DB2-BD59-A6C34878D82A}">
                    <a16:rowId xmlns:a16="http://schemas.microsoft.com/office/drawing/2014/main" val="10002"/>
                  </a:ext>
                </a:extLst>
              </a:tr>
              <a:tr h="1188720">
                <a:tc>
                  <a:txBody>
                    <a:bodyPr/>
                    <a:lstStyle/>
                    <a:p>
                      <a:pPr marL="0" indent="0">
                        <a:buNone/>
                      </a:pPr>
                      <a:r>
                        <a:rPr lang="en-US" sz="1600" b="1" dirty="0">
                          <a:solidFill>
                            <a:srgbClr val="F5F0E8"/>
                          </a:solidFill>
                        </a:rPr>
                        <a:t>#6 Recognition over Recall</a:t>
                      </a:r>
                      <a:endParaRPr lang="en-US" sz="1600" dirty="0"/>
                    </a:p>
                  </a:txBody>
                  <a:tcPr marL="128016" marR="128016" marT="73152" marB="7315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buNone/>
                      </a:pPr>
                      <a:r>
                        <a:rPr lang="en-US" sz="1600" dirty="0">
                          <a:solidFill>
                            <a:srgbClr val="F5F0E8"/>
                          </a:solidFill>
                        </a:rPr>
                        <a:t>Bottom nav icons only (no labels). Theme toggle = sun icon only.</a:t>
                      </a:r>
                      <a:endParaRPr lang="en-US" sz="1600" dirty="0"/>
                    </a:p>
                  </a:txBody>
                  <a:tcPr marL="128016" marR="128016" marT="73152" marB="7315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A1A1A"/>
                    </a:solidFill>
                  </a:tcPr>
                </a:tc>
                <a:tc>
                  <a:txBody>
                    <a:bodyPr/>
                    <a:lstStyle/>
                    <a:p>
                      <a:pPr marL="0" indent="0">
                        <a:buNone/>
                      </a:pPr>
                      <a:r>
                        <a:rPr lang="en-US" sz="1600" dirty="0">
                          <a:solidFill>
                            <a:srgbClr val="F5F0E8"/>
                          </a:solidFill>
                        </a:rPr>
                        <a:t>Text labels under every nav icon. Theme toggle shows “Light / Dark” text. </a:t>
                      </a:r>
                      <a:r>
                        <a:rPr lang="en-US" sz="1600" i="1" dirty="0">
                          <a:solidFill>
                            <a:srgbClr val="A89E90"/>
                          </a:solidFill>
                        </a:rPr>
                        <a:t>(Shown in v2 lo-fi)</a:t>
                      </a:r>
                      <a:endParaRPr lang="en-US" sz="1600" dirty="0"/>
                    </a:p>
                  </a:txBody>
                  <a:tcPr marL="128016" marR="128016" marT="73152" marB="7315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0D2A1A"/>
                    </a:solidFill>
                  </a:tcPr>
                </a:tc>
                <a:extLst>
                  <a:ext uri="{0D108BD9-81ED-4DB2-BD59-A6C34878D82A}">
                    <a16:rowId xmlns:a16="http://schemas.microsoft.com/office/drawing/2014/main" val="10003"/>
                  </a:ext>
                </a:extLst>
              </a:tr>
            </a:tbl>
          </a:graphicData>
        </a:graphic>
      </p:graphicFrame>
      <p:sp>
        <p:nvSpPr>
          <p:cNvPr id="6" name="Text 2"/>
          <p:cNvSpPr txBox="1"/>
          <p:nvPr/>
        </p:nvSpPr>
        <p:spPr>
          <a:xfrm>
            <a:off x="640080" y="5989320"/>
            <a:ext cx="10908792" cy="274320"/>
          </a:xfrm>
          <a:prstGeom prst="rect">
            <a:avLst/>
          </a:prstGeom>
          <a:noFill/>
          <a:ln/>
        </p:spPr>
        <p:txBody>
          <a:bodyPr wrap="square" lIns="0" tIns="0" rIns="0" bIns="0" rtlCol="0" anchor="t"/>
          <a:lstStyle/>
          <a:p>
            <a:pPr marL="0" indent="0">
              <a:buNone/>
            </a:pPr>
            <a:r>
              <a:rPr lang="en-US" sz="1400" dirty="0">
                <a:solidFill>
                  <a:srgbClr val="CC4444"/>
                </a:solidFill>
              </a:rPr>
              <a:t>■ </a:t>
            </a:r>
            <a:r>
              <a:rPr lang="en-US" sz="1400" dirty="0">
                <a:solidFill>
                  <a:schemeClr val="accent2"/>
                </a:solidFill>
              </a:rPr>
              <a:t>v1 problem rows   </a:t>
            </a:r>
            <a:r>
              <a:rPr lang="en-US" sz="1400" dirty="0">
                <a:solidFill>
                  <a:srgbClr val="44CC44"/>
                </a:solidFill>
              </a:rPr>
              <a:t>■ </a:t>
            </a:r>
            <a:r>
              <a:rPr lang="en-US" sz="1400" dirty="0">
                <a:solidFill>
                  <a:schemeClr val="accent2"/>
                </a:solidFill>
              </a:rPr>
              <a:t>v2 fix rows</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22960" y="1280160"/>
            <a:ext cx="4572000" cy="1463040"/>
          </a:xfrm>
          <a:prstGeom prst="rect">
            <a:avLst/>
          </a:prstGeom>
          <a:noFill/>
          <a:ln/>
        </p:spPr>
        <p:txBody>
          <a:bodyPr wrap="square" lIns="0" tIns="0" rIns="0" bIns="0" rtlCol="0" anchor="ctr"/>
          <a:lstStyle/>
          <a:p>
            <a:pPr marL="0" indent="0" algn="l">
              <a:buNone/>
            </a:pPr>
            <a:r>
              <a:rPr lang="en-US" sz="9600" b="1" dirty="0">
                <a:solidFill>
                  <a:schemeClr val="accent1"/>
                </a:solidFill>
              </a:rPr>
              <a:t>07</a:t>
            </a:r>
            <a:endParaRPr lang="en-US" sz="9600" dirty="0"/>
          </a:p>
        </p:txBody>
      </p:sp>
      <p:sp>
        <p:nvSpPr>
          <p:cNvPr id="3" name="Text 1"/>
          <p:cNvSpPr>
            <a:spLocks noGrp="1"/>
          </p:cNvSpPr>
          <p:nvPr>
            <p:ph type="title" idx="102" hasCustomPrompt="1"/>
          </p:nvPr>
        </p:nvSpPr>
        <p:spPr>
          <a:xfrm>
            <a:off x="822960" y="3108960"/>
            <a:ext cx="5852160" cy="2194560"/>
          </a:xfrm>
          <a:prstGeom prst="rect">
            <a:avLst/>
          </a:prstGeom>
          <a:noFill/>
          <a:ln/>
        </p:spPr>
        <p:txBody>
          <a:bodyPr wrap="square" lIns="0" tIns="0" rIns="0" bIns="0" rtlCol="0" anchor="t"/>
          <a:lstStyle/>
          <a:p>
            <a:pPr marL="0" indent="0" algn="l">
              <a:buNone/>
            </a:pPr>
            <a:r>
              <a:rPr lang="en-US" sz="4400" b="1" dirty="0">
                <a:solidFill>
                  <a:schemeClr val="tx1"/>
                </a:solidFill>
              </a:rPr>
              <a:t>Accessibility</a:t>
            </a:r>
            <a:endParaRPr lang="en-US" sz="4400" dirty="0"/>
          </a:p>
        </p:txBody>
      </p:sp>
      <p:sp>
        <p:nvSpPr>
          <p:cNvPr id="4" name="Text 1"/>
          <p:cNvSpPr>
            <a:spLocks noGrp="1"/>
          </p:cNvSpPr>
          <p:nvPr>
            <p:ph type="body" idx="103" hasCustomPrompt="1"/>
          </p:nvPr>
        </p:nvSpPr>
        <p:spPr>
          <a:xfrm>
            <a:off x="822960" y="5577840"/>
            <a:ext cx="5852160" cy="274320"/>
          </a:xfrm>
          <a:prstGeom prst="rect">
            <a:avLst/>
          </a:prstGeom>
          <a:noFill/>
          <a:ln/>
        </p:spPr>
        <p:txBody>
          <a:bodyPr wrap="square" lIns="0" tIns="0" rIns="0" bIns="0" rtlCol="0" anchor="ctr"/>
          <a:lstStyle/>
          <a:p>
            <a:pPr marL="0" indent="0" algn="l">
              <a:buNone/>
            </a:pPr>
            <a:r>
              <a:rPr lang="en-US" sz="1400" b="1" kern="0" spc="150" dirty="0">
                <a:solidFill>
                  <a:schemeClr val="accent2"/>
                </a:solidFill>
              </a:rPr>
              <a:t>PRESENTER  ·  ANAS HOSSAM  ·  ~8 MIN</a:t>
            </a:r>
            <a:endParaRPr lang="en-US" sz="1400" dirty="0"/>
          </a:p>
        </p:txBody>
      </p:sp>
      <p:sp>
        <p:nvSpPr>
          <p:cNvPr id="6" name="Text 3"/>
          <p:cNvSpPr txBox="1"/>
          <p:nvPr/>
        </p:nvSpPr>
        <p:spPr>
          <a:xfrm>
            <a:off x="7223760" y="1325880"/>
            <a:ext cx="4297680" cy="228600"/>
          </a:xfrm>
          <a:prstGeom prst="rect">
            <a:avLst/>
          </a:prstGeom>
          <a:noFill/>
          <a:ln/>
        </p:spPr>
        <p:txBody>
          <a:bodyPr wrap="square" lIns="0" tIns="0" rIns="0" bIns="0" rtlCol="0" anchor="t"/>
          <a:lstStyle/>
          <a:p>
            <a:pPr marL="0" indent="0">
              <a:buNone/>
            </a:pPr>
            <a:r>
              <a:rPr lang="en-US" sz="1200" b="1" kern="0" spc="150" dirty="0">
                <a:solidFill>
                  <a:schemeClr val="accent2"/>
                </a:solidFill>
              </a:rPr>
              <a:t>AGENDA</a:t>
            </a:r>
            <a:endParaRPr lang="en-US" sz="1200" dirty="0"/>
          </a:p>
        </p:txBody>
      </p:sp>
      <p:sp>
        <p:nvSpPr>
          <p:cNvPr id="7" name="Text 4"/>
          <p:cNvSpPr txBox="1"/>
          <p:nvPr/>
        </p:nvSpPr>
        <p:spPr>
          <a:xfrm>
            <a:off x="7406640" y="169164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01</a:t>
            </a:r>
            <a:endParaRPr lang="en-US" sz="1600" dirty="0"/>
          </a:p>
        </p:txBody>
      </p:sp>
      <p:sp>
        <p:nvSpPr>
          <p:cNvPr id="8" name="Text 5"/>
          <p:cNvSpPr txBox="1"/>
          <p:nvPr/>
        </p:nvSpPr>
        <p:spPr>
          <a:xfrm>
            <a:off x="7955280" y="169164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Why User-Centred Design?</a:t>
            </a:r>
            <a:endParaRPr lang="en-US" sz="1600" dirty="0"/>
          </a:p>
        </p:txBody>
      </p:sp>
      <p:sp>
        <p:nvSpPr>
          <p:cNvPr id="9" name="Text 6"/>
          <p:cNvSpPr txBox="1"/>
          <p:nvPr/>
        </p:nvSpPr>
        <p:spPr>
          <a:xfrm>
            <a:off x="7406640" y="233172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02</a:t>
            </a:r>
            <a:endParaRPr lang="en-US" sz="1600" dirty="0"/>
          </a:p>
        </p:txBody>
      </p:sp>
      <p:sp>
        <p:nvSpPr>
          <p:cNvPr id="10" name="Text 7"/>
          <p:cNvSpPr txBox="1"/>
          <p:nvPr/>
        </p:nvSpPr>
        <p:spPr>
          <a:xfrm>
            <a:off x="7955280" y="233172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Users, Stakeholders &amp; Research</a:t>
            </a:r>
            <a:endParaRPr lang="en-US" sz="1600" dirty="0"/>
          </a:p>
        </p:txBody>
      </p:sp>
      <p:sp>
        <p:nvSpPr>
          <p:cNvPr id="11" name="Text 8"/>
          <p:cNvSpPr txBox="1"/>
          <p:nvPr/>
        </p:nvSpPr>
        <p:spPr>
          <a:xfrm>
            <a:off x="7406640" y="297180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03</a:t>
            </a:r>
            <a:endParaRPr lang="en-US" sz="1600" dirty="0"/>
          </a:p>
        </p:txBody>
      </p:sp>
      <p:sp>
        <p:nvSpPr>
          <p:cNvPr id="12" name="Text 9"/>
          <p:cNvSpPr txBox="1"/>
          <p:nvPr/>
        </p:nvSpPr>
        <p:spPr>
          <a:xfrm>
            <a:off x="7955280" y="297180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Personas</a:t>
            </a:r>
            <a:endParaRPr lang="en-US" sz="1600" dirty="0"/>
          </a:p>
        </p:txBody>
      </p:sp>
      <p:sp>
        <p:nvSpPr>
          <p:cNvPr id="13" name="Text 10"/>
          <p:cNvSpPr txBox="1"/>
          <p:nvPr/>
        </p:nvSpPr>
        <p:spPr>
          <a:xfrm>
            <a:off x="7406640" y="361188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04</a:t>
            </a:r>
            <a:endParaRPr lang="en-US" sz="1600" dirty="0"/>
          </a:p>
        </p:txBody>
      </p:sp>
      <p:sp>
        <p:nvSpPr>
          <p:cNvPr id="14" name="Text 11"/>
          <p:cNvSpPr txBox="1"/>
          <p:nvPr/>
        </p:nvSpPr>
        <p:spPr>
          <a:xfrm>
            <a:off x="7955280" y="361188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User Stories &amp; Acceptance Criteria</a:t>
            </a:r>
            <a:endParaRPr lang="en-US" sz="1600" dirty="0"/>
          </a:p>
        </p:txBody>
      </p:sp>
      <p:sp>
        <p:nvSpPr>
          <p:cNvPr id="15" name="Text 12"/>
          <p:cNvSpPr txBox="1"/>
          <p:nvPr/>
        </p:nvSpPr>
        <p:spPr>
          <a:xfrm>
            <a:off x="7406640" y="425196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05</a:t>
            </a:r>
            <a:endParaRPr lang="en-US" sz="1600" dirty="0"/>
          </a:p>
        </p:txBody>
      </p:sp>
      <p:sp>
        <p:nvSpPr>
          <p:cNvPr id="16" name="Text 13"/>
          <p:cNvSpPr txBox="1"/>
          <p:nvPr/>
        </p:nvSpPr>
        <p:spPr>
          <a:xfrm>
            <a:off x="7955280" y="425196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Problem Statement &amp; User Flow</a:t>
            </a:r>
            <a:endParaRPr lang="en-US" sz="1600" dirty="0"/>
          </a:p>
        </p:txBody>
      </p:sp>
      <p:sp>
        <p:nvSpPr>
          <p:cNvPr id="17" name="Text 14"/>
          <p:cNvSpPr txBox="1"/>
          <p:nvPr/>
        </p:nvSpPr>
        <p:spPr>
          <a:xfrm>
            <a:off x="7406640" y="4892040"/>
            <a:ext cx="457200" cy="438912"/>
          </a:xfrm>
          <a:prstGeom prst="rect">
            <a:avLst/>
          </a:prstGeom>
          <a:noFill/>
          <a:ln/>
        </p:spPr>
        <p:txBody>
          <a:bodyPr wrap="square" lIns="0" tIns="0" rIns="0" bIns="0" rtlCol="0" anchor="ctr"/>
          <a:lstStyle/>
          <a:p>
            <a:pPr marL="0" indent="0">
              <a:buNone/>
            </a:pPr>
            <a:r>
              <a:rPr lang="en-US" sz="1600" b="1" dirty="0">
                <a:solidFill>
                  <a:schemeClr val="accent2"/>
                </a:solidFill>
              </a:rPr>
              <a:t>06</a:t>
            </a:r>
            <a:endParaRPr lang="en-US" sz="1600" dirty="0"/>
          </a:p>
        </p:txBody>
      </p:sp>
      <p:sp>
        <p:nvSpPr>
          <p:cNvPr id="18" name="Text 15"/>
          <p:cNvSpPr txBox="1"/>
          <p:nvPr/>
        </p:nvSpPr>
        <p:spPr>
          <a:xfrm>
            <a:off x="7955280" y="4892040"/>
            <a:ext cx="3474720" cy="438912"/>
          </a:xfrm>
          <a:prstGeom prst="rect">
            <a:avLst/>
          </a:prstGeom>
          <a:noFill/>
          <a:ln/>
        </p:spPr>
        <p:txBody>
          <a:bodyPr wrap="square" lIns="0" tIns="0" rIns="0" bIns="0" rtlCol="0" anchor="ctr"/>
          <a:lstStyle/>
          <a:p>
            <a:pPr marL="0" indent="0">
              <a:buNone/>
            </a:pPr>
            <a:r>
              <a:rPr lang="en-US" sz="1600" dirty="0">
                <a:solidFill>
                  <a:schemeClr val="accent2"/>
                </a:solidFill>
              </a:rPr>
              <a:t>Wireframes &amp; Usability Heuristics</a:t>
            </a:r>
            <a:endParaRPr lang="en-US" sz="1600" dirty="0"/>
          </a:p>
        </p:txBody>
      </p:sp>
      <p:sp>
        <p:nvSpPr>
          <p:cNvPr id="19" name="Current section"/>
          <p:cNvSpPr/>
          <p:nvPr/>
        </p:nvSpPr>
        <p:spPr>
          <a:xfrm>
            <a:off x="7223760" y="5477256"/>
            <a:ext cx="4325112" cy="548640"/>
          </a:xfrm>
          <a:prstGeom prst="roundRect">
            <a:avLst>
              <a:gd name="adj" fmla="val 20000"/>
            </a:avLst>
          </a:prstGeom>
          <a:solidFill>
            <a:schemeClr val="bg2"/>
          </a:solidFill>
          <a:ln w="15875">
            <a:solidFill>
              <a:schemeClr val="accent1"/>
            </a:solidFill>
            <a:prstDash val="solid"/>
          </a:ln>
        </p:spPr>
        <p:txBody>
          <a:bodyPr/>
          <a:lstStyle/>
          <a:p>
            <a:endParaRPr lang="en-GB"/>
          </a:p>
        </p:txBody>
      </p:sp>
      <p:sp>
        <p:nvSpPr>
          <p:cNvPr id="20" name="Text 17"/>
          <p:cNvSpPr txBox="1"/>
          <p:nvPr/>
        </p:nvSpPr>
        <p:spPr>
          <a:xfrm>
            <a:off x="7406640" y="5532120"/>
            <a:ext cx="457200" cy="438912"/>
          </a:xfrm>
          <a:prstGeom prst="rect">
            <a:avLst/>
          </a:prstGeom>
          <a:noFill/>
          <a:ln/>
        </p:spPr>
        <p:txBody>
          <a:bodyPr wrap="square" lIns="0" tIns="0" rIns="0" bIns="0" rtlCol="0" anchor="ctr"/>
          <a:lstStyle/>
          <a:p>
            <a:pPr marL="0" indent="0">
              <a:buNone/>
            </a:pPr>
            <a:r>
              <a:rPr lang="en-US" sz="1600" b="1" dirty="0">
                <a:solidFill>
                  <a:schemeClr val="accent1"/>
                </a:solidFill>
              </a:rPr>
              <a:t>07</a:t>
            </a:r>
            <a:endParaRPr lang="en-US" sz="1600" dirty="0"/>
          </a:p>
        </p:txBody>
      </p:sp>
      <p:sp>
        <p:nvSpPr>
          <p:cNvPr id="21" name="Text 18"/>
          <p:cNvSpPr txBox="1"/>
          <p:nvPr/>
        </p:nvSpPr>
        <p:spPr>
          <a:xfrm>
            <a:off x="7955280" y="5532120"/>
            <a:ext cx="3474720" cy="438912"/>
          </a:xfrm>
          <a:prstGeom prst="rect">
            <a:avLst/>
          </a:prstGeom>
          <a:noFill/>
          <a:ln/>
        </p:spPr>
        <p:txBody>
          <a:bodyPr wrap="square" lIns="0" tIns="0" rIns="0" bIns="0" rtlCol="0" anchor="ctr"/>
          <a:lstStyle/>
          <a:p>
            <a:pPr marL="0" indent="0">
              <a:buNone/>
            </a:pPr>
            <a:r>
              <a:rPr lang="en-US" sz="1600" b="1" dirty="0">
                <a:solidFill>
                  <a:schemeClr val="tx1"/>
                </a:solidFill>
              </a:rPr>
              <a:t>Accessibility</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07 · ACCESSIBILITY</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Why Accessibility Matters: POUR</a:t>
            </a:r>
            <a:endParaRPr lang="en-US" sz="3200" dirty="0"/>
          </a:p>
        </p:txBody>
      </p:sp>
      <p:sp>
        <p:nvSpPr>
          <p:cNvPr id="5" name="Stat card"/>
          <p:cNvSpPr/>
          <p:nvPr/>
        </p:nvSpPr>
        <p:spPr>
          <a:xfrm>
            <a:off x="640080" y="1554480"/>
            <a:ext cx="4023360" cy="1920240"/>
          </a:xfrm>
          <a:prstGeom prst="roundRect">
            <a:avLst>
              <a:gd name="adj" fmla="val 5714"/>
            </a:avLst>
          </a:prstGeom>
          <a:solidFill>
            <a:schemeClr val="bg2"/>
          </a:solidFill>
          <a:ln w="9525">
            <a:solidFill>
              <a:schemeClr val="tx2"/>
            </a:solidFill>
            <a:prstDash val="solid"/>
          </a:ln>
        </p:spPr>
        <p:txBody>
          <a:bodyPr/>
          <a:lstStyle/>
          <a:p>
            <a:endParaRPr lang="en-GB"/>
          </a:p>
        </p:txBody>
      </p:sp>
      <p:sp>
        <p:nvSpPr>
          <p:cNvPr id="6" name="Text 3"/>
          <p:cNvSpPr txBox="1"/>
          <p:nvPr/>
        </p:nvSpPr>
        <p:spPr>
          <a:xfrm>
            <a:off x="914400" y="1691640"/>
            <a:ext cx="3474720" cy="822960"/>
          </a:xfrm>
          <a:prstGeom prst="rect">
            <a:avLst/>
          </a:prstGeom>
          <a:noFill/>
          <a:ln/>
        </p:spPr>
        <p:txBody>
          <a:bodyPr wrap="square" lIns="0" tIns="0" rIns="0" bIns="0" rtlCol="0" anchor="ctr"/>
          <a:lstStyle/>
          <a:p>
            <a:pPr marL="0" indent="0">
              <a:buNone/>
            </a:pPr>
            <a:r>
              <a:rPr lang="en-US" sz="4400" b="1" dirty="0">
                <a:solidFill>
                  <a:schemeClr val="accent1"/>
                </a:solidFill>
              </a:rPr>
              <a:t>~15%</a:t>
            </a:r>
            <a:endParaRPr lang="en-US" sz="4400" dirty="0"/>
          </a:p>
        </p:txBody>
      </p:sp>
      <p:sp>
        <p:nvSpPr>
          <p:cNvPr id="7" name="Text 4"/>
          <p:cNvSpPr txBox="1"/>
          <p:nvPr/>
        </p:nvSpPr>
        <p:spPr>
          <a:xfrm>
            <a:off x="914400" y="2560320"/>
            <a:ext cx="3474720" cy="731520"/>
          </a:xfrm>
          <a:prstGeom prst="rect">
            <a:avLst/>
          </a:prstGeom>
          <a:noFill/>
          <a:ln/>
        </p:spPr>
        <p:txBody>
          <a:bodyPr wrap="square" lIns="0" tIns="0" rIns="0" bIns="0" rtlCol="0" anchor="t"/>
          <a:lstStyle/>
          <a:p>
            <a:pPr marL="0" indent="0">
              <a:buNone/>
            </a:pPr>
            <a:r>
              <a:rPr lang="en-US" sz="1600" dirty="0">
                <a:solidFill>
                  <a:schemeClr val="tx1"/>
                </a:solidFill>
              </a:rPr>
              <a:t>of the world’s population has a disability</a:t>
            </a:r>
            <a:endParaRPr lang="en-US" sz="1600" dirty="0"/>
          </a:p>
        </p:txBody>
      </p:sp>
      <p:sp>
        <p:nvSpPr>
          <p:cNvPr id="8" name="Why card"/>
          <p:cNvSpPr/>
          <p:nvPr/>
        </p:nvSpPr>
        <p:spPr>
          <a:xfrm>
            <a:off x="640080" y="3657600"/>
            <a:ext cx="4023360" cy="2606040"/>
          </a:xfrm>
          <a:prstGeom prst="roundRect">
            <a:avLst>
              <a:gd name="adj" fmla="val 4211"/>
            </a:avLst>
          </a:prstGeom>
          <a:solidFill>
            <a:schemeClr val="bg2"/>
          </a:solidFill>
          <a:ln w="9525">
            <a:solidFill>
              <a:schemeClr val="tx2"/>
            </a:solidFill>
            <a:prstDash val="solid"/>
          </a:ln>
        </p:spPr>
        <p:txBody>
          <a:bodyPr/>
          <a:lstStyle/>
          <a:p>
            <a:endParaRPr lang="en-GB"/>
          </a:p>
        </p:txBody>
      </p:sp>
      <p:sp>
        <p:nvSpPr>
          <p:cNvPr id="9" name="Text 6"/>
          <p:cNvSpPr txBox="1"/>
          <p:nvPr/>
        </p:nvSpPr>
        <p:spPr>
          <a:xfrm>
            <a:off x="914400" y="3886200"/>
            <a:ext cx="3474720" cy="219456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chemeClr val="tx1"/>
                </a:solidFill>
              </a:rPr>
              <a:t>Accessible design helps everyone (curb cut effect)</a:t>
            </a:r>
            <a:endParaRPr lang="en-US" sz="1600" dirty="0"/>
          </a:p>
          <a:p>
            <a:pPr marL="228600" indent="-228600">
              <a:spcAft>
                <a:spcPts val="1200"/>
              </a:spcAft>
              <a:buSzPct val="100000"/>
              <a:buChar char="•"/>
            </a:pPr>
            <a:r>
              <a:rPr lang="en-US" sz="1600" dirty="0">
                <a:solidFill>
                  <a:schemeClr val="tx1"/>
                </a:solidFill>
              </a:rPr>
              <a:t>Legal: EAA 2025, ADA, etc.</a:t>
            </a:r>
            <a:endParaRPr lang="en-US" sz="1600" dirty="0"/>
          </a:p>
          <a:p>
            <a:pPr marL="228600" indent="-228600">
              <a:spcAft>
                <a:spcPts val="1200"/>
              </a:spcAft>
              <a:buSzPct val="100000"/>
              <a:buChar char="•"/>
            </a:pPr>
            <a:r>
              <a:rPr lang="en-US" sz="1600" dirty="0">
                <a:solidFill>
                  <a:schemeClr val="tx1"/>
                </a:solidFill>
              </a:rPr>
              <a:t>Better UX for all users</a:t>
            </a:r>
            <a:endParaRPr lang="en-US" sz="1600" dirty="0"/>
          </a:p>
        </p:txBody>
      </p:sp>
      <p:graphicFrame>
        <p:nvGraphicFramePr>
          <p:cNvPr id="31" name="Table"/>
          <p:cNvGraphicFramePr>
            <a:graphicFrameLocks noGrp="1"/>
          </p:cNvGraphicFramePr>
          <p:nvPr>
            <p:extLst>
              <p:ext uri="{D42A27DB-BD31-4B8C-83A1-F6EECF244321}">
                <p14:modId xmlns:p14="http://schemas.microsoft.com/office/powerpoint/2010/main" val="1579011935"/>
              </p:ext>
            </p:extLst>
          </p:nvPr>
        </p:nvGraphicFramePr>
        <p:xfrm>
          <a:off x="4937760" y="1554480"/>
          <a:ext cx="6611112" cy="914400"/>
        </p:xfrm>
        <a:graphic>
          <a:graphicData uri="http://schemas.openxmlformats.org/drawingml/2006/table">
            <a:tbl>
              <a:tblPr/>
              <a:tblGrid>
                <a:gridCol w="15544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953512">
                  <a:extLst>
                    <a:ext uri="{9D8B030D-6E8A-4147-A177-3AD203B41FA5}">
                      <a16:colId xmlns:a16="http://schemas.microsoft.com/office/drawing/2014/main" val="20002"/>
                    </a:ext>
                  </a:extLst>
                </a:gridCol>
              </a:tblGrid>
              <a:tr h="457200">
                <a:tc>
                  <a:txBody>
                    <a:bodyPr/>
                    <a:lstStyle/>
                    <a:p>
                      <a:pPr marL="0" indent="0" algn="l">
                        <a:buNone/>
                      </a:pPr>
                      <a:r>
                        <a:rPr lang="en-US" sz="1400" b="1" dirty="0">
                          <a:solidFill>
                            <a:srgbClr val="0D0D0D"/>
                          </a:solidFill>
                        </a:rPr>
                        <a:t>Principle</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l">
                        <a:buNone/>
                      </a:pPr>
                      <a:r>
                        <a:rPr lang="en-US" sz="1400" b="1" dirty="0">
                          <a:solidFill>
                            <a:srgbClr val="0D0D0D"/>
                          </a:solidFill>
                        </a:rPr>
                        <a:t>Meaning</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l">
                        <a:buNone/>
                      </a:pPr>
                      <a:r>
                        <a:rPr lang="en-US" sz="1400" b="1" dirty="0">
                          <a:solidFill>
                            <a:srgbClr val="0D0D0D"/>
                          </a:solidFill>
                        </a:rPr>
                        <a:t>Shelf Application</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extLst>
                  <a:ext uri="{0D108BD9-81ED-4DB2-BD59-A6C34878D82A}">
                    <a16:rowId xmlns:a16="http://schemas.microsoft.com/office/drawing/2014/main" val="10000"/>
                  </a:ext>
                </a:extLst>
              </a:tr>
              <a:tr h="1051560">
                <a:tc>
                  <a:txBody>
                    <a:bodyPr/>
                    <a:lstStyle/>
                    <a:p>
                      <a:pPr marL="0" indent="0" algn="l">
                        <a:buNone/>
                      </a:pPr>
                      <a:r>
                        <a:rPr lang="en-US" sz="1400" b="1" dirty="0">
                          <a:solidFill>
                            <a:srgbClr val="F5F0E8"/>
                          </a:solidFill>
                        </a:rPr>
                        <a:t>Perceivable</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Users can see/hear content</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4.5:1 contrast, alt text for covers, scalable text</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1"/>
                  </a:ext>
                </a:extLst>
              </a:tr>
              <a:tr h="1051560">
                <a:tc>
                  <a:txBody>
                    <a:bodyPr/>
                    <a:lstStyle/>
                    <a:p>
                      <a:pPr marL="0" indent="0" algn="l">
                        <a:buNone/>
                      </a:pPr>
                      <a:r>
                        <a:rPr lang="en-US" sz="1400" b="1" dirty="0">
                          <a:solidFill>
                            <a:srgbClr val="F5F0E8"/>
                          </a:solidFill>
                        </a:rPr>
                        <a:t>Operable</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F5F0E8"/>
                          </a:solidFill>
                        </a:rPr>
                        <a:t>Users can control it</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F5F0E8"/>
                          </a:solidFill>
                        </a:rPr>
                        <a:t>Touch targets ≥48dp, no gesture-only, skip links</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extLst>
                  <a:ext uri="{0D108BD9-81ED-4DB2-BD59-A6C34878D82A}">
                    <a16:rowId xmlns:a16="http://schemas.microsoft.com/office/drawing/2014/main" val="10002"/>
                  </a:ext>
                </a:extLst>
              </a:tr>
              <a:tr h="1051560">
                <a:tc>
                  <a:txBody>
                    <a:bodyPr/>
                    <a:lstStyle/>
                    <a:p>
                      <a:pPr marL="0" indent="0" algn="l">
                        <a:buNone/>
                      </a:pPr>
                      <a:r>
                        <a:rPr lang="en-US" sz="1400" b="1" dirty="0">
                          <a:solidFill>
                            <a:srgbClr val="F5F0E8"/>
                          </a:solidFill>
                        </a:rPr>
                        <a:t>Understandable</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Clear, predictable, helpful errors</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Plain language, consistent nav, inline validation</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3"/>
                  </a:ext>
                </a:extLst>
              </a:tr>
              <a:tr h="1051560">
                <a:tc>
                  <a:txBody>
                    <a:bodyPr/>
                    <a:lstStyle/>
                    <a:p>
                      <a:pPr marL="0" indent="0" algn="l">
                        <a:buNone/>
                      </a:pPr>
                      <a:r>
                        <a:rPr lang="en-US" sz="1400" b="1" dirty="0">
                          <a:solidFill>
                            <a:srgbClr val="F5F0E8"/>
                          </a:solidFill>
                        </a:rPr>
                        <a:t>Robust</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F5F0E8"/>
                          </a:solidFill>
                        </a:rPr>
                        <a:t>Works with AT, different devices</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F5F0E8"/>
                          </a:solidFill>
                        </a:rPr>
                        <a:t>Semantic markup, tested with TalkBack/VoiceOver</a:t>
                      </a:r>
                      <a:endParaRPr lang="en-US" sz="14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07 · ACCESSIBILITY</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Practical Rules: Desktop Brief → Mobile Reality</a:t>
            </a:r>
            <a:endParaRPr lang="en-US" sz="3200" dirty="0"/>
          </a:p>
        </p:txBody>
      </p:sp>
      <p:graphicFrame>
        <p:nvGraphicFramePr>
          <p:cNvPr id="32" name="Table"/>
          <p:cNvGraphicFramePr>
            <a:graphicFrameLocks noGrp="1"/>
          </p:cNvGraphicFramePr>
          <p:nvPr>
            <p:extLst>
              <p:ext uri="{D42A27DB-BD31-4B8C-83A1-F6EECF244321}">
                <p14:modId xmlns:p14="http://schemas.microsoft.com/office/powerpoint/2010/main" val="1579011935"/>
              </p:ext>
            </p:extLst>
          </p:nvPr>
        </p:nvGraphicFramePr>
        <p:xfrm>
          <a:off x="640080" y="1554480"/>
          <a:ext cx="10908792" cy="914400"/>
        </p:xfrm>
        <a:graphic>
          <a:graphicData uri="http://schemas.openxmlformats.org/drawingml/2006/table">
            <a:tbl>
              <a:tblPr/>
              <a:tblGrid>
                <a:gridCol w="292608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2862072">
                  <a:extLst>
                    <a:ext uri="{9D8B030D-6E8A-4147-A177-3AD203B41FA5}">
                      <a16:colId xmlns:a16="http://schemas.microsoft.com/office/drawing/2014/main" val="20002"/>
                    </a:ext>
                  </a:extLst>
                </a:gridCol>
              </a:tblGrid>
              <a:tr h="502920">
                <a:tc>
                  <a:txBody>
                    <a:bodyPr/>
                    <a:lstStyle/>
                    <a:p>
                      <a:pPr marL="0" indent="0" algn="l">
                        <a:buNone/>
                      </a:pPr>
                      <a:r>
                        <a:rPr lang="en-US" sz="1600" b="1" dirty="0">
                          <a:solidFill>
                            <a:srgbClr val="0D0D0D"/>
                          </a:solidFill>
                        </a:rPr>
                        <a:t>Desktop Rule (Brief)</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l">
                        <a:buNone/>
                      </a:pPr>
                      <a:r>
                        <a:rPr lang="en-US" sz="1600" b="1" dirty="0">
                          <a:solidFill>
                            <a:srgbClr val="0D0D0D"/>
                          </a:solidFill>
                        </a:rPr>
                        <a:t>Mobile Equivalent (Shelf)</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l">
                        <a:buNone/>
                      </a:pPr>
                      <a:r>
                        <a:rPr lang="en-US" sz="1600" b="1" dirty="0">
                          <a:solidFill>
                            <a:srgbClr val="0D0D0D"/>
                          </a:solidFill>
                        </a:rPr>
                        <a:t>Status</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extLst>
                  <a:ext uri="{0D108BD9-81ED-4DB2-BD59-A6C34878D82A}">
                    <a16:rowId xmlns:a16="http://schemas.microsoft.com/office/drawing/2014/main" val="10000"/>
                  </a:ext>
                </a:extLst>
              </a:tr>
              <a:tr h="868680">
                <a:tc>
                  <a:txBody>
                    <a:bodyPr/>
                    <a:lstStyle/>
                    <a:p>
                      <a:pPr marL="0" indent="0" algn="l">
                        <a:buNone/>
                      </a:pPr>
                      <a:r>
                        <a:rPr lang="en-US" sz="1600" b="1" dirty="0">
                          <a:solidFill>
                            <a:srgbClr val="F5F0E8"/>
                          </a:solidFill>
                        </a:rPr>
                        <a:t>Text contrast ≥ 4.5:1</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600" dirty="0">
                          <a:solidFill>
                            <a:srgbClr val="F5F0E8"/>
                          </a:solidFill>
                        </a:rPr>
                        <a:t>Text contrast ≥ 4.5:1 (AA) / 7:1 (AAA body)</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600" b="1" dirty="0">
                          <a:solidFill>
                            <a:srgbClr val="44CC44"/>
                          </a:solidFill>
                        </a:rPr>
                        <a:t>✓</a:t>
                      </a:r>
                      <a:r>
                        <a:rPr lang="en-US" sz="1600" dirty="0">
                          <a:solidFill>
                            <a:srgbClr val="F5F0E8"/>
                          </a:solidFill>
                        </a:rPr>
                        <a:t>  Check with tool</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1"/>
                  </a:ext>
                </a:extLst>
              </a:tr>
              <a:tr h="1005840">
                <a:tc>
                  <a:txBody>
                    <a:bodyPr/>
                    <a:lstStyle/>
                    <a:p>
                      <a:pPr marL="0" indent="0" algn="l">
                        <a:buNone/>
                      </a:pPr>
                      <a:r>
                        <a:rPr lang="en-US" sz="1600" b="1" dirty="0">
                          <a:solidFill>
                            <a:srgbClr val="F5F0E8"/>
                          </a:solidFill>
                        </a:rPr>
                        <a:t>Full keyboard navigation</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600" dirty="0">
                          <a:solidFill>
                            <a:srgbClr val="F5F0E8"/>
                          </a:solidFill>
                        </a:rPr>
                        <a:t>Full touch/AT navigation: all actions reachable via TalkBack/VoiceOver, logical focus order</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600" b="1" dirty="0">
                          <a:solidFill>
                            <a:srgbClr val="44CC44"/>
                          </a:solidFill>
                        </a:rPr>
                        <a:t>✓</a:t>
                      </a:r>
                      <a:r>
                        <a:rPr lang="en-US" sz="1600" dirty="0">
                          <a:solidFill>
                            <a:srgbClr val="F5F0E8"/>
                          </a:solidFill>
                        </a:rPr>
                        <a:t>  Labelled nav, semantic buttons</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extLst>
                  <a:ext uri="{0D108BD9-81ED-4DB2-BD59-A6C34878D82A}">
                    <a16:rowId xmlns:a16="http://schemas.microsoft.com/office/drawing/2014/main" val="10002"/>
                  </a:ext>
                </a:extLst>
              </a:tr>
              <a:tr h="868680">
                <a:tc>
                  <a:txBody>
                    <a:bodyPr/>
                    <a:lstStyle/>
                    <a:p>
                      <a:pPr marL="0" indent="0" algn="l">
                        <a:buNone/>
                      </a:pPr>
                      <a:r>
                        <a:rPr lang="en-US" sz="1600" b="1" dirty="0">
                          <a:solidFill>
                            <a:srgbClr val="F5F0E8"/>
                          </a:solidFill>
                        </a:rPr>
                        <a:t>Never colour alone for meaning</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600" dirty="0">
                          <a:solidFill>
                            <a:srgbClr val="F5F0E8"/>
                          </a:solidFill>
                        </a:rPr>
                        <a:t>Never colour alone: drop risk uses icon + text + pattern</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600" b="1" dirty="0">
                          <a:solidFill>
                            <a:srgbClr val="44CC44"/>
                          </a:solidFill>
                        </a:rPr>
                        <a:t>✓</a:t>
                      </a:r>
                      <a:r>
                        <a:rPr lang="en-US" sz="1600" dirty="0">
                          <a:solidFill>
                            <a:srgbClr val="F5F0E8"/>
                          </a:solidFill>
                        </a:rPr>
                        <a:t>  v2 book detail</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3"/>
                  </a:ext>
                </a:extLst>
              </a:tr>
              <a:tr h="868680">
                <a:tc>
                  <a:txBody>
                    <a:bodyPr/>
                    <a:lstStyle/>
                    <a:p>
                      <a:pPr marL="0" indent="0" algn="l">
                        <a:buNone/>
                      </a:pPr>
                      <a:r>
                        <a:rPr lang="en-US" sz="1600" b="1" dirty="0">
                          <a:solidFill>
                            <a:srgbClr val="F5F0E8"/>
                          </a:solidFill>
                        </a:rPr>
                        <a:t>Clear labels for every input</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600" dirty="0">
                          <a:solidFill>
                            <a:srgbClr val="F5F0E8"/>
                          </a:solidFill>
                        </a:rPr>
                        <a:t>Clear labels: Search field has label + placeholder; no icon-only buttons</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600" b="1" dirty="0">
                          <a:solidFill>
                            <a:srgbClr val="44CC44"/>
                          </a:solidFill>
                        </a:rPr>
                        <a:t>✓</a:t>
                      </a:r>
                      <a:r>
                        <a:rPr lang="en-US" sz="1600" dirty="0">
                          <a:solidFill>
                            <a:srgbClr val="F5F0E8"/>
                          </a:solidFill>
                        </a:rPr>
                        <a:t>  v2 screens</a:t>
                      </a:r>
                      <a:endParaRPr lang="en-US" sz="1600" dirty="0"/>
                    </a:p>
                  </a:txBody>
                  <a:tcPr marT="54864" marB="54864"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extLst>
                  <a:ext uri="{0D108BD9-81ED-4DB2-BD59-A6C34878D82A}">
                    <a16:rowId xmlns:a16="http://schemas.microsoft.com/office/drawing/2014/main" val="10004"/>
                  </a:ext>
                </a:extLst>
              </a:tr>
            </a:tbl>
          </a:graphicData>
        </a:graphic>
      </p:graphicFrame>
      <p:sp>
        <p:nvSpPr>
          <p:cNvPr id="6" name="Text 2"/>
          <p:cNvSpPr txBox="1"/>
          <p:nvPr/>
        </p:nvSpPr>
        <p:spPr>
          <a:xfrm>
            <a:off x="640080" y="6053328"/>
            <a:ext cx="10908792" cy="320040"/>
          </a:xfrm>
          <a:prstGeom prst="rect">
            <a:avLst/>
          </a:prstGeom>
          <a:noFill/>
          <a:ln/>
        </p:spPr>
        <p:txBody>
          <a:bodyPr wrap="square" lIns="0" tIns="0" rIns="0" bIns="0" rtlCol="0" anchor="t"/>
          <a:lstStyle/>
          <a:p>
            <a:pPr marL="0" indent="0">
              <a:buNone/>
            </a:pPr>
            <a:r>
              <a:rPr lang="en-US" sz="1600" i="1" dirty="0">
                <a:solidFill>
                  <a:schemeClr val="accent2"/>
                </a:solidFill>
              </a:rPr>
              <a:t>Principles stay the same — only the implementation changes by platform.</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07 · ACCESSIBILITY</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Accessibility Checklist on Our Wireframes</a:t>
            </a:r>
            <a:endParaRPr lang="en-US" sz="3200" dirty="0"/>
          </a:p>
        </p:txBody>
      </p:sp>
      <p:graphicFrame>
        <p:nvGraphicFramePr>
          <p:cNvPr id="33" name="Table"/>
          <p:cNvGraphicFramePr>
            <a:graphicFrameLocks noGrp="1"/>
          </p:cNvGraphicFramePr>
          <p:nvPr>
            <p:extLst>
              <p:ext uri="{D42A27DB-BD31-4B8C-83A1-F6EECF244321}">
                <p14:modId xmlns:p14="http://schemas.microsoft.com/office/powerpoint/2010/main" val="1579011935"/>
              </p:ext>
            </p:extLst>
          </p:nvPr>
        </p:nvGraphicFramePr>
        <p:xfrm>
          <a:off x="640080" y="1463040"/>
          <a:ext cx="10908792" cy="914400"/>
        </p:xfrm>
        <a:graphic>
          <a:graphicData uri="http://schemas.openxmlformats.org/drawingml/2006/table">
            <a:tbl>
              <a:tblPr/>
              <a:tblGrid>
                <a:gridCol w="4572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1810512">
                  <a:extLst>
                    <a:ext uri="{9D8B030D-6E8A-4147-A177-3AD203B41FA5}">
                      <a16:colId xmlns:a16="http://schemas.microsoft.com/office/drawing/2014/main" val="20006"/>
                    </a:ext>
                  </a:extLst>
                </a:gridCol>
              </a:tblGrid>
              <a:tr h="411480">
                <a:tc>
                  <a:txBody>
                    <a:bodyPr/>
                    <a:lstStyle/>
                    <a:p>
                      <a:pPr marL="0" indent="0" algn="ctr">
                        <a:buNone/>
                      </a:pPr>
                      <a:r>
                        <a:rPr lang="en-US" sz="1400" b="1" dirty="0">
                          <a:solidFill>
                            <a:srgbClr val="0D0D0D"/>
                          </a:solidFill>
                        </a:rPr>
                        <a:t>#</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l">
                        <a:buNone/>
                      </a:pPr>
                      <a:r>
                        <a:rPr lang="en-US" sz="1400" b="1" dirty="0">
                          <a:solidFill>
                            <a:srgbClr val="0D0D0D"/>
                          </a:solidFill>
                        </a:rPr>
                        <a:t>Criterion</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ctr">
                        <a:buNone/>
                      </a:pPr>
                      <a:r>
                        <a:rPr lang="en-US" sz="1400" b="1" dirty="0">
                          <a:solidFill>
                            <a:srgbClr val="0D0D0D"/>
                          </a:solidFill>
                        </a:rPr>
                        <a:t>Home (v1)</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ctr">
                        <a:buNone/>
                      </a:pPr>
                      <a:r>
                        <a:rPr lang="en-US" sz="1400" b="1" dirty="0">
                          <a:solidFill>
                            <a:srgbClr val="0D0D0D"/>
                          </a:solidFill>
                        </a:rPr>
                        <a:t>Profile (v1)</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ctr">
                        <a:buNone/>
                      </a:pPr>
                      <a:r>
                        <a:rPr lang="en-US" sz="1400" b="1" dirty="0">
                          <a:solidFill>
                            <a:srgbClr val="0D0D0D"/>
                          </a:solidFill>
                        </a:rPr>
                        <a:t>Search (v2)</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ctr">
                        <a:buNone/>
                      </a:pPr>
                      <a:r>
                        <a:rPr lang="en-US" sz="1400" b="1" dirty="0">
                          <a:solidFill>
                            <a:srgbClr val="0D0D0D"/>
                          </a:solidFill>
                        </a:rPr>
                        <a:t>Book Detail (v2)</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tc>
                  <a:txBody>
                    <a:bodyPr/>
                    <a:lstStyle/>
                    <a:p>
                      <a:pPr marL="0" indent="0" algn="l">
                        <a:buNone/>
                      </a:pPr>
                      <a:r>
                        <a:rPr lang="en-US" sz="1400" b="1" dirty="0">
                          <a:solidFill>
                            <a:srgbClr val="0D0D0D"/>
                          </a:solidFill>
                        </a:rPr>
                        <a:t>Action</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E8DCCC"/>
                    </a:solidFill>
                  </a:tcPr>
                </a:tc>
                <a:extLst>
                  <a:ext uri="{0D108BD9-81ED-4DB2-BD59-A6C34878D82A}">
                    <a16:rowId xmlns:a16="http://schemas.microsoft.com/office/drawing/2014/main" val="10000"/>
                  </a:ext>
                </a:extLst>
              </a:tr>
              <a:tr h="411480">
                <a:tc>
                  <a:txBody>
                    <a:bodyPr/>
                    <a:lstStyle/>
                    <a:p>
                      <a:pPr marL="0" indent="0" algn="ctr">
                        <a:buNone/>
                      </a:pPr>
                      <a:r>
                        <a:rPr lang="en-US" sz="1400" dirty="0">
                          <a:solidFill>
                            <a:srgbClr val="A89E90"/>
                          </a:solidFill>
                        </a:rPr>
                        <a:t>1</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Text contrast ≥ 4.5:1 (body)</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CC44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CC44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A89E90"/>
                          </a:solidFill>
                        </a:rPr>
                        <a:t>Audit with tool</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1"/>
                  </a:ext>
                </a:extLst>
              </a:tr>
              <a:tr h="411480">
                <a:tc>
                  <a:txBody>
                    <a:bodyPr/>
                    <a:lstStyle/>
                    <a:p>
                      <a:pPr marL="0" indent="0" algn="ctr">
                        <a:buNone/>
                      </a:pPr>
                      <a:r>
                        <a:rPr lang="en-US" sz="1400" dirty="0">
                          <a:solidFill>
                            <a:srgbClr val="A89E90"/>
                          </a:solidFill>
                        </a:rPr>
                        <a:t>2</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F5F0E8"/>
                          </a:solidFill>
                        </a:rPr>
                        <a:t>Text contrast ≥ 3:1 (large text)</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A89E90"/>
                          </a:solidFill>
                        </a:rPr>
                        <a:t>Verify</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extLst>
                  <a:ext uri="{0D108BD9-81ED-4DB2-BD59-A6C34878D82A}">
                    <a16:rowId xmlns:a16="http://schemas.microsoft.com/office/drawing/2014/main" val="10002"/>
                  </a:ext>
                </a:extLst>
              </a:tr>
              <a:tr h="411480">
                <a:tc>
                  <a:txBody>
                    <a:bodyPr/>
                    <a:lstStyle/>
                    <a:p>
                      <a:pPr marL="0" indent="0" algn="ctr">
                        <a:buNone/>
                      </a:pPr>
                      <a:r>
                        <a:rPr lang="en-US" sz="1400" dirty="0">
                          <a:solidFill>
                            <a:srgbClr val="A89E90"/>
                          </a:solidFill>
                        </a:rPr>
                        <a:t>3</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Touch targets ≥ 48×48dp</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CC44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CCAA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A89E90"/>
                          </a:solidFill>
                        </a:rPr>
                        <a:t>Enlarge v1 nav</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3"/>
                  </a:ext>
                </a:extLst>
              </a:tr>
              <a:tr h="411480">
                <a:tc>
                  <a:txBody>
                    <a:bodyPr/>
                    <a:lstStyle/>
                    <a:p>
                      <a:pPr marL="0" indent="0" algn="ctr">
                        <a:buNone/>
                      </a:pPr>
                      <a:r>
                        <a:rPr lang="en-US" sz="1400" dirty="0">
                          <a:solidFill>
                            <a:srgbClr val="A89E90"/>
                          </a:solidFill>
                        </a:rPr>
                        <a:t>4</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F5F0E8"/>
                          </a:solidFill>
                        </a:rPr>
                        <a:t>No colour-only meaning</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CCAA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CC44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A89E90"/>
                          </a:solidFill>
                        </a:rPr>
                        <a:t>Fix v1 streak</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extLst>
                  <a:ext uri="{0D108BD9-81ED-4DB2-BD59-A6C34878D82A}">
                    <a16:rowId xmlns:a16="http://schemas.microsoft.com/office/drawing/2014/main" val="10004"/>
                  </a:ext>
                </a:extLst>
              </a:tr>
              <a:tr h="411480">
                <a:tc>
                  <a:txBody>
                    <a:bodyPr/>
                    <a:lstStyle/>
                    <a:p>
                      <a:pPr marL="0" indent="0" algn="ctr">
                        <a:buNone/>
                      </a:pPr>
                      <a:r>
                        <a:rPr lang="en-US" sz="1400" dirty="0">
                          <a:solidFill>
                            <a:srgbClr val="A89E90"/>
                          </a:solidFill>
                        </a:rPr>
                        <a:t>5</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Labels on all inputs/buttons</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CC44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A89E90"/>
                          </a:solidFill>
                        </a:rPr>
                        <a:t>Add labels v1</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5"/>
                  </a:ext>
                </a:extLst>
              </a:tr>
              <a:tr h="411480">
                <a:tc>
                  <a:txBody>
                    <a:bodyPr/>
                    <a:lstStyle/>
                    <a:p>
                      <a:pPr marL="0" indent="0" algn="ctr">
                        <a:buNone/>
                      </a:pPr>
                      <a:r>
                        <a:rPr lang="en-US" sz="1400" dirty="0">
                          <a:solidFill>
                            <a:srgbClr val="A89E90"/>
                          </a:solidFill>
                        </a:rPr>
                        <a:t>6</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F5F0E8"/>
                          </a:solidFill>
                        </a:rPr>
                        <a:t>Focus/traversal order logical</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CCAA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CCAA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A89E90"/>
                          </a:solidFill>
                        </a:rPr>
                        <a:t>Test with TalkBack</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extLst>
                  <a:ext uri="{0D108BD9-81ED-4DB2-BD59-A6C34878D82A}">
                    <a16:rowId xmlns:a16="http://schemas.microsoft.com/office/drawing/2014/main" val="10006"/>
                  </a:ext>
                </a:extLst>
              </a:tr>
              <a:tr h="411480">
                <a:tc>
                  <a:txBody>
                    <a:bodyPr/>
                    <a:lstStyle/>
                    <a:p>
                      <a:pPr marL="0" indent="0" algn="ctr">
                        <a:buNone/>
                      </a:pPr>
                      <a:r>
                        <a:rPr lang="en-US" sz="1400" dirty="0">
                          <a:solidFill>
                            <a:srgbClr val="A89E90"/>
                          </a:solidFill>
                        </a:rPr>
                        <a:t>7</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Text resizing (dynamic type)</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CCAA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CCAA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A89E90"/>
                          </a:solidFill>
                        </a:rPr>
                        <a:t>Test</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7"/>
                  </a:ext>
                </a:extLst>
              </a:tr>
              <a:tr h="411480">
                <a:tc>
                  <a:txBody>
                    <a:bodyPr/>
                    <a:lstStyle/>
                    <a:p>
                      <a:pPr marL="0" indent="0" algn="ctr">
                        <a:buNone/>
                      </a:pPr>
                      <a:r>
                        <a:rPr lang="en-US" sz="1400" dirty="0">
                          <a:solidFill>
                            <a:srgbClr val="A89E90"/>
                          </a:solidFill>
                        </a:rPr>
                        <a:t>8</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F5F0E8"/>
                          </a:solidFill>
                        </a:rPr>
                        <a:t>Screen reader labels</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CC44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CCAA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A89E90"/>
                          </a:solidFill>
                        </a:rPr>
                        <a:t>Add to v1</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extLst>
                  <a:ext uri="{0D108BD9-81ED-4DB2-BD59-A6C34878D82A}">
                    <a16:rowId xmlns:a16="http://schemas.microsoft.com/office/drawing/2014/main" val="10008"/>
                  </a:ext>
                </a:extLst>
              </a:tr>
              <a:tr h="411480">
                <a:tc>
                  <a:txBody>
                    <a:bodyPr/>
                    <a:lstStyle/>
                    <a:p>
                      <a:pPr marL="0" indent="0" algn="ctr">
                        <a:buNone/>
                      </a:pPr>
                      <a:r>
                        <a:rPr lang="en-US" sz="1400" dirty="0">
                          <a:solidFill>
                            <a:srgbClr val="A89E90"/>
                          </a:solidFill>
                        </a:rPr>
                        <a:t>9</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F5F0E8"/>
                          </a:solidFill>
                        </a:rPr>
                        <a:t>Error messages clear &amp; actionable</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dirty="0">
                          <a:solidFill>
                            <a:srgbClr val="A89E90"/>
                          </a:solidFill>
                        </a:rPr>
                        <a:t>N/A</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dirty="0">
                          <a:solidFill>
                            <a:srgbClr val="A89E90"/>
                          </a:solidFill>
                        </a:rPr>
                        <a:t>N/A</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tc>
                  <a:txBody>
                    <a:bodyPr/>
                    <a:lstStyle/>
                    <a:p>
                      <a:pPr marL="0" indent="0" algn="l">
                        <a:buNone/>
                      </a:pPr>
                      <a:r>
                        <a:rPr lang="en-US" sz="1400" dirty="0">
                          <a:solidFill>
                            <a:srgbClr val="A89E90"/>
                          </a:solidFill>
                        </a:rPr>
                        <a:t>—</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1A1A1A"/>
                    </a:solidFill>
                  </a:tcPr>
                </a:tc>
                <a:extLst>
                  <a:ext uri="{0D108BD9-81ED-4DB2-BD59-A6C34878D82A}">
                    <a16:rowId xmlns:a16="http://schemas.microsoft.com/office/drawing/2014/main" val="10009"/>
                  </a:ext>
                </a:extLst>
              </a:tr>
              <a:tr h="411480">
                <a:tc>
                  <a:txBody>
                    <a:bodyPr/>
                    <a:lstStyle/>
                    <a:p>
                      <a:pPr marL="0" indent="0" algn="ctr">
                        <a:buNone/>
                      </a:pPr>
                      <a:r>
                        <a:rPr lang="en-US" sz="1400" dirty="0">
                          <a:solidFill>
                            <a:srgbClr val="A89E90"/>
                          </a:solidFill>
                        </a:rPr>
                        <a:t>10</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F5F0E8"/>
                          </a:solidFill>
                        </a:rPr>
                        <a:t>Dark mode support</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ctr">
                        <a:buNone/>
                      </a:pPr>
                      <a:r>
                        <a:rPr lang="en-US" sz="1600" b="1" dirty="0">
                          <a:solidFill>
                            <a:srgbClr val="44CC44"/>
                          </a:solidFill>
                        </a:rPr>
                        <a:t>✓</a:t>
                      </a:r>
                      <a:endParaRPr lang="en-US" sz="16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tc>
                  <a:txBody>
                    <a:bodyPr/>
                    <a:lstStyle/>
                    <a:p>
                      <a:pPr marL="0" indent="0" algn="l">
                        <a:buNone/>
                      </a:pPr>
                      <a:r>
                        <a:rPr lang="en-US" sz="1400" dirty="0">
                          <a:solidFill>
                            <a:srgbClr val="A89E90"/>
                          </a:solidFill>
                        </a:rPr>
                        <a:t>Verify light mode</a:t>
                      </a:r>
                      <a:endParaRPr lang="en-US" sz="1400" dirty="0"/>
                    </a:p>
                  </a:txBody>
                  <a:tcPr marT="27432" marB="27432" anchor="ctr">
                    <a:lnL w="9525" cap="flat" cmpd="sng" algn="ctr">
                      <a:solidFill>
                        <a:srgbClr val="2A2A2A"/>
                      </a:solidFill>
                      <a:prstDash val="solid"/>
                      <a:round/>
                      <a:headEnd type="none" w="med" len="med"/>
                      <a:tailEnd type="none" w="med" len="med"/>
                    </a:lnL>
                    <a:lnR w="9525" cap="flat" cmpd="sng" algn="ctr">
                      <a:solidFill>
                        <a:srgbClr val="2A2A2A"/>
                      </a:solidFill>
                      <a:prstDash val="solid"/>
                      <a:round/>
                      <a:headEnd type="none" w="med" len="med"/>
                      <a:tailEnd type="none" w="med" len="med"/>
                    </a:lnR>
                    <a:lnT w="9525" cap="flat" cmpd="sng" algn="ctr">
                      <a:solidFill>
                        <a:srgbClr val="2A2A2A"/>
                      </a:solidFill>
                      <a:prstDash val="solid"/>
                      <a:round/>
                      <a:headEnd type="none" w="med" len="med"/>
                      <a:tailEnd type="none" w="med" len="med"/>
                    </a:lnT>
                    <a:lnB w="9525" cap="flat" cmpd="sng" algn="ctr">
                      <a:solidFill>
                        <a:srgbClr val="2A2A2A"/>
                      </a:solidFill>
                      <a:prstDash val="solid"/>
                      <a:round/>
                      <a:headEnd type="none" w="med" len="med"/>
                      <a:tailEnd type="none" w="med" len="med"/>
                    </a:lnB>
                    <a:solidFill>
                      <a:srgbClr val="242424"/>
                    </a:solidFill>
                  </a:tcPr>
                </a:tc>
                <a:extLst>
                  <a:ext uri="{0D108BD9-81ED-4DB2-BD59-A6C34878D82A}">
                    <a16:rowId xmlns:a16="http://schemas.microsoft.com/office/drawing/2014/main" val="10010"/>
                  </a:ext>
                </a:extLst>
              </a:tr>
            </a:tbl>
          </a:graphicData>
        </a:graphic>
      </p:graphicFrame>
      <p:sp>
        <p:nvSpPr>
          <p:cNvPr id="6" name="Text 2"/>
          <p:cNvSpPr txBox="1"/>
          <p:nvPr/>
        </p:nvSpPr>
        <p:spPr>
          <a:xfrm>
            <a:off x="640080" y="6108192"/>
            <a:ext cx="10908792" cy="274320"/>
          </a:xfrm>
          <a:prstGeom prst="rect">
            <a:avLst/>
          </a:prstGeom>
          <a:noFill/>
          <a:ln/>
        </p:spPr>
        <p:txBody>
          <a:bodyPr wrap="square" lIns="0" tIns="0" rIns="0" bIns="0" rtlCol="0" anchor="t"/>
          <a:lstStyle/>
          <a:p>
            <a:pPr marL="0" indent="0">
              <a:buNone/>
            </a:pPr>
            <a:r>
              <a:rPr lang="en-US" sz="1400" b="1" dirty="0">
                <a:solidFill>
                  <a:schemeClr val="accent2"/>
                </a:solidFill>
              </a:rPr>
              <a:t>Legend:  </a:t>
            </a:r>
            <a:r>
              <a:rPr lang="en-US" sz="1400" b="1" dirty="0">
                <a:solidFill>
                  <a:srgbClr val="44CC44"/>
                </a:solidFill>
              </a:rPr>
              <a:t>✓</a:t>
            </a:r>
            <a:r>
              <a:rPr lang="en-US" sz="1400" dirty="0">
                <a:solidFill>
                  <a:schemeClr val="accent2"/>
                </a:solidFill>
              </a:rPr>
              <a:t> Pass   </a:t>
            </a:r>
            <a:r>
              <a:rPr lang="en-US" sz="1400" b="1" dirty="0">
                <a:solidFill>
                  <a:srgbClr val="CCAA44"/>
                </a:solidFill>
              </a:rPr>
              <a:t>⚠</a:t>
            </a:r>
            <a:r>
              <a:rPr lang="en-US" sz="1400" dirty="0">
                <a:solidFill>
                  <a:schemeClr val="accent2"/>
                </a:solidFill>
              </a:rPr>
              <a:t> Partial / unknown   </a:t>
            </a:r>
            <a:r>
              <a:rPr lang="en-US" sz="1400" b="1" dirty="0">
                <a:solidFill>
                  <a:srgbClr val="CC4444"/>
                </a:solidFill>
              </a:rPr>
              <a:t>✕</a:t>
            </a:r>
            <a:r>
              <a:rPr lang="en-US" sz="1400" dirty="0">
                <a:solidFill>
                  <a:schemeClr val="accent2"/>
                </a:solidFill>
              </a:rPr>
              <a:t> Fail   </a:t>
            </a:r>
            <a:r>
              <a:rPr lang="en-US" sz="1400" dirty="0">
                <a:solidFill>
                  <a:srgbClr val="A89E90"/>
                </a:solidFill>
              </a:rPr>
              <a:t>N/A</a:t>
            </a:r>
            <a:r>
              <a:rPr lang="en-US" sz="1400" dirty="0">
                <a:solidFill>
                  <a:schemeClr val="accent2"/>
                </a:solidFill>
              </a:rPr>
              <a:t> Not applicable</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640080" y="347472"/>
            <a:ext cx="10908792" cy="256032"/>
          </a:xfrm>
          <a:prstGeom prst="rect">
            <a:avLst/>
          </a:prstGeom>
          <a:noFill/>
          <a:ln/>
        </p:spPr>
        <p:txBody>
          <a:bodyPr wrap="square" lIns="0" tIns="0" rIns="0" bIns="0" rtlCol="0" anchor="t"/>
          <a:lstStyle/>
          <a:p>
            <a:pPr marL="0" indent="0" algn="l">
              <a:buNone/>
            </a:pPr>
            <a:r>
              <a:rPr lang="en-US" sz="1200" b="1" kern="0" spc="150" dirty="0">
                <a:solidFill>
                  <a:schemeClr val="accent1"/>
                </a:solidFill>
              </a:rPr>
              <a:t>07 · ACCESSIBILITY</a:t>
            </a:r>
            <a:endParaRPr lang="en-US" sz="1200" dirty="0"/>
          </a:p>
        </p:txBody>
      </p:sp>
      <p:sp>
        <p:nvSpPr>
          <p:cNvPr id="3" name="Text 1"/>
          <p:cNvSpPr>
            <a:spLocks noGrp="1"/>
          </p:cNvSpPr>
          <p:nvPr>
            <p:ph type="title" idx="102" hasCustomPrompt="1"/>
          </p:nvPr>
        </p:nvSpPr>
        <p:spPr>
          <a:xfrm>
            <a:off x="640080" y="603504"/>
            <a:ext cx="10908792" cy="685800"/>
          </a:xfrm>
          <a:prstGeom prst="rect">
            <a:avLst/>
          </a:prstGeom>
          <a:noFill/>
          <a:ln/>
        </p:spPr>
        <p:txBody>
          <a:bodyPr wrap="square" lIns="0" tIns="0" rIns="0" bIns="0" rtlCol="0" anchor="ctr"/>
          <a:lstStyle/>
          <a:p>
            <a:pPr marL="0" indent="0" algn="l">
              <a:buNone/>
            </a:pPr>
            <a:r>
              <a:rPr lang="en-US" sz="3200" b="1" dirty="0">
                <a:solidFill>
                  <a:schemeClr val="tx1"/>
                </a:solidFill>
              </a:rPr>
              <a:t>Summary &amp; Next Steps</a:t>
            </a:r>
            <a:endParaRPr lang="en-US" sz="3200" dirty="0"/>
          </a:p>
        </p:txBody>
      </p:sp>
      <p:sp>
        <p:nvSpPr>
          <p:cNvPr id="5" name="Text 2"/>
          <p:cNvSpPr txBox="1"/>
          <p:nvPr/>
        </p:nvSpPr>
        <p:spPr>
          <a:xfrm>
            <a:off x="640080" y="1554480"/>
            <a:ext cx="5486400" cy="228600"/>
          </a:xfrm>
          <a:prstGeom prst="rect">
            <a:avLst/>
          </a:prstGeom>
          <a:noFill/>
          <a:ln/>
        </p:spPr>
        <p:txBody>
          <a:bodyPr wrap="square" lIns="0" tIns="0" rIns="0" bIns="0" rtlCol="0" anchor="t"/>
          <a:lstStyle/>
          <a:p>
            <a:pPr marL="0" indent="0">
              <a:buNone/>
            </a:pPr>
            <a:r>
              <a:rPr lang="en-US" sz="1200" b="1" kern="0" spc="150" dirty="0">
                <a:solidFill>
                  <a:schemeClr val="accent2"/>
                </a:solidFill>
              </a:rPr>
              <a:t>WHAT WE COVERED</a:t>
            </a:r>
            <a:endParaRPr lang="en-US" sz="1200" dirty="0"/>
          </a:p>
        </p:txBody>
      </p:sp>
      <p:sp>
        <p:nvSpPr>
          <p:cNvPr id="6" name="Takeaway 1"/>
          <p:cNvSpPr/>
          <p:nvPr/>
        </p:nvSpPr>
        <p:spPr>
          <a:xfrm>
            <a:off x="640080" y="1920240"/>
            <a:ext cx="5852160" cy="713232"/>
          </a:xfrm>
          <a:prstGeom prst="roundRect">
            <a:avLst>
              <a:gd name="adj" fmla="val 15385"/>
            </a:avLst>
          </a:prstGeom>
          <a:solidFill>
            <a:schemeClr val="bg2"/>
          </a:solidFill>
          <a:ln w="9525">
            <a:solidFill>
              <a:schemeClr val="tx2"/>
            </a:solidFill>
            <a:prstDash val="solid"/>
          </a:ln>
        </p:spPr>
        <p:txBody>
          <a:bodyPr/>
          <a:lstStyle/>
          <a:p>
            <a:endParaRPr lang="en-GB"/>
          </a:p>
        </p:txBody>
      </p:sp>
      <p:sp>
        <p:nvSpPr>
          <p:cNvPr id="7" name="Check circle"/>
          <p:cNvSpPr/>
          <p:nvPr/>
        </p:nvSpPr>
        <p:spPr>
          <a:xfrm>
            <a:off x="822960" y="2075688"/>
            <a:ext cx="402336" cy="402336"/>
          </a:xfrm>
          <a:prstGeom prst="ellipse">
            <a:avLst/>
          </a:prstGeom>
          <a:solidFill>
            <a:schemeClr val="accent1"/>
          </a:solidFill>
          <a:ln/>
        </p:spPr>
        <p:txBody>
          <a:bodyPr/>
          <a:lstStyle/>
          <a:p>
            <a:endParaRPr lang="en-GB"/>
          </a:p>
        </p:txBody>
      </p:sp>
      <p:pic>
        <p:nvPicPr>
          <p:cNvPr id="8" name="Image 0" descr="preencoded.png"/>
          <p:cNvPicPr>
            <a:picLocks noChangeAspect="1"/>
          </p:cNvPicPr>
          <p:nvPr/>
        </p:nvPicPr>
        <p:blipFill>
          <a:blip r:embed="rId3"/>
          <a:stretch>
            <a:fillRect/>
          </a:stretch>
        </p:blipFill>
        <p:spPr>
          <a:xfrm>
            <a:off x="923544" y="2176272"/>
            <a:ext cx="201168" cy="201168"/>
          </a:xfrm>
          <a:prstGeom prst="rect">
            <a:avLst/>
          </a:prstGeom>
        </p:spPr>
      </p:pic>
      <p:sp>
        <p:nvSpPr>
          <p:cNvPr id="9" name="Text 5"/>
          <p:cNvSpPr txBox="1"/>
          <p:nvPr/>
        </p:nvSpPr>
        <p:spPr>
          <a:xfrm>
            <a:off x="1417320" y="1920240"/>
            <a:ext cx="4937760" cy="713232"/>
          </a:xfrm>
          <a:prstGeom prst="rect">
            <a:avLst/>
          </a:prstGeom>
          <a:noFill/>
          <a:ln/>
        </p:spPr>
        <p:txBody>
          <a:bodyPr wrap="square" lIns="0" tIns="0" rIns="0" bIns="0" rtlCol="0" anchor="ctr"/>
          <a:lstStyle/>
          <a:p>
            <a:pPr marL="0" indent="0">
              <a:buNone/>
            </a:pPr>
            <a:r>
              <a:rPr lang="en-US" sz="1600" dirty="0">
                <a:solidFill>
                  <a:schemeClr val="tx1"/>
                </a:solidFill>
              </a:rPr>
              <a:t>UCD finds problems when they’re cheap to fix</a:t>
            </a:r>
            <a:endParaRPr lang="en-US" sz="1600" dirty="0"/>
          </a:p>
        </p:txBody>
      </p:sp>
      <p:sp>
        <p:nvSpPr>
          <p:cNvPr id="10" name="Takeaway 2"/>
          <p:cNvSpPr/>
          <p:nvPr/>
        </p:nvSpPr>
        <p:spPr>
          <a:xfrm>
            <a:off x="640080" y="2743200"/>
            <a:ext cx="5852160" cy="713232"/>
          </a:xfrm>
          <a:prstGeom prst="roundRect">
            <a:avLst>
              <a:gd name="adj" fmla="val 15385"/>
            </a:avLst>
          </a:prstGeom>
          <a:solidFill>
            <a:schemeClr val="bg2"/>
          </a:solidFill>
          <a:ln w="9525">
            <a:solidFill>
              <a:schemeClr val="tx2"/>
            </a:solidFill>
            <a:prstDash val="solid"/>
          </a:ln>
        </p:spPr>
        <p:txBody>
          <a:bodyPr/>
          <a:lstStyle/>
          <a:p>
            <a:endParaRPr lang="en-GB"/>
          </a:p>
        </p:txBody>
      </p:sp>
      <p:sp>
        <p:nvSpPr>
          <p:cNvPr id="11" name="Check circle"/>
          <p:cNvSpPr/>
          <p:nvPr/>
        </p:nvSpPr>
        <p:spPr>
          <a:xfrm>
            <a:off x="822960" y="2898648"/>
            <a:ext cx="402336" cy="402336"/>
          </a:xfrm>
          <a:prstGeom prst="ellipse">
            <a:avLst/>
          </a:prstGeom>
          <a:solidFill>
            <a:schemeClr val="accent1"/>
          </a:solidFill>
          <a:ln/>
        </p:spPr>
        <p:txBody>
          <a:bodyPr/>
          <a:lstStyle/>
          <a:p>
            <a:endParaRPr lang="en-GB"/>
          </a:p>
        </p:txBody>
      </p:sp>
      <p:pic>
        <p:nvPicPr>
          <p:cNvPr id="12" name="Image 1" descr="preencoded.png"/>
          <p:cNvPicPr>
            <a:picLocks noChangeAspect="1"/>
          </p:cNvPicPr>
          <p:nvPr/>
        </p:nvPicPr>
        <p:blipFill>
          <a:blip r:embed="rId3"/>
          <a:stretch>
            <a:fillRect/>
          </a:stretch>
        </p:blipFill>
        <p:spPr>
          <a:xfrm>
            <a:off x="923544" y="2999232"/>
            <a:ext cx="201168" cy="201168"/>
          </a:xfrm>
          <a:prstGeom prst="rect">
            <a:avLst/>
          </a:prstGeom>
        </p:spPr>
      </p:pic>
      <p:sp>
        <p:nvSpPr>
          <p:cNvPr id="13" name="Text 8"/>
          <p:cNvSpPr txBox="1"/>
          <p:nvPr/>
        </p:nvSpPr>
        <p:spPr>
          <a:xfrm>
            <a:off x="1417320" y="2743200"/>
            <a:ext cx="4937760" cy="713232"/>
          </a:xfrm>
          <a:prstGeom prst="rect">
            <a:avLst/>
          </a:prstGeom>
          <a:noFill/>
          <a:ln/>
        </p:spPr>
        <p:txBody>
          <a:bodyPr wrap="square" lIns="0" tIns="0" rIns="0" bIns="0" rtlCol="0" anchor="ctr"/>
          <a:lstStyle/>
          <a:p>
            <a:pPr marL="0" indent="0">
              <a:buNone/>
            </a:pPr>
            <a:r>
              <a:rPr lang="en-US" sz="1600" dirty="0">
                <a:solidFill>
                  <a:schemeClr val="tx1"/>
                </a:solidFill>
              </a:rPr>
              <a:t>Users, stakeholders, research → who we design for</a:t>
            </a:r>
            <a:endParaRPr lang="en-US" sz="1600" dirty="0"/>
          </a:p>
        </p:txBody>
      </p:sp>
      <p:sp>
        <p:nvSpPr>
          <p:cNvPr id="14" name="Takeaway 3"/>
          <p:cNvSpPr/>
          <p:nvPr/>
        </p:nvSpPr>
        <p:spPr>
          <a:xfrm>
            <a:off x="640080" y="3566160"/>
            <a:ext cx="5852160" cy="713232"/>
          </a:xfrm>
          <a:prstGeom prst="roundRect">
            <a:avLst>
              <a:gd name="adj" fmla="val 15385"/>
            </a:avLst>
          </a:prstGeom>
          <a:solidFill>
            <a:schemeClr val="bg2"/>
          </a:solidFill>
          <a:ln w="9525">
            <a:solidFill>
              <a:schemeClr val="tx2"/>
            </a:solidFill>
            <a:prstDash val="solid"/>
          </a:ln>
        </p:spPr>
        <p:txBody>
          <a:bodyPr/>
          <a:lstStyle/>
          <a:p>
            <a:endParaRPr lang="en-GB"/>
          </a:p>
        </p:txBody>
      </p:sp>
      <p:sp>
        <p:nvSpPr>
          <p:cNvPr id="15" name="Check circle"/>
          <p:cNvSpPr/>
          <p:nvPr/>
        </p:nvSpPr>
        <p:spPr>
          <a:xfrm>
            <a:off x="822960" y="3721608"/>
            <a:ext cx="402336" cy="402336"/>
          </a:xfrm>
          <a:prstGeom prst="ellipse">
            <a:avLst/>
          </a:prstGeom>
          <a:solidFill>
            <a:schemeClr val="accent1"/>
          </a:solidFill>
          <a:ln/>
        </p:spPr>
        <p:txBody>
          <a:bodyPr/>
          <a:lstStyle/>
          <a:p>
            <a:endParaRPr lang="en-GB"/>
          </a:p>
        </p:txBody>
      </p:sp>
      <p:pic>
        <p:nvPicPr>
          <p:cNvPr id="16" name="Image 2" descr="preencoded.png"/>
          <p:cNvPicPr>
            <a:picLocks noChangeAspect="1"/>
          </p:cNvPicPr>
          <p:nvPr/>
        </p:nvPicPr>
        <p:blipFill>
          <a:blip r:embed="rId3"/>
          <a:stretch>
            <a:fillRect/>
          </a:stretch>
        </p:blipFill>
        <p:spPr>
          <a:xfrm>
            <a:off x="923544" y="3822192"/>
            <a:ext cx="201168" cy="201168"/>
          </a:xfrm>
          <a:prstGeom prst="rect">
            <a:avLst/>
          </a:prstGeom>
        </p:spPr>
      </p:pic>
      <p:sp>
        <p:nvSpPr>
          <p:cNvPr id="17" name="Text 11"/>
          <p:cNvSpPr txBox="1"/>
          <p:nvPr/>
        </p:nvSpPr>
        <p:spPr>
          <a:xfrm>
            <a:off x="1417320" y="3566160"/>
            <a:ext cx="4937760" cy="713232"/>
          </a:xfrm>
          <a:prstGeom prst="rect">
            <a:avLst/>
          </a:prstGeom>
          <a:noFill/>
          <a:ln/>
        </p:spPr>
        <p:txBody>
          <a:bodyPr wrap="square" lIns="0" tIns="0" rIns="0" bIns="0" rtlCol="0" anchor="ctr"/>
          <a:lstStyle/>
          <a:p>
            <a:pPr marL="0" indent="0">
              <a:buNone/>
            </a:pPr>
            <a:r>
              <a:rPr lang="en-US" sz="1600" dirty="0">
                <a:solidFill>
                  <a:schemeClr val="tx1"/>
                </a:solidFill>
              </a:rPr>
              <a:t>Persona &amp; stories → testable requirements</a:t>
            </a:r>
            <a:endParaRPr lang="en-US" sz="1600" dirty="0"/>
          </a:p>
        </p:txBody>
      </p:sp>
      <p:sp>
        <p:nvSpPr>
          <p:cNvPr id="18" name="Takeaway 4"/>
          <p:cNvSpPr/>
          <p:nvPr/>
        </p:nvSpPr>
        <p:spPr>
          <a:xfrm>
            <a:off x="640080" y="4389120"/>
            <a:ext cx="5852160" cy="713232"/>
          </a:xfrm>
          <a:prstGeom prst="roundRect">
            <a:avLst>
              <a:gd name="adj" fmla="val 15385"/>
            </a:avLst>
          </a:prstGeom>
          <a:solidFill>
            <a:schemeClr val="bg2"/>
          </a:solidFill>
          <a:ln w="9525">
            <a:solidFill>
              <a:schemeClr val="tx2"/>
            </a:solidFill>
            <a:prstDash val="solid"/>
          </a:ln>
        </p:spPr>
        <p:txBody>
          <a:bodyPr/>
          <a:lstStyle/>
          <a:p>
            <a:endParaRPr lang="en-GB"/>
          </a:p>
        </p:txBody>
      </p:sp>
      <p:sp>
        <p:nvSpPr>
          <p:cNvPr id="19" name="Check circle"/>
          <p:cNvSpPr/>
          <p:nvPr/>
        </p:nvSpPr>
        <p:spPr>
          <a:xfrm>
            <a:off x="822960" y="4544568"/>
            <a:ext cx="402336" cy="402336"/>
          </a:xfrm>
          <a:prstGeom prst="ellipse">
            <a:avLst/>
          </a:prstGeom>
          <a:solidFill>
            <a:schemeClr val="accent1"/>
          </a:solidFill>
          <a:ln/>
        </p:spPr>
        <p:txBody>
          <a:bodyPr/>
          <a:lstStyle/>
          <a:p>
            <a:endParaRPr lang="en-GB"/>
          </a:p>
        </p:txBody>
      </p:sp>
      <p:pic>
        <p:nvPicPr>
          <p:cNvPr id="20" name="Image 3" descr="preencoded.png"/>
          <p:cNvPicPr>
            <a:picLocks noChangeAspect="1"/>
          </p:cNvPicPr>
          <p:nvPr/>
        </p:nvPicPr>
        <p:blipFill>
          <a:blip r:embed="rId3"/>
          <a:stretch>
            <a:fillRect/>
          </a:stretch>
        </p:blipFill>
        <p:spPr>
          <a:xfrm>
            <a:off x="923544" y="4645152"/>
            <a:ext cx="201168" cy="201168"/>
          </a:xfrm>
          <a:prstGeom prst="rect">
            <a:avLst/>
          </a:prstGeom>
        </p:spPr>
      </p:pic>
      <p:sp>
        <p:nvSpPr>
          <p:cNvPr id="21" name="Text 14"/>
          <p:cNvSpPr txBox="1"/>
          <p:nvPr/>
        </p:nvSpPr>
        <p:spPr>
          <a:xfrm>
            <a:off x="1417320" y="4389120"/>
            <a:ext cx="4937760" cy="713232"/>
          </a:xfrm>
          <a:prstGeom prst="rect">
            <a:avLst/>
          </a:prstGeom>
          <a:noFill/>
          <a:ln/>
        </p:spPr>
        <p:txBody>
          <a:bodyPr wrap="square" lIns="0" tIns="0" rIns="0" bIns="0" rtlCol="0" anchor="ctr"/>
          <a:lstStyle/>
          <a:p>
            <a:pPr marL="0" indent="0">
              <a:buNone/>
            </a:pPr>
            <a:r>
              <a:rPr lang="en-US" sz="1600" dirty="0">
                <a:solidFill>
                  <a:schemeClr val="tx1"/>
                </a:solidFill>
              </a:rPr>
              <a:t>Problem statement, flow, wireframes → concrete idea</a:t>
            </a:r>
            <a:endParaRPr lang="en-US" sz="1600" dirty="0"/>
          </a:p>
        </p:txBody>
      </p:sp>
      <p:sp>
        <p:nvSpPr>
          <p:cNvPr id="22" name="Takeaway 5"/>
          <p:cNvSpPr/>
          <p:nvPr/>
        </p:nvSpPr>
        <p:spPr>
          <a:xfrm>
            <a:off x="640080" y="5212080"/>
            <a:ext cx="5852160" cy="713232"/>
          </a:xfrm>
          <a:prstGeom prst="roundRect">
            <a:avLst>
              <a:gd name="adj" fmla="val 15385"/>
            </a:avLst>
          </a:prstGeom>
          <a:solidFill>
            <a:schemeClr val="bg2"/>
          </a:solidFill>
          <a:ln w="9525">
            <a:solidFill>
              <a:schemeClr val="tx2"/>
            </a:solidFill>
            <a:prstDash val="solid"/>
          </a:ln>
        </p:spPr>
        <p:txBody>
          <a:bodyPr/>
          <a:lstStyle/>
          <a:p>
            <a:endParaRPr lang="en-GB"/>
          </a:p>
        </p:txBody>
      </p:sp>
      <p:sp>
        <p:nvSpPr>
          <p:cNvPr id="23" name="Check circle"/>
          <p:cNvSpPr/>
          <p:nvPr/>
        </p:nvSpPr>
        <p:spPr>
          <a:xfrm>
            <a:off x="822960" y="5367528"/>
            <a:ext cx="402336" cy="402336"/>
          </a:xfrm>
          <a:prstGeom prst="ellipse">
            <a:avLst/>
          </a:prstGeom>
          <a:solidFill>
            <a:schemeClr val="accent1"/>
          </a:solidFill>
          <a:ln/>
        </p:spPr>
        <p:txBody>
          <a:bodyPr/>
          <a:lstStyle/>
          <a:p>
            <a:endParaRPr lang="en-GB"/>
          </a:p>
        </p:txBody>
      </p:sp>
      <p:pic>
        <p:nvPicPr>
          <p:cNvPr id="24" name="Image 4" descr="preencoded.png"/>
          <p:cNvPicPr>
            <a:picLocks noChangeAspect="1"/>
          </p:cNvPicPr>
          <p:nvPr/>
        </p:nvPicPr>
        <p:blipFill>
          <a:blip r:embed="rId3"/>
          <a:stretch>
            <a:fillRect/>
          </a:stretch>
        </p:blipFill>
        <p:spPr>
          <a:xfrm>
            <a:off x="923544" y="5468112"/>
            <a:ext cx="201168" cy="201168"/>
          </a:xfrm>
          <a:prstGeom prst="rect">
            <a:avLst/>
          </a:prstGeom>
        </p:spPr>
      </p:pic>
      <p:sp>
        <p:nvSpPr>
          <p:cNvPr id="25" name="Text 17"/>
          <p:cNvSpPr txBox="1"/>
          <p:nvPr/>
        </p:nvSpPr>
        <p:spPr>
          <a:xfrm>
            <a:off x="1417320" y="5212080"/>
            <a:ext cx="4937760" cy="713232"/>
          </a:xfrm>
          <a:prstGeom prst="rect">
            <a:avLst/>
          </a:prstGeom>
          <a:noFill/>
          <a:ln/>
        </p:spPr>
        <p:txBody>
          <a:bodyPr wrap="square" lIns="0" tIns="0" rIns="0" bIns="0" rtlCol="0" anchor="ctr"/>
          <a:lstStyle/>
          <a:p>
            <a:pPr marL="0" indent="0">
              <a:buNone/>
            </a:pPr>
            <a:r>
              <a:rPr lang="en-US" sz="1600" dirty="0">
                <a:solidFill>
                  <a:schemeClr val="tx1"/>
                </a:solidFill>
              </a:rPr>
              <a:t>Heuristics &amp; accessibility checks → better design</a:t>
            </a:r>
            <a:endParaRPr lang="en-US" sz="1600" dirty="0"/>
          </a:p>
        </p:txBody>
      </p:sp>
      <p:sp>
        <p:nvSpPr>
          <p:cNvPr id="26" name="Text 18"/>
          <p:cNvSpPr txBox="1"/>
          <p:nvPr/>
        </p:nvSpPr>
        <p:spPr>
          <a:xfrm>
            <a:off x="6858000" y="1554480"/>
            <a:ext cx="4572000" cy="228600"/>
          </a:xfrm>
          <a:prstGeom prst="rect">
            <a:avLst/>
          </a:prstGeom>
          <a:noFill/>
          <a:ln/>
        </p:spPr>
        <p:txBody>
          <a:bodyPr wrap="square" lIns="0" tIns="0" rIns="0" bIns="0" rtlCol="0" anchor="t"/>
          <a:lstStyle/>
          <a:p>
            <a:pPr marL="0" indent="0">
              <a:buNone/>
            </a:pPr>
            <a:r>
              <a:rPr lang="en-US" sz="1200" b="1" kern="0" spc="150" dirty="0">
                <a:solidFill>
                  <a:schemeClr val="accent1"/>
                </a:solidFill>
              </a:rPr>
              <a:t>NEXT STEPS</a:t>
            </a:r>
            <a:endParaRPr lang="en-US" sz="1200" dirty="0"/>
          </a:p>
        </p:txBody>
      </p:sp>
      <p:sp>
        <p:nvSpPr>
          <p:cNvPr id="27" name="Next step 1"/>
          <p:cNvSpPr/>
          <p:nvPr/>
        </p:nvSpPr>
        <p:spPr>
          <a:xfrm>
            <a:off x="6858000" y="1920240"/>
            <a:ext cx="4690872" cy="896112"/>
          </a:xfrm>
          <a:prstGeom prst="roundRect">
            <a:avLst>
              <a:gd name="adj" fmla="val 12245"/>
            </a:avLst>
          </a:prstGeom>
          <a:solidFill>
            <a:schemeClr val="bg2"/>
          </a:solidFill>
          <a:ln w="15875">
            <a:solidFill>
              <a:schemeClr val="accent1"/>
            </a:solidFill>
            <a:prstDash val="solid"/>
          </a:ln>
        </p:spPr>
        <p:txBody>
          <a:bodyPr/>
          <a:lstStyle/>
          <a:p>
            <a:endParaRPr lang="en-GB"/>
          </a:p>
        </p:txBody>
      </p:sp>
      <p:sp>
        <p:nvSpPr>
          <p:cNvPr id="28" name="Text 20"/>
          <p:cNvSpPr txBox="1"/>
          <p:nvPr/>
        </p:nvSpPr>
        <p:spPr>
          <a:xfrm>
            <a:off x="7086600" y="1920240"/>
            <a:ext cx="548640" cy="896112"/>
          </a:xfrm>
          <a:prstGeom prst="rect">
            <a:avLst/>
          </a:prstGeom>
          <a:noFill/>
          <a:ln/>
        </p:spPr>
        <p:txBody>
          <a:bodyPr wrap="square" lIns="0" tIns="0" rIns="0" bIns="0" rtlCol="0" anchor="ctr"/>
          <a:lstStyle/>
          <a:p>
            <a:pPr marL="0" indent="0">
              <a:buNone/>
            </a:pPr>
            <a:r>
              <a:rPr lang="en-US" sz="3200" b="1" dirty="0">
                <a:solidFill>
                  <a:schemeClr val="accent1"/>
                </a:solidFill>
              </a:rPr>
              <a:t>1</a:t>
            </a:r>
            <a:endParaRPr lang="en-US" sz="3200" dirty="0"/>
          </a:p>
        </p:txBody>
      </p:sp>
      <p:sp>
        <p:nvSpPr>
          <p:cNvPr id="29" name="Text 21"/>
          <p:cNvSpPr txBox="1"/>
          <p:nvPr/>
        </p:nvSpPr>
        <p:spPr>
          <a:xfrm>
            <a:off x="7726680" y="1920240"/>
            <a:ext cx="3593592" cy="896112"/>
          </a:xfrm>
          <a:prstGeom prst="rect">
            <a:avLst/>
          </a:prstGeom>
          <a:noFill/>
          <a:ln/>
        </p:spPr>
        <p:txBody>
          <a:bodyPr wrap="square" lIns="0" tIns="0" rIns="0" bIns="0" rtlCol="0" anchor="ctr"/>
          <a:lstStyle/>
          <a:p>
            <a:pPr marL="0" indent="0">
              <a:buNone/>
            </a:pPr>
            <a:r>
              <a:rPr lang="en-US" sz="1600" dirty="0">
                <a:solidFill>
                  <a:schemeClr val="tx1"/>
                </a:solidFill>
              </a:rPr>
              <a:t>Validate persona with real interviews (5+)</a:t>
            </a:r>
            <a:endParaRPr lang="en-US" sz="1600" dirty="0"/>
          </a:p>
        </p:txBody>
      </p:sp>
      <p:sp>
        <p:nvSpPr>
          <p:cNvPr id="30" name="Next step 2"/>
          <p:cNvSpPr/>
          <p:nvPr/>
        </p:nvSpPr>
        <p:spPr>
          <a:xfrm>
            <a:off x="6858000" y="2944368"/>
            <a:ext cx="4690872" cy="896112"/>
          </a:xfrm>
          <a:prstGeom prst="roundRect">
            <a:avLst>
              <a:gd name="adj" fmla="val 12245"/>
            </a:avLst>
          </a:prstGeom>
          <a:solidFill>
            <a:schemeClr val="bg2"/>
          </a:solidFill>
          <a:ln w="15875">
            <a:solidFill>
              <a:schemeClr val="accent1"/>
            </a:solidFill>
            <a:prstDash val="solid"/>
          </a:ln>
        </p:spPr>
        <p:txBody>
          <a:bodyPr/>
          <a:lstStyle/>
          <a:p>
            <a:endParaRPr lang="en-GB"/>
          </a:p>
        </p:txBody>
      </p:sp>
      <p:sp>
        <p:nvSpPr>
          <p:cNvPr id="31" name="Text 23"/>
          <p:cNvSpPr txBox="1"/>
          <p:nvPr/>
        </p:nvSpPr>
        <p:spPr>
          <a:xfrm>
            <a:off x="7086600" y="2944368"/>
            <a:ext cx="548640" cy="896112"/>
          </a:xfrm>
          <a:prstGeom prst="rect">
            <a:avLst/>
          </a:prstGeom>
          <a:noFill/>
          <a:ln/>
        </p:spPr>
        <p:txBody>
          <a:bodyPr wrap="square" lIns="0" tIns="0" rIns="0" bIns="0" rtlCol="0" anchor="ctr"/>
          <a:lstStyle/>
          <a:p>
            <a:pPr marL="0" indent="0">
              <a:buNone/>
            </a:pPr>
            <a:r>
              <a:rPr lang="en-US" sz="3200" b="1" dirty="0">
                <a:solidFill>
                  <a:schemeClr val="accent1"/>
                </a:solidFill>
              </a:rPr>
              <a:t>2</a:t>
            </a:r>
            <a:endParaRPr lang="en-US" sz="3200" dirty="0"/>
          </a:p>
        </p:txBody>
      </p:sp>
      <p:sp>
        <p:nvSpPr>
          <p:cNvPr id="32" name="Text 24"/>
          <p:cNvSpPr txBox="1"/>
          <p:nvPr/>
        </p:nvSpPr>
        <p:spPr>
          <a:xfrm>
            <a:off x="7726680" y="2944368"/>
            <a:ext cx="3593592" cy="896112"/>
          </a:xfrm>
          <a:prstGeom prst="rect">
            <a:avLst/>
          </a:prstGeom>
          <a:noFill/>
          <a:ln/>
        </p:spPr>
        <p:txBody>
          <a:bodyPr wrap="square" lIns="0" tIns="0" rIns="0" bIns="0" rtlCol="0" anchor="ctr"/>
          <a:lstStyle/>
          <a:p>
            <a:pPr marL="0" indent="0">
              <a:buNone/>
            </a:pPr>
            <a:r>
              <a:rPr lang="en-US" sz="1600" dirty="0">
                <a:solidFill>
                  <a:schemeClr val="tx1"/>
                </a:solidFill>
              </a:rPr>
              <a:t>Usability-test the wireframes (lo-fi → hi-fi)</a:t>
            </a:r>
            <a:endParaRPr lang="en-US" sz="1600" dirty="0"/>
          </a:p>
        </p:txBody>
      </p:sp>
      <p:sp>
        <p:nvSpPr>
          <p:cNvPr id="33" name="Next step 3"/>
          <p:cNvSpPr/>
          <p:nvPr/>
        </p:nvSpPr>
        <p:spPr>
          <a:xfrm>
            <a:off x="6858000" y="3968496"/>
            <a:ext cx="4690872" cy="896112"/>
          </a:xfrm>
          <a:prstGeom prst="roundRect">
            <a:avLst>
              <a:gd name="adj" fmla="val 12245"/>
            </a:avLst>
          </a:prstGeom>
          <a:solidFill>
            <a:schemeClr val="bg2"/>
          </a:solidFill>
          <a:ln w="15875">
            <a:solidFill>
              <a:schemeClr val="accent1"/>
            </a:solidFill>
            <a:prstDash val="solid"/>
          </a:ln>
        </p:spPr>
        <p:txBody>
          <a:bodyPr/>
          <a:lstStyle/>
          <a:p>
            <a:endParaRPr lang="en-GB"/>
          </a:p>
        </p:txBody>
      </p:sp>
      <p:sp>
        <p:nvSpPr>
          <p:cNvPr id="34" name="Text 26"/>
          <p:cNvSpPr txBox="1"/>
          <p:nvPr/>
        </p:nvSpPr>
        <p:spPr>
          <a:xfrm>
            <a:off x="7086600" y="3968496"/>
            <a:ext cx="548640" cy="896112"/>
          </a:xfrm>
          <a:prstGeom prst="rect">
            <a:avLst/>
          </a:prstGeom>
          <a:noFill/>
          <a:ln/>
        </p:spPr>
        <p:txBody>
          <a:bodyPr wrap="square" lIns="0" tIns="0" rIns="0" bIns="0" rtlCol="0" anchor="ctr"/>
          <a:lstStyle/>
          <a:p>
            <a:pPr marL="0" indent="0">
              <a:buNone/>
            </a:pPr>
            <a:r>
              <a:rPr lang="en-US" sz="3200" b="1" dirty="0">
                <a:solidFill>
                  <a:schemeClr val="accent1"/>
                </a:solidFill>
              </a:rPr>
              <a:t>3</a:t>
            </a:r>
            <a:endParaRPr lang="en-US" sz="3200" dirty="0"/>
          </a:p>
        </p:txBody>
      </p:sp>
      <p:sp>
        <p:nvSpPr>
          <p:cNvPr id="35" name="Text 27"/>
          <p:cNvSpPr txBox="1"/>
          <p:nvPr/>
        </p:nvSpPr>
        <p:spPr>
          <a:xfrm>
            <a:off x="7726680" y="3968496"/>
            <a:ext cx="3593592" cy="896112"/>
          </a:xfrm>
          <a:prstGeom prst="rect">
            <a:avLst/>
          </a:prstGeom>
          <a:noFill/>
          <a:ln/>
        </p:spPr>
        <p:txBody>
          <a:bodyPr wrap="square" lIns="0" tIns="0" rIns="0" bIns="0" rtlCol="0" anchor="ctr"/>
          <a:lstStyle/>
          <a:p>
            <a:pPr marL="0" indent="0">
              <a:buNone/>
            </a:pPr>
            <a:r>
              <a:rPr lang="en-US" sz="1600" dirty="0">
                <a:solidFill>
                  <a:schemeClr val="tx1"/>
                </a:solidFill>
              </a:rPr>
              <a:t>Iterate based on findings</a:t>
            </a:r>
            <a:endParaRPr lang="en-US" sz="1600" dirty="0"/>
          </a:p>
        </p:txBody>
      </p:sp>
      <p:sp>
        <p:nvSpPr>
          <p:cNvPr id="36" name="Next step 4"/>
          <p:cNvSpPr/>
          <p:nvPr/>
        </p:nvSpPr>
        <p:spPr>
          <a:xfrm>
            <a:off x="6858000" y="4992624"/>
            <a:ext cx="4690872" cy="896112"/>
          </a:xfrm>
          <a:prstGeom prst="roundRect">
            <a:avLst>
              <a:gd name="adj" fmla="val 12245"/>
            </a:avLst>
          </a:prstGeom>
          <a:solidFill>
            <a:schemeClr val="bg2"/>
          </a:solidFill>
          <a:ln w="15875">
            <a:solidFill>
              <a:schemeClr val="accent1"/>
            </a:solidFill>
            <a:prstDash val="solid"/>
          </a:ln>
        </p:spPr>
        <p:txBody>
          <a:bodyPr/>
          <a:lstStyle/>
          <a:p>
            <a:endParaRPr lang="en-GB"/>
          </a:p>
        </p:txBody>
      </p:sp>
      <p:sp>
        <p:nvSpPr>
          <p:cNvPr id="37" name="Text 29"/>
          <p:cNvSpPr txBox="1"/>
          <p:nvPr/>
        </p:nvSpPr>
        <p:spPr>
          <a:xfrm>
            <a:off x="7086600" y="4992624"/>
            <a:ext cx="548640" cy="896112"/>
          </a:xfrm>
          <a:prstGeom prst="rect">
            <a:avLst/>
          </a:prstGeom>
          <a:noFill/>
          <a:ln/>
        </p:spPr>
        <p:txBody>
          <a:bodyPr wrap="square" lIns="0" tIns="0" rIns="0" bIns="0" rtlCol="0" anchor="ctr"/>
          <a:lstStyle/>
          <a:p>
            <a:pPr marL="0" indent="0">
              <a:buNone/>
            </a:pPr>
            <a:r>
              <a:rPr lang="en-US" sz="3200" b="1" dirty="0">
                <a:solidFill>
                  <a:schemeClr val="accent1"/>
                </a:solidFill>
              </a:rPr>
              <a:t>4</a:t>
            </a:r>
            <a:endParaRPr lang="en-US" sz="3200" dirty="0"/>
          </a:p>
        </p:txBody>
      </p:sp>
      <p:sp>
        <p:nvSpPr>
          <p:cNvPr id="38" name="Text 30"/>
          <p:cNvSpPr txBox="1"/>
          <p:nvPr/>
        </p:nvSpPr>
        <p:spPr>
          <a:xfrm>
            <a:off x="7726680" y="4992624"/>
            <a:ext cx="3593592" cy="896112"/>
          </a:xfrm>
          <a:prstGeom prst="rect">
            <a:avLst/>
          </a:prstGeom>
          <a:noFill/>
          <a:ln/>
        </p:spPr>
        <p:txBody>
          <a:bodyPr wrap="square" lIns="0" tIns="0" rIns="0" bIns="0" rtlCol="0" anchor="ctr"/>
          <a:lstStyle/>
          <a:p>
            <a:pPr marL="0" indent="0">
              <a:buNone/>
            </a:pPr>
            <a:r>
              <a:rPr lang="en-US" sz="1600" dirty="0">
                <a:solidFill>
                  <a:schemeClr val="tx1"/>
                </a:solidFill>
              </a:rPr>
              <a:t>Build clickable prototype for stakeholder review</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1371600" y="2011680"/>
            <a:ext cx="9445752" cy="914400"/>
          </a:xfrm>
          <a:prstGeom prst="rect">
            <a:avLst/>
          </a:prstGeom>
          <a:noFill/>
          <a:ln/>
        </p:spPr>
        <p:txBody>
          <a:bodyPr wrap="square" lIns="0" tIns="0" rIns="0" bIns="0" rtlCol="0" anchor="ctr"/>
          <a:lstStyle/>
          <a:p>
            <a:pPr marL="0" indent="0" algn="ctr">
              <a:buNone/>
            </a:pPr>
            <a:r>
              <a:rPr lang="en-US" sz="4400" b="1" dirty="0">
                <a:solidFill>
                  <a:schemeClr val="accent1"/>
                </a:solidFill>
              </a:rPr>
              <a:t>Questions?</a:t>
            </a:r>
            <a:endParaRPr lang="en-US" sz="4400" dirty="0"/>
          </a:p>
        </p:txBody>
      </p:sp>
      <p:sp>
        <p:nvSpPr>
          <p:cNvPr id="3" name="Text 0"/>
          <p:cNvSpPr>
            <a:spLocks noGrp="1"/>
          </p:cNvSpPr>
          <p:nvPr>
            <p:ph type="body" idx="102" hasCustomPrompt="1"/>
          </p:nvPr>
        </p:nvSpPr>
        <p:spPr>
          <a:xfrm>
            <a:off x="1371600" y="3108960"/>
            <a:ext cx="9445752" cy="1188720"/>
          </a:xfrm>
          <a:prstGeom prst="rect">
            <a:avLst/>
          </a:prstGeom>
          <a:noFill/>
          <a:ln/>
        </p:spPr>
        <p:txBody>
          <a:bodyPr wrap="square" lIns="0" tIns="0" rIns="0" bIns="0" rtlCol="0" anchor="t"/>
          <a:lstStyle/>
          <a:p>
            <a:pPr marL="0" indent="0" algn="ctr">
              <a:buNone/>
            </a:pPr>
            <a:r>
              <a:rPr lang="en-US" sz="3200" dirty="0">
                <a:solidFill>
                  <a:schemeClr val="accent2"/>
                </a:solidFill>
              </a:rPr>
              <a:t>Anas Hossam  ·  Youssef Hussein  ·  Hozyfa Batisha</a:t>
            </a:r>
            <a:endParaRPr lang="en-US" sz="3200" dirty="0"/>
          </a:p>
        </p:txBody>
      </p:sp>
      <p:sp>
        <p:nvSpPr>
          <p:cNvPr id="4" name="Text 0"/>
          <p:cNvSpPr>
            <a:spLocks noGrp="1"/>
          </p:cNvSpPr>
          <p:nvPr>
            <p:ph type="body" idx="104" hasCustomPrompt="1"/>
          </p:nvPr>
        </p:nvSpPr>
        <p:spPr>
          <a:xfrm>
            <a:off x="1371600" y="6172200"/>
            <a:ext cx="9445752" cy="274320"/>
          </a:xfrm>
          <a:prstGeom prst="rect">
            <a:avLst/>
          </a:prstGeom>
          <a:noFill/>
          <a:ln/>
        </p:spPr>
        <p:txBody>
          <a:bodyPr wrap="square" lIns="0" tIns="0" rIns="0" bIns="0" rtlCol="0" anchor="ctr"/>
          <a:lstStyle/>
          <a:p>
            <a:pPr marL="0" indent="0" algn="ctr">
              <a:buNone/>
            </a:pPr>
            <a:r>
              <a:rPr lang="en-US" sz="1400" dirty="0">
                <a:solidFill>
                  <a:schemeClr val="accent2"/>
                </a:solidFill>
              </a:rPr>
              <a:t>Thank you</a:t>
            </a:r>
            <a:endParaRPr lang="en-US" sz="1400" dirty="0"/>
          </a:p>
        </p:txBody>
      </p:sp>
      <p:sp>
        <p:nvSpPr>
          <p:cNvPr id="6" name="Text 0"/>
          <p:cNvSpPr>
            <a:spLocks noGrp="1"/>
          </p:cNvSpPr>
          <p:nvPr>
            <p:ph type="body" idx="103" hasCustomPrompt="1"/>
          </p:nvPr>
        </p:nvSpPr>
        <p:spPr>
          <a:xfrm>
            <a:off x="1371600" y="4754880"/>
            <a:ext cx="9445752" cy="457200"/>
          </a:xfrm>
          <a:prstGeom prst="rect">
            <a:avLst/>
          </a:prstGeom>
          <a:noFill/>
          <a:ln/>
        </p:spPr>
        <p:txBody>
          <a:bodyPr wrap="square" lIns="0" tIns="0" rIns="0" bIns="0" rtlCol="0" anchor="ctr"/>
          <a:lstStyle/>
          <a:p>
            <a:pPr marL="0" indent="0" algn="ctr">
              <a:buNone/>
            </a:pPr>
            <a:endParaRPr lang="en-US" sz="1800" dirty="0"/>
          </a:p>
        </p:txBody>
      </p:sp>
    </p:spTree>
  </p:cSld>
  <p:clrMapOvr>
    <a:masterClrMapping/>
  </p:clrMapOvr>
</p:sld>
</file>

<file path=ppt/theme/theme1.xml><?xml version="1.0" encoding="utf-8"?>
<a:theme xmlns:a="http://schemas.openxmlformats.org/drawingml/2006/main" name="Shelf Dark">
  <a:themeElements>
    <a:clrScheme name="Shelf Dark">
      <a:dk1>
        <a:srgbClr val="F5F0E8"/>
      </a:dk1>
      <a:lt1>
        <a:srgbClr val="0D0D0D"/>
      </a:lt1>
      <a:dk2>
        <a:srgbClr val="242424"/>
      </a:dk2>
      <a:lt2>
        <a:srgbClr val="1A1A1A"/>
      </a:lt2>
      <a:accent1>
        <a:srgbClr val="E8DCCC"/>
      </a:accent1>
      <a:accent2>
        <a:srgbClr val="A89E90"/>
      </a:accent2>
      <a:accent3>
        <a:srgbClr val="CC4444"/>
      </a:accent3>
      <a:accent4>
        <a:srgbClr val="44CC44"/>
      </a:accent4>
      <a:accent5>
        <a:srgbClr val="CCAA44"/>
      </a:accent5>
      <a:accent6>
        <a:srgbClr val="6A6358"/>
      </a:accent6>
      <a:hlink>
        <a:srgbClr val="E8DCCC"/>
      </a:hlink>
      <a:folHlink>
        <a:srgbClr val="D4C4A8"/>
      </a:folHlink>
    </a:clrScheme>
    <a:fontScheme name="Shelf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5800</Words>
  <Application>Microsoft Office PowerPoint</Application>
  <PresentationFormat>Widescreen</PresentationFormat>
  <Paragraphs>860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Courier New</vt:lpstr>
      <vt:lpstr>Shelf Dark</vt:lpstr>
      <vt:lpstr>Shelf</vt:lpstr>
      <vt:lpstr>Why User-Centred Design?</vt:lpstr>
      <vt:lpstr>What is User-Centred Design?</vt:lpstr>
      <vt:lpstr>Cost of Fixing Errors: The Rising Curve</vt:lpstr>
      <vt:lpstr>Usability: ISO 9241-11</vt:lpstr>
      <vt:lpstr>Where UX Work Sits in the SDLC</vt:lpstr>
      <vt:lpstr>Users, Stakeholders &amp; Research</vt:lpstr>
      <vt:lpstr>Users vs Stakeholders</vt:lpstr>
      <vt:lpstr>User Research Methods</vt:lpstr>
      <vt:lpstr>Stakeholder Map: Power vs Interest</vt:lpstr>
      <vt:lpstr>Personas</vt:lpstr>
      <vt:lpstr>What is a Persona?</vt:lpstr>
      <vt:lpstr>Proto-Persona: Layla Hassan</vt:lpstr>
      <vt:lpstr>User Stories &amp; Acceptance Criteria</vt:lpstr>
      <vt:lpstr>User Story Format &amp; INVEST Criteria</vt:lpstr>
      <vt:lpstr>Story 1: Compare Prices (Local First)</vt:lpstr>
      <vt:lpstr>Story 2: Synced Reading Progress</vt:lpstr>
      <vt:lpstr>Story 3: Drop-Risk Warning</vt:lpstr>
      <vt:lpstr>INVEST Review of Our Stories (Self-Critique)</vt:lpstr>
      <vt:lpstr>Problem Statement &amp; User Flow</vt:lpstr>
      <vt:lpstr>Problem Statement (118 words)</vt:lpstr>
      <vt:lpstr>User Flow: Find and Buy a Book</vt:lpstr>
      <vt:lpstr>Wireframes &amp; Usability Heuristics</vt:lpstr>
      <vt:lpstr>Low-Fidelity vs High-Fidelity Wireframes</vt:lpstr>
      <vt:lpstr>Existing High-Fidelity Screens (v1)</vt:lpstr>
      <vt:lpstr>New Low-Fidelity Screens (v2) — Core Value</vt:lpstr>
      <vt:lpstr>Nielsen’s 10 Usability Heuristics</vt:lpstr>
      <vt:lpstr>Three Heuristics Applied to Our Wireframes</vt:lpstr>
      <vt:lpstr>Accessibility</vt:lpstr>
      <vt:lpstr>Why Accessibility Matters: POUR</vt:lpstr>
      <vt:lpstr>Practical Rules: Desktop Brief → Mobile Reality</vt:lpstr>
      <vt:lpstr>Accessibility Checklist on Our Wireframes</vt:lpstr>
      <vt:lpstr>Summary &amp; Next Steps</vt:lpstr>
      <vt:lpstr>Questions?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Shelf – User-Centred Design</dc:title>
  <dc:subject>UCD presentation – C# UX Module</dc:subject>
  <dc:creator>Anas Hossam, Youssef Hussein, Hozyfa Batisha</dc:creator>
  <cp:lastModifiedBy>Hozyfa Batisha</cp:lastModifiedBy>
  <cp:revision>2</cp:revision>
  <dcterms:created xsi:type="dcterms:W3CDTF">2026-10-24T08:10:41Z</dcterms:created>
  <dcterms:modified xsi:type="dcterms:W3CDTF">2026-10-24T16:42:08Z</dcterms:modified>
</cp:coreProperties>
</file>